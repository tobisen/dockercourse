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12" r:id="rId3"/>
    <p:sldId id="383" r:id="rId4"/>
    <p:sldId id="381" r:id="rId5"/>
    <p:sldId id="382" r:id="rId6"/>
    <p:sldId id="318" r:id="rId7"/>
    <p:sldId id="344" r:id="rId8"/>
    <p:sldId id="343" r:id="rId9"/>
    <p:sldId id="267" r:id="rId10"/>
    <p:sldId id="350" r:id="rId11"/>
    <p:sldId id="351" r:id="rId12"/>
    <p:sldId id="348" r:id="rId13"/>
    <p:sldId id="352" r:id="rId14"/>
    <p:sldId id="372" r:id="rId15"/>
    <p:sldId id="374" r:id="rId16"/>
    <p:sldId id="375" r:id="rId17"/>
    <p:sldId id="376" r:id="rId18"/>
    <p:sldId id="378" r:id="rId19"/>
    <p:sldId id="379" r:id="rId20"/>
    <p:sldId id="335" r:id="rId21"/>
    <p:sldId id="341" r:id="rId22"/>
    <p:sldId id="330" r:id="rId23"/>
    <p:sldId id="337" r:id="rId24"/>
    <p:sldId id="339" r:id="rId25"/>
    <p:sldId id="329" r:id="rId26"/>
    <p:sldId id="336" r:id="rId27"/>
    <p:sldId id="262" r:id="rId2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93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portal.azure.com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portal.azure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6A202-D9B7-4D34-91A1-CEC38E899B1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147AAC-4F82-4B74-B541-24A54958039D}">
      <dgm:prSet/>
      <dgm:spPr/>
      <dgm:t>
        <a:bodyPr/>
        <a:lstStyle/>
        <a:p>
          <a:r>
            <a:rPr lang="en-US"/>
            <a:t>1. Login with your consid account here: </a:t>
          </a:r>
          <a:r>
            <a:rPr lang="en-US">
              <a:hlinkClick xmlns:r="http://schemas.openxmlformats.org/officeDocument/2006/relationships" r:id="rId1"/>
            </a:rPr>
            <a:t>https://portal.azure.com/</a:t>
          </a:r>
          <a:endParaRPr lang="en-US"/>
        </a:p>
      </dgm:t>
    </dgm:pt>
    <dgm:pt modelId="{8E04A11B-CD20-40B4-BF59-32FDDEC8E6F0}" type="parTrans" cxnId="{5F532017-FB77-4410-B6DC-E94DA3D52D3C}">
      <dgm:prSet/>
      <dgm:spPr/>
      <dgm:t>
        <a:bodyPr/>
        <a:lstStyle/>
        <a:p>
          <a:endParaRPr lang="en-US"/>
        </a:p>
      </dgm:t>
    </dgm:pt>
    <dgm:pt modelId="{9C3DF0B2-D93E-4F3B-B12D-627AA3463F01}" type="sibTrans" cxnId="{5F532017-FB77-4410-B6DC-E94DA3D52D3C}">
      <dgm:prSet/>
      <dgm:spPr/>
      <dgm:t>
        <a:bodyPr/>
        <a:lstStyle/>
        <a:p>
          <a:endParaRPr lang="en-US"/>
        </a:p>
      </dgm:t>
    </dgm:pt>
    <dgm:pt modelId="{749F8223-3E41-449E-AECA-5952E79AD987}">
      <dgm:prSet/>
      <dgm:spPr/>
      <dgm:t>
        <a:bodyPr/>
        <a:lstStyle/>
        <a:p>
          <a:r>
            <a:rPr lang="en-US"/>
            <a:t>2. Then find the Kubernetes Service: </a:t>
          </a:r>
          <a:r>
            <a:rPr lang="en-US" b="1" i="0"/>
            <a:t>consid_k8s_course_aks</a:t>
          </a:r>
          <a:endParaRPr lang="en-US"/>
        </a:p>
      </dgm:t>
    </dgm:pt>
    <dgm:pt modelId="{5D29E31F-6871-48BF-8288-21D1FDE5C5B3}" type="parTrans" cxnId="{14428FD7-422C-4268-9970-3DFF66D64A3D}">
      <dgm:prSet/>
      <dgm:spPr/>
      <dgm:t>
        <a:bodyPr/>
        <a:lstStyle/>
        <a:p>
          <a:endParaRPr lang="en-US"/>
        </a:p>
      </dgm:t>
    </dgm:pt>
    <dgm:pt modelId="{733FAEED-42F5-425D-8ABF-58B072BAE2AD}" type="sibTrans" cxnId="{14428FD7-422C-4268-9970-3DFF66D64A3D}">
      <dgm:prSet/>
      <dgm:spPr/>
      <dgm:t>
        <a:bodyPr/>
        <a:lstStyle/>
        <a:p>
          <a:endParaRPr lang="en-US"/>
        </a:p>
      </dgm:t>
    </dgm:pt>
    <dgm:pt modelId="{4339071D-1287-4339-BD44-9AADF8F82D76}">
      <dgm:prSet/>
      <dgm:spPr/>
      <dgm:t>
        <a:bodyPr/>
        <a:lstStyle/>
        <a:p>
          <a:r>
            <a:rPr lang="en-US"/>
            <a:t>3. Find the connect button and then select the </a:t>
          </a:r>
          <a:r>
            <a:rPr lang="en-US" b="1"/>
            <a:t>cloud shell</a:t>
          </a:r>
          <a:endParaRPr lang="en-US"/>
        </a:p>
      </dgm:t>
    </dgm:pt>
    <dgm:pt modelId="{8D168A53-0508-4507-AB05-81D4218583B5}" type="parTrans" cxnId="{B41FDE48-66C8-4412-B1B5-750352304F6A}">
      <dgm:prSet/>
      <dgm:spPr/>
      <dgm:t>
        <a:bodyPr/>
        <a:lstStyle/>
        <a:p>
          <a:endParaRPr lang="en-US"/>
        </a:p>
      </dgm:t>
    </dgm:pt>
    <dgm:pt modelId="{34CB792D-A3AD-42DE-8D2B-AE144CF4D8DE}" type="sibTrans" cxnId="{B41FDE48-66C8-4412-B1B5-750352304F6A}">
      <dgm:prSet/>
      <dgm:spPr/>
      <dgm:t>
        <a:bodyPr/>
        <a:lstStyle/>
        <a:p>
          <a:endParaRPr lang="en-US"/>
        </a:p>
      </dgm:t>
    </dgm:pt>
    <dgm:pt modelId="{B4788C37-BE65-477B-9294-78EA8FF323FA}">
      <dgm:prSet/>
      <dgm:spPr/>
      <dgm:t>
        <a:bodyPr/>
        <a:lstStyle/>
        <a:p>
          <a:r>
            <a:rPr lang="en-US" i="0"/>
            <a:t>4. A terminal will be opened, you are now </a:t>
          </a:r>
          <a:r>
            <a:rPr lang="en-US" b="1" i="0"/>
            <a:t>connected</a:t>
          </a:r>
          <a:r>
            <a:rPr lang="en-US" i="0"/>
            <a:t> to the cluster.</a:t>
          </a:r>
          <a:endParaRPr lang="en-US"/>
        </a:p>
      </dgm:t>
    </dgm:pt>
    <dgm:pt modelId="{86A20A07-0E65-4E1F-97A4-95B159D9FE67}" type="parTrans" cxnId="{42534805-7DD0-47C6-A5C4-BC0D924F7296}">
      <dgm:prSet/>
      <dgm:spPr/>
      <dgm:t>
        <a:bodyPr/>
        <a:lstStyle/>
        <a:p>
          <a:endParaRPr lang="en-US"/>
        </a:p>
      </dgm:t>
    </dgm:pt>
    <dgm:pt modelId="{3221DE9F-C726-4432-85EA-CEAEFF48D13E}" type="sibTrans" cxnId="{42534805-7DD0-47C6-A5C4-BC0D924F7296}">
      <dgm:prSet/>
      <dgm:spPr/>
      <dgm:t>
        <a:bodyPr/>
        <a:lstStyle/>
        <a:p>
          <a:endParaRPr lang="en-US"/>
        </a:p>
      </dgm:t>
    </dgm:pt>
    <dgm:pt modelId="{510B0CA2-3E65-4D66-84EF-EE6914DA9748}">
      <dgm:prSet/>
      <dgm:spPr/>
      <dgm:t>
        <a:bodyPr/>
        <a:lstStyle/>
        <a:p>
          <a:r>
            <a:rPr lang="en-US"/>
            <a:t>5. In the next slides we will learn some commands we can run inside the cluster.</a:t>
          </a:r>
        </a:p>
      </dgm:t>
    </dgm:pt>
    <dgm:pt modelId="{E6A7B069-3E0B-4604-AE34-40E2A9767CB5}" type="parTrans" cxnId="{10C57B58-1F12-4BD7-ABB8-3FAC0BBDA299}">
      <dgm:prSet/>
      <dgm:spPr/>
      <dgm:t>
        <a:bodyPr/>
        <a:lstStyle/>
        <a:p>
          <a:endParaRPr lang="en-US"/>
        </a:p>
      </dgm:t>
    </dgm:pt>
    <dgm:pt modelId="{481F897B-AB22-4A90-A263-1C07A9D5EF26}" type="sibTrans" cxnId="{10C57B58-1F12-4BD7-ABB8-3FAC0BBDA299}">
      <dgm:prSet/>
      <dgm:spPr/>
      <dgm:t>
        <a:bodyPr/>
        <a:lstStyle/>
        <a:p>
          <a:endParaRPr lang="en-US"/>
        </a:p>
      </dgm:t>
    </dgm:pt>
    <dgm:pt modelId="{CCD70D46-4F34-4BED-BE5C-40B2826A6DF2}" type="pres">
      <dgm:prSet presAssocID="{3FA6A202-D9B7-4D34-91A1-CEC38E899B12}" presName="linear" presStyleCnt="0">
        <dgm:presLayoutVars>
          <dgm:animLvl val="lvl"/>
          <dgm:resizeHandles val="exact"/>
        </dgm:presLayoutVars>
      </dgm:prSet>
      <dgm:spPr/>
    </dgm:pt>
    <dgm:pt modelId="{7E073602-BDB8-406C-8D3F-CB8AB8185151}" type="pres">
      <dgm:prSet presAssocID="{7B147AAC-4F82-4B74-B541-24A54958039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B030A8-2FC1-47D9-A169-C62E4F8466A6}" type="pres">
      <dgm:prSet presAssocID="{9C3DF0B2-D93E-4F3B-B12D-627AA3463F01}" presName="spacer" presStyleCnt="0"/>
      <dgm:spPr/>
    </dgm:pt>
    <dgm:pt modelId="{2D7217E1-37B8-4A2C-96A3-3EBDE5FE1FD6}" type="pres">
      <dgm:prSet presAssocID="{749F8223-3E41-449E-AECA-5952E79AD98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FB25734-047E-4948-8B28-43962BE5B77F}" type="pres">
      <dgm:prSet presAssocID="{733FAEED-42F5-425D-8ABF-58B072BAE2AD}" presName="spacer" presStyleCnt="0"/>
      <dgm:spPr/>
    </dgm:pt>
    <dgm:pt modelId="{E86E075F-643A-4E73-B9CC-1385BE5E033B}" type="pres">
      <dgm:prSet presAssocID="{4339071D-1287-4339-BD44-9AADF8F82D7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4CA7332-0C81-48BF-B539-04DA9B841263}" type="pres">
      <dgm:prSet presAssocID="{34CB792D-A3AD-42DE-8D2B-AE144CF4D8DE}" presName="spacer" presStyleCnt="0"/>
      <dgm:spPr/>
    </dgm:pt>
    <dgm:pt modelId="{2F83FC12-7952-4EE1-9289-E3F4B97201C0}" type="pres">
      <dgm:prSet presAssocID="{B4788C37-BE65-477B-9294-78EA8FF323F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DEFD113-225D-481C-9126-CB60B4FAAE72}" type="pres">
      <dgm:prSet presAssocID="{3221DE9F-C726-4432-85EA-CEAEFF48D13E}" presName="spacer" presStyleCnt="0"/>
      <dgm:spPr/>
    </dgm:pt>
    <dgm:pt modelId="{891AD851-4CE5-4E54-9A30-7A33FC3E9ED9}" type="pres">
      <dgm:prSet presAssocID="{510B0CA2-3E65-4D66-84EF-EE6914DA974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2534805-7DD0-47C6-A5C4-BC0D924F7296}" srcId="{3FA6A202-D9B7-4D34-91A1-CEC38E899B12}" destId="{B4788C37-BE65-477B-9294-78EA8FF323FA}" srcOrd="3" destOrd="0" parTransId="{86A20A07-0E65-4E1F-97A4-95B159D9FE67}" sibTransId="{3221DE9F-C726-4432-85EA-CEAEFF48D13E}"/>
    <dgm:cxn modelId="{5F532017-FB77-4410-B6DC-E94DA3D52D3C}" srcId="{3FA6A202-D9B7-4D34-91A1-CEC38E899B12}" destId="{7B147AAC-4F82-4B74-B541-24A54958039D}" srcOrd="0" destOrd="0" parTransId="{8E04A11B-CD20-40B4-BF59-32FDDEC8E6F0}" sibTransId="{9C3DF0B2-D93E-4F3B-B12D-627AA3463F01}"/>
    <dgm:cxn modelId="{69099026-75EB-451B-BD3E-812F28B4D738}" type="presOf" srcId="{B4788C37-BE65-477B-9294-78EA8FF323FA}" destId="{2F83FC12-7952-4EE1-9289-E3F4B97201C0}" srcOrd="0" destOrd="0" presId="urn:microsoft.com/office/officeart/2005/8/layout/vList2"/>
    <dgm:cxn modelId="{9FD4FB32-2649-4443-B641-731831743BAB}" type="presOf" srcId="{4339071D-1287-4339-BD44-9AADF8F82D76}" destId="{E86E075F-643A-4E73-B9CC-1385BE5E033B}" srcOrd="0" destOrd="0" presId="urn:microsoft.com/office/officeart/2005/8/layout/vList2"/>
    <dgm:cxn modelId="{51CFB83F-E667-49B9-AE39-ACA33A17E95A}" type="presOf" srcId="{3FA6A202-D9B7-4D34-91A1-CEC38E899B12}" destId="{CCD70D46-4F34-4BED-BE5C-40B2826A6DF2}" srcOrd="0" destOrd="0" presId="urn:microsoft.com/office/officeart/2005/8/layout/vList2"/>
    <dgm:cxn modelId="{B41FDE48-66C8-4412-B1B5-750352304F6A}" srcId="{3FA6A202-D9B7-4D34-91A1-CEC38E899B12}" destId="{4339071D-1287-4339-BD44-9AADF8F82D76}" srcOrd="2" destOrd="0" parTransId="{8D168A53-0508-4507-AB05-81D4218583B5}" sibTransId="{34CB792D-A3AD-42DE-8D2B-AE144CF4D8DE}"/>
    <dgm:cxn modelId="{7DAF4673-D144-442F-B67C-EDBD87941F0C}" type="presOf" srcId="{7B147AAC-4F82-4B74-B541-24A54958039D}" destId="{7E073602-BDB8-406C-8D3F-CB8AB8185151}" srcOrd="0" destOrd="0" presId="urn:microsoft.com/office/officeart/2005/8/layout/vList2"/>
    <dgm:cxn modelId="{10C57B58-1F12-4BD7-ABB8-3FAC0BBDA299}" srcId="{3FA6A202-D9B7-4D34-91A1-CEC38E899B12}" destId="{510B0CA2-3E65-4D66-84EF-EE6914DA9748}" srcOrd="4" destOrd="0" parTransId="{E6A7B069-3E0B-4604-AE34-40E2A9767CB5}" sibTransId="{481F897B-AB22-4A90-A263-1C07A9D5EF26}"/>
    <dgm:cxn modelId="{B1C30B7D-68FD-41D5-A07D-DD1B39B8690F}" type="presOf" srcId="{749F8223-3E41-449E-AECA-5952E79AD987}" destId="{2D7217E1-37B8-4A2C-96A3-3EBDE5FE1FD6}" srcOrd="0" destOrd="0" presId="urn:microsoft.com/office/officeart/2005/8/layout/vList2"/>
    <dgm:cxn modelId="{8B47C6A4-8B63-4F91-A8D5-DB4F38606B3B}" type="presOf" srcId="{510B0CA2-3E65-4D66-84EF-EE6914DA9748}" destId="{891AD851-4CE5-4E54-9A30-7A33FC3E9ED9}" srcOrd="0" destOrd="0" presId="urn:microsoft.com/office/officeart/2005/8/layout/vList2"/>
    <dgm:cxn modelId="{14428FD7-422C-4268-9970-3DFF66D64A3D}" srcId="{3FA6A202-D9B7-4D34-91A1-CEC38E899B12}" destId="{749F8223-3E41-449E-AECA-5952E79AD987}" srcOrd="1" destOrd="0" parTransId="{5D29E31F-6871-48BF-8288-21D1FDE5C5B3}" sibTransId="{733FAEED-42F5-425D-8ABF-58B072BAE2AD}"/>
    <dgm:cxn modelId="{07BAF398-777A-479B-B809-C4FDB5B28378}" type="presParOf" srcId="{CCD70D46-4F34-4BED-BE5C-40B2826A6DF2}" destId="{7E073602-BDB8-406C-8D3F-CB8AB8185151}" srcOrd="0" destOrd="0" presId="urn:microsoft.com/office/officeart/2005/8/layout/vList2"/>
    <dgm:cxn modelId="{A9DEEA22-87A6-415D-A4F3-10996E2910B4}" type="presParOf" srcId="{CCD70D46-4F34-4BED-BE5C-40B2826A6DF2}" destId="{1DB030A8-2FC1-47D9-A169-C62E4F8466A6}" srcOrd="1" destOrd="0" presId="urn:microsoft.com/office/officeart/2005/8/layout/vList2"/>
    <dgm:cxn modelId="{EF0073AF-8496-459E-BAD4-5A602FC3F8C9}" type="presParOf" srcId="{CCD70D46-4F34-4BED-BE5C-40B2826A6DF2}" destId="{2D7217E1-37B8-4A2C-96A3-3EBDE5FE1FD6}" srcOrd="2" destOrd="0" presId="urn:microsoft.com/office/officeart/2005/8/layout/vList2"/>
    <dgm:cxn modelId="{4C8D07B9-EB2B-4ACB-AD33-0968BED6F0B3}" type="presParOf" srcId="{CCD70D46-4F34-4BED-BE5C-40B2826A6DF2}" destId="{4FB25734-047E-4948-8B28-43962BE5B77F}" srcOrd="3" destOrd="0" presId="urn:microsoft.com/office/officeart/2005/8/layout/vList2"/>
    <dgm:cxn modelId="{50C4CD74-8589-406A-9590-BEED45F52350}" type="presParOf" srcId="{CCD70D46-4F34-4BED-BE5C-40B2826A6DF2}" destId="{E86E075F-643A-4E73-B9CC-1385BE5E033B}" srcOrd="4" destOrd="0" presId="urn:microsoft.com/office/officeart/2005/8/layout/vList2"/>
    <dgm:cxn modelId="{DAD1B51F-DD95-4892-B3C2-E3DFCDF93689}" type="presParOf" srcId="{CCD70D46-4F34-4BED-BE5C-40B2826A6DF2}" destId="{F4CA7332-0C81-48BF-B539-04DA9B841263}" srcOrd="5" destOrd="0" presId="urn:microsoft.com/office/officeart/2005/8/layout/vList2"/>
    <dgm:cxn modelId="{39744777-C474-4B16-A1E7-7EE7B10D1630}" type="presParOf" srcId="{CCD70D46-4F34-4BED-BE5C-40B2826A6DF2}" destId="{2F83FC12-7952-4EE1-9289-E3F4B97201C0}" srcOrd="6" destOrd="0" presId="urn:microsoft.com/office/officeart/2005/8/layout/vList2"/>
    <dgm:cxn modelId="{3BF26AD2-B51A-485A-87C2-9E2548F69B43}" type="presParOf" srcId="{CCD70D46-4F34-4BED-BE5C-40B2826A6DF2}" destId="{BDEFD113-225D-481C-9126-CB60B4FAAE72}" srcOrd="7" destOrd="0" presId="urn:microsoft.com/office/officeart/2005/8/layout/vList2"/>
    <dgm:cxn modelId="{A61ECE78-21A3-49B7-90B7-E12983CB26E2}" type="presParOf" srcId="{CCD70D46-4F34-4BED-BE5C-40B2826A6DF2}" destId="{891AD851-4CE5-4E54-9A30-7A33FC3E9ED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A7BD89-9D84-42B2-B599-C44E3680C05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93BD10D-4E05-44B4-B179-EFCE5D500F48}">
      <dgm:prSet/>
      <dgm:spPr/>
      <dgm:t>
        <a:bodyPr/>
        <a:lstStyle/>
        <a:p>
          <a:r>
            <a:rPr lang="en-US"/>
            <a:t>A deployment is used to manage pods</a:t>
          </a:r>
        </a:p>
      </dgm:t>
    </dgm:pt>
    <dgm:pt modelId="{67673F17-9F18-4676-8E97-F2B3A9651437}" type="parTrans" cxnId="{BBFF138D-C290-43FF-8134-F844572712A4}">
      <dgm:prSet/>
      <dgm:spPr/>
      <dgm:t>
        <a:bodyPr/>
        <a:lstStyle/>
        <a:p>
          <a:endParaRPr lang="en-US"/>
        </a:p>
      </dgm:t>
    </dgm:pt>
    <dgm:pt modelId="{A277B6E0-A0FB-4B84-95BB-5E076ACA37DB}" type="sibTrans" cxnId="{BBFF138D-C290-43FF-8134-F844572712A4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2280B5FC-70FF-4E77-B02B-E02B691EEE6A}">
      <dgm:prSet/>
      <dgm:spPr/>
      <dgm:t>
        <a:bodyPr/>
        <a:lstStyle/>
        <a:p>
          <a:r>
            <a:rPr lang="en-US" dirty="0"/>
            <a:t>Lets say we always want to have 3 replicas of a pod, then our deployment can create 3 individual pod automatically</a:t>
          </a:r>
        </a:p>
      </dgm:t>
    </dgm:pt>
    <dgm:pt modelId="{C54FE44C-F0E6-4AEB-BCA2-5E248B386E12}" type="parTrans" cxnId="{3341A5D3-DE26-4784-AA6D-86191B01F207}">
      <dgm:prSet/>
      <dgm:spPr/>
      <dgm:t>
        <a:bodyPr/>
        <a:lstStyle/>
        <a:p>
          <a:endParaRPr lang="en-US"/>
        </a:p>
      </dgm:t>
    </dgm:pt>
    <dgm:pt modelId="{16F3B4BB-62FD-432C-B497-D5274118C003}" type="sibTrans" cxnId="{3341A5D3-DE26-4784-AA6D-86191B01F207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33C39E53-30AE-43D5-BFD2-0B0E9F93E4E9}">
      <dgm:prSet/>
      <dgm:spPr/>
      <dgm:t>
        <a:bodyPr/>
        <a:lstStyle/>
        <a:p>
          <a:r>
            <a:rPr lang="en-US"/>
            <a:t>If we need to update a pods configuration our deployment will update all 3 pods at the same time.</a:t>
          </a:r>
        </a:p>
      </dgm:t>
    </dgm:pt>
    <dgm:pt modelId="{B72C40F6-33DC-4B4D-871F-FE8A80C9C865}" type="parTrans" cxnId="{02DAAC3B-9E23-4350-A59F-CEB2E5ADD542}">
      <dgm:prSet/>
      <dgm:spPr/>
      <dgm:t>
        <a:bodyPr/>
        <a:lstStyle/>
        <a:p>
          <a:endParaRPr lang="en-US"/>
        </a:p>
      </dgm:t>
    </dgm:pt>
    <dgm:pt modelId="{82BF4199-EE94-4AF0-9023-0BF4E12F4771}" type="sibTrans" cxnId="{02DAAC3B-9E23-4350-A59F-CEB2E5ADD542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21C7BAB5-4E38-4AC0-9DD4-81EC43CC9C30}">
      <dgm:prSet/>
      <dgm:spPr/>
      <dgm:t>
        <a:bodyPr/>
        <a:lstStyle/>
        <a:p>
          <a:r>
            <a:rPr lang="en-US"/>
            <a:t>If we need to restart all 3 pods, a deployment can help with that too!</a:t>
          </a:r>
        </a:p>
      </dgm:t>
    </dgm:pt>
    <dgm:pt modelId="{9A3C6282-4A0D-424B-BE2E-33ABE9A07DFB}" type="parTrans" cxnId="{8E871359-6E60-46C5-B2C2-5340E6A1CFE4}">
      <dgm:prSet/>
      <dgm:spPr/>
      <dgm:t>
        <a:bodyPr/>
        <a:lstStyle/>
        <a:p>
          <a:endParaRPr lang="en-US"/>
        </a:p>
      </dgm:t>
    </dgm:pt>
    <dgm:pt modelId="{378E57F7-539E-4889-BDE3-DCFF2E4FAC9B}" type="sibTrans" cxnId="{8E871359-6E60-46C5-B2C2-5340E6A1CFE4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7602F13B-0393-4CA5-A305-2E9C9732C2A2}" type="pres">
      <dgm:prSet presAssocID="{57A7BD89-9D84-42B2-B599-C44E3680C05A}" presName="Name0" presStyleCnt="0">
        <dgm:presLayoutVars>
          <dgm:animLvl val="lvl"/>
          <dgm:resizeHandles val="exact"/>
        </dgm:presLayoutVars>
      </dgm:prSet>
      <dgm:spPr/>
    </dgm:pt>
    <dgm:pt modelId="{6CA84969-3B6E-4430-B08A-7C3EA3B0D92B}" type="pres">
      <dgm:prSet presAssocID="{A93BD10D-4E05-44B4-B179-EFCE5D500F48}" presName="compositeNode" presStyleCnt="0">
        <dgm:presLayoutVars>
          <dgm:bulletEnabled val="1"/>
        </dgm:presLayoutVars>
      </dgm:prSet>
      <dgm:spPr/>
    </dgm:pt>
    <dgm:pt modelId="{E827EB7C-24E1-4D88-99A0-D840AB8E0E09}" type="pres">
      <dgm:prSet presAssocID="{A93BD10D-4E05-44B4-B179-EFCE5D500F48}" presName="bgRect" presStyleLbl="bgAccFollowNode1" presStyleIdx="0" presStyleCnt="4"/>
      <dgm:spPr/>
    </dgm:pt>
    <dgm:pt modelId="{44C30C47-14C4-40F9-B702-4C2AB902664F}" type="pres">
      <dgm:prSet presAssocID="{A277B6E0-A0FB-4B84-95BB-5E076ACA37D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837F0832-850C-415E-8912-C02717E1EF50}" type="pres">
      <dgm:prSet presAssocID="{A93BD10D-4E05-44B4-B179-EFCE5D500F48}" presName="bottomLine" presStyleLbl="alignNode1" presStyleIdx="1" presStyleCnt="8">
        <dgm:presLayoutVars/>
      </dgm:prSet>
      <dgm:spPr/>
    </dgm:pt>
    <dgm:pt modelId="{828F35BA-CCC0-4B7E-8B97-CAC2FFF1BBC7}" type="pres">
      <dgm:prSet presAssocID="{A93BD10D-4E05-44B4-B179-EFCE5D500F48}" presName="nodeText" presStyleLbl="bgAccFollowNode1" presStyleIdx="0" presStyleCnt="4">
        <dgm:presLayoutVars>
          <dgm:bulletEnabled val="1"/>
        </dgm:presLayoutVars>
      </dgm:prSet>
      <dgm:spPr/>
    </dgm:pt>
    <dgm:pt modelId="{9EB46361-DBA8-40BF-BB61-D5268B4A4B13}" type="pres">
      <dgm:prSet presAssocID="{A277B6E0-A0FB-4B84-95BB-5E076ACA37DB}" presName="sibTrans" presStyleCnt="0"/>
      <dgm:spPr/>
    </dgm:pt>
    <dgm:pt modelId="{8BB5E1E9-FD5A-45D8-B652-09E811DD9352}" type="pres">
      <dgm:prSet presAssocID="{2280B5FC-70FF-4E77-B02B-E02B691EEE6A}" presName="compositeNode" presStyleCnt="0">
        <dgm:presLayoutVars>
          <dgm:bulletEnabled val="1"/>
        </dgm:presLayoutVars>
      </dgm:prSet>
      <dgm:spPr/>
    </dgm:pt>
    <dgm:pt modelId="{458839AE-F51D-4557-9A24-6CE63E3CDEE4}" type="pres">
      <dgm:prSet presAssocID="{2280B5FC-70FF-4E77-B02B-E02B691EEE6A}" presName="bgRect" presStyleLbl="bgAccFollowNode1" presStyleIdx="1" presStyleCnt="4"/>
      <dgm:spPr/>
    </dgm:pt>
    <dgm:pt modelId="{D08C795F-2C70-49A4-976C-42F86FC4CEB9}" type="pres">
      <dgm:prSet presAssocID="{16F3B4BB-62FD-432C-B497-D5274118C00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C6034E99-FAD4-4F8E-AE8F-B027C62E44F7}" type="pres">
      <dgm:prSet presAssocID="{2280B5FC-70FF-4E77-B02B-E02B691EEE6A}" presName="bottomLine" presStyleLbl="alignNode1" presStyleIdx="3" presStyleCnt="8">
        <dgm:presLayoutVars/>
      </dgm:prSet>
      <dgm:spPr/>
    </dgm:pt>
    <dgm:pt modelId="{03C91475-2334-4288-B000-E95EAC510BFC}" type="pres">
      <dgm:prSet presAssocID="{2280B5FC-70FF-4E77-B02B-E02B691EEE6A}" presName="nodeText" presStyleLbl="bgAccFollowNode1" presStyleIdx="1" presStyleCnt="4">
        <dgm:presLayoutVars>
          <dgm:bulletEnabled val="1"/>
        </dgm:presLayoutVars>
      </dgm:prSet>
      <dgm:spPr/>
    </dgm:pt>
    <dgm:pt modelId="{97206858-D16C-4496-9D16-361DD996AECF}" type="pres">
      <dgm:prSet presAssocID="{16F3B4BB-62FD-432C-B497-D5274118C003}" presName="sibTrans" presStyleCnt="0"/>
      <dgm:spPr/>
    </dgm:pt>
    <dgm:pt modelId="{AD70CF44-7772-49B4-AAB1-F39A43A431C8}" type="pres">
      <dgm:prSet presAssocID="{33C39E53-30AE-43D5-BFD2-0B0E9F93E4E9}" presName="compositeNode" presStyleCnt="0">
        <dgm:presLayoutVars>
          <dgm:bulletEnabled val="1"/>
        </dgm:presLayoutVars>
      </dgm:prSet>
      <dgm:spPr/>
    </dgm:pt>
    <dgm:pt modelId="{3E561A79-D251-4A3B-8A99-A0BB35B05579}" type="pres">
      <dgm:prSet presAssocID="{33C39E53-30AE-43D5-BFD2-0B0E9F93E4E9}" presName="bgRect" presStyleLbl="bgAccFollowNode1" presStyleIdx="2" presStyleCnt="4"/>
      <dgm:spPr/>
    </dgm:pt>
    <dgm:pt modelId="{906BAA38-D40B-40C0-B763-3A1BD2898E07}" type="pres">
      <dgm:prSet presAssocID="{82BF4199-EE94-4AF0-9023-0BF4E12F477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6A17B49-374C-41A5-A4E7-63CEEAC11FEC}" type="pres">
      <dgm:prSet presAssocID="{33C39E53-30AE-43D5-BFD2-0B0E9F93E4E9}" presName="bottomLine" presStyleLbl="alignNode1" presStyleIdx="5" presStyleCnt="8">
        <dgm:presLayoutVars/>
      </dgm:prSet>
      <dgm:spPr/>
    </dgm:pt>
    <dgm:pt modelId="{BB92C0DD-82C9-4F6E-B066-9066164A899B}" type="pres">
      <dgm:prSet presAssocID="{33C39E53-30AE-43D5-BFD2-0B0E9F93E4E9}" presName="nodeText" presStyleLbl="bgAccFollowNode1" presStyleIdx="2" presStyleCnt="4">
        <dgm:presLayoutVars>
          <dgm:bulletEnabled val="1"/>
        </dgm:presLayoutVars>
      </dgm:prSet>
      <dgm:spPr/>
    </dgm:pt>
    <dgm:pt modelId="{2AFDDBB4-57F1-4E29-8A56-0AA7C3E650D0}" type="pres">
      <dgm:prSet presAssocID="{82BF4199-EE94-4AF0-9023-0BF4E12F4771}" presName="sibTrans" presStyleCnt="0"/>
      <dgm:spPr/>
    </dgm:pt>
    <dgm:pt modelId="{AC3F3FEE-4471-4EFB-917E-2768C8B842E8}" type="pres">
      <dgm:prSet presAssocID="{21C7BAB5-4E38-4AC0-9DD4-81EC43CC9C30}" presName="compositeNode" presStyleCnt="0">
        <dgm:presLayoutVars>
          <dgm:bulletEnabled val="1"/>
        </dgm:presLayoutVars>
      </dgm:prSet>
      <dgm:spPr/>
    </dgm:pt>
    <dgm:pt modelId="{BC1E355D-2C6D-43E1-8C83-91AA8CD4C7CD}" type="pres">
      <dgm:prSet presAssocID="{21C7BAB5-4E38-4AC0-9DD4-81EC43CC9C30}" presName="bgRect" presStyleLbl="bgAccFollowNode1" presStyleIdx="3" presStyleCnt="4"/>
      <dgm:spPr/>
    </dgm:pt>
    <dgm:pt modelId="{9742E4B7-7320-4A1C-9567-5494CAE37937}" type="pres">
      <dgm:prSet presAssocID="{378E57F7-539E-4889-BDE3-DCFF2E4FAC9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C2BCCD5-A42B-4257-8563-54FEBE06DE17}" type="pres">
      <dgm:prSet presAssocID="{21C7BAB5-4E38-4AC0-9DD4-81EC43CC9C30}" presName="bottomLine" presStyleLbl="alignNode1" presStyleIdx="7" presStyleCnt="8">
        <dgm:presLayoutVars/>
      </dgm:prSet>
      <dgm:spPr/>
    </dgm:pt>
    <dgm:pt modelId="{B2DDDAFB-F299-4D80-BA92-CB9E1EEE6E26}" type="pres">
      <dgm:prSet presAssocID="{21C7BAB5-4E38-4AC0-9DD4-81EC43CC9C3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14C4A18-0BBE-46C7-97CC-1BE73B95071D}" type="presOf" srcId="{2280B5FC-70FF-4E77-B02B-E02B691EEE6A}" destId="{458839AE-F51D-4557-9A24-6CE63E3CDEE4}" srcOrd="0" destOrd="0" presId="urn:microsoft.com/office/officeart/2016/7/layout/BasicLinearProcessNumbered"/>
    <dgm:cxn modelId="{5DB52E2F-E061-4692-B1D8-3C81A8547814}" type="presOf" srcId="{A93BD10D-4E05-44B4-B179-EFCE5D500F48}" destId="{E827EB7C-24E1-4D88-99A0-D840AB8E0E09}" srcOrd="0" destOrd="0" presId="urn:microsoft.com/office/officeart/2016/7/layout/BasicLinearProcessNumbered"/>
    <dgm:cxn modelId="{539B1038-7EED-4F02-82DF-F5DF83C6E0BB}" type="presOf" srcId="{33C39E53-30AE-43D5-BFD2-0B0E9F93E4E9}" destId="{3E561A79-D251-4A3B-8A99-A0BB35B05579}" srcOrd="0" destOrd="0" presId="urn:microsoft.com/office/officeart/2016/7/layout/BasicLinearProcessNumbered"/>
    <dgm:cxn modelId="{02DAAC3B-9E23-4350-A59F-CEB2E5ADD542}" srcId="{57A7BD89-9D84-42B2-B599-C44E3680C05A}" destId="{33C39E53-30AE-43D5-BFD2-0B0E9F93E4E9}" srcOrd="2" destOrd="0" parTransId="{B72C40F6-33DC-4B4D-871F-FE8A80C9C865}" sibTransId="{82BF4199-EE94-4AF0-9023-0BF4E12F4771}"/>
    <dgm:cxn modelId="{AE418A5F-502B-4B75-BE18-922137743723}" type="presOf" srcId="{21C7BAB5-4E38-4AC0-9DD4-81EC43CC9C30}" destId="{BC1E355D-2C6D-43E1-8C83-91AA8CD4C7CD}" srcOrd="0" destOrd="0" presId="urn:microsoft.com/office/officeart/2016/7/layout/BasicLinearProcessNumbered"/>
    <dgm:cxn modelId="{C003E763-ED74-4CF3-9F2A-981F2D210192}" type="presOf" srcId="{82BF4199-EE94-4AF0-9023-0BF4E12F4771}" destId="{906BAA38-D40B-40C0-B763-3A1BD2898E07}" srcOrd="0" destOrd="0" presId="urn:microsoft.com/office/officeart/2016/7/layout/BasicLinearProcessNumbered"/>
    <dgm:cxn modelId="{F9708569-92AE-4BD4-A804-5E64C981A7DC}" type="presOf" srcId="{378E57F7-539E-4889-BDE3-DCFF2E4FAC9B}" destId="{9742E4B7-7320-4A1C-9567-5494CAE37937}" srcOrd="0" destOrd="0" presId="urn:microsoft.com/office/officeart/2016/7/layout/BasicLinearProcessNumbered"/>
    <dgm:cxn modelId="{8E871359-6E60-46C5-B2C2-5340E6A1CFE4}" srcId="{57A7BD89-9D84-42B2-B599-C44E3680C05A}" destId="{21C7BAB5-4E38-4AC0-9DD4-81EC43CC9C30}" srcOrd="3" destOrd="0" parTransId="{9A3C6282-4A0D-424B-BE2E-33ABE9A07DFB}" sibTransId="{378E57F7-539E-4889-BDE3-DCFF2E4FAC9B}"/>
    <dgm:cxn modelId="{346D0B8B-A304-44FC-952B-B0F2D4901811}" type="presOf" srcId="{A277B6E0-A0FB-4B84-95BB-5E076ACA37DB}" destId="{44C30C47-14C4-40F9-B702-4C2AB902664F}" srcOrd="0" destOrd="0" presId="urn:microsoft.com/office/officeart/2016/7/layout/BasicLinearProcessNumbered"/>
    <dgm:cxn modelId="{BBFF138D-C290-43FF-8134-F844572712A4}" srcId="{57A7BD89-9D84-42B2-B599-C44E3680C05A}" destId="{A93BD10D-4E05-44B4-B179-EFCE5D500F48}" srcOrd="0" destOrd="0" parTransId="{67673F17-9F18-4676-8E97-F2B3A9651437}" sibTransId="{A277B6E0-A0FB-4B84-95BB-5E076ACA37DB}"/>
    <dgm:cxn modelId="{E31C2CA9-FEB3-470F-924C-A4C029D5FA48}" type="presOf" srcId="{57A7BD89-9D84-42B2-B599-C44E3680C05A}" destId="{7602F13B-0393-4CA5-A305-2E9C9732C2A2}" srcOrd="0" destOrd="0" presId="urn:microsoft.com/office/officeart/2016/7/layout/BasicLinearProcessNumbered"/>
    <dgm:cxn modelId="{ACA3F1BC-A69C-43F3-A529-F4B8A5AA9BB1}" type="presOf" srcId="{A93BD10D-4E05-44B4-B179-EFCE5D500F48}" destId="{828F35BA-CCC0-4B7E-8B97-CAC2FFF1BBC7}" srcOrd="1" destOrd="0" presId="urn:microsoft.com/office/officeart/2016/7/layout/BasicLinearProcessNumbered"/>
    <dgm:cxn modelId="{5C9510C4-D1CD-4327-BFCC-3DFA16980395}" type="presOf" srcId="{33C39E53-30AE-43D5-BFD2-0B0E9F93E4E9}" destId="{BB92C0DD-82C9-4F6E-B066-9066164A899B}" srcOrd="1" destOrd="0" presId="urn:microsoft.com/office/officeart/2016/7/layout/BasicLinearProcessNumbered"/>
    <dgm:cxn modelId="{3341A5D3-DE26-4784-AA6D-86191B01F207}" srcId="{57A7BD89-9D84-42B2-B599-C44E3680C05A}" destId="{2280B5FC-70FF-4E77-B02B-E02B691EEE6A}" srcOrd="1" destOrd="0" parTransId="{C54FE44C-F0E6-4AEB-BCA2-5E248B386E12}" sibTransId="{16F3B4BB-62FD-432C-B497-D5274118C003}"/>
    <dgm:cxn modelId="{F35489D5-080B-4BB6-B614-A4A9A189C01A}" type="presOf" srcId="{21C7BAB5-4E38-4AC0-9DD4-81EC43CC9C30}" destId="{B2DDDAFB-F299-4D80-BA92-CB9E1EEE6E26}" srcOrd="1" destOrd="0" presId="urn:microsoft.com/office/officeart/2016/7/layout/BasicLinearProcessNumbered"/>
    <dgm:cxn modelId="{F44AE5D7-F939-4C46-A496-1771692D9CDD}" type="presOf" srcId="{2280B5FC-70FF-4E77-B02B-E02B691EEE6A}" destId="{03C91475-2334-4288-B000-E95EAC510BFC}" srcOrd="1" destOrd="0" presId="urn:microsoft.com/office/officeart/2016/7/layout/BasicLinearProcessNumbered"/>
    <dgm:cxn modelId="{FDB129FA-A951-4A9A-9A1B-E51B6C5C75B0}" type="presOf" srcId="{16F3B4BB-62FD-432C-B497-D5274118C003}" destId="{D08C795F-2C70-49A4-976C-42F86FC4CEB9}" srcOrd="0" destOrd="0" presId="urn:microsoft.com/office/officeart/2016/7/layout/BasicLinearProcessNumbered"/>
    <dgm:cxn modelId="{CABE17B1-4471-4F52-9844-2819BAA68DEA}" type="presParOf" srcId="{7602F13B-0393-4CA5-A305-2E9C9732C2A2}" destId="{6CA84969-3B6E-4430-B08A-7C3EA3B0D92B}" srcOrd="0" destOrd="0" presId="urn:microsoft.com/office/officeart/2016/7/layout/BasicLinearProcessNumbered"/>
    <dgm:cxn modelId="{51F9E17F-E60B-469B-82F1-0E8EA7BD7D56}" type="presParOf" srcId="{6CA84969-3B6E-4430-B08A-7C3EA3B0D92B}" destId="{E827EB7C-24E1-4D88-99A0-D840AB8E0E09}" srcOrd="0" destOrd="0" presId="urn:microsoft.com/office/officeart/2016/7/layout/BasicLinearProcessNumbered"/>
    <dgm:cxn modelId="{44968A1C-48C0-4D03-A212-BE57FF5F11FB}" type="presParOf" srcId="{6CA84969-3B6E-4430-B08A-7C3EA3B0D92B}" destId="{44C30C47-14C4-40F9-B702-4C2AB902664F}" srcOrd="1" destOrd="0" presId="urn:microsoft.com/office/officeart/2016/7/layout/BasicLinearProcessNumbered"/>
    <dgm:cxn modelId="{079706AB-859B-4509-83AF-76AD5D93FC4A}" type="presParOf" srcId="{6CA84969-3B6E-4430-B08A-7C3EA3B0D92B}" destId="{837F0832-850C-415E-8912-C02717E1EF50}" srcOrd="2" destOrd="0" presId="urn:microsoft.com/office/officeart/2016/7/layout/BasicLinearProcessNumbered"/>
    <dgm:cxn modelId="{C2097645-F48E-49EE-9107-1F1BB1CD61D5}" type="presParOf" srcId="{6CA84969-3B6E-4430-B08A-7C3EA3B0D92B}" destId="{828F35BA-CCC0-4B7E-8B97-CAC2FFF1BBC7}" srcOrd="3" destOrd="0" presId="urn:microsoft.com/office/officeart/2016/7/layout/BasicLinearProcessNumbered"/>
    <dgm:cxn modelId="{6EF56BA3-AAB0-4E93-893D-4C206BE22324}" type="presParOf" srcId="{7602F13B-0393-4CA5-A305-2E9C9732C2A2}" destId="{9EB46361-DBA8-40BF-BB61-D5268B4A4B13}" srcOrd="1" destOrd="0" presId="urn:microsoft.com/office/officeart/2016/7/layout/BasicLinearProcessNumbered"/>
    <dgm:cxn modelId="{D444AB4E-09D2-4285-B535-2796D2D67953}" type="presParOf" srcId="{7602F13B-0393-4CA5-A305-2E9C9732C2A2}" destId="{8BB5E1E9-FD5A-45D8-B652-09E811DD9352}" srcOrd="2" destOrd="0" presId="urn:microsoft.com/office/officeart/2016/7/layout/BasicLinearProcessNumbered"/>
    <dgm:cxn modelId="{FD7E091E-F1BC-4EF2-AB9A-B50639FB3500}" type="presParOf" srcId="{8BB5E1E9-FD5A-45D8-B652-09E811DD9352}" destId="{458839AE-F51D-4557-9A24-6CE63E3CDEE4}" srcOrd="0" destOrd="0" presId="urn:microsoft.com/office/officeart/2016/7/layout/BasicLinearProcessNumbered"/>
    <dgm:cxn modelId="{68251EED-1731-4113-B653-DA4F61E46486}" type="presParOf" srcId="{8BB5E1E9-FD5A-45D8-B652-09E811DD9352}" destId="{D08C795F-2C70-49A4-976C-42F86FC4CEB9}" srcOrd="1" destOrd="0" presId="urn:microsoft.com/office/officeart/2016/7/layout/BasicLinearProcessNumbered"/>
    <dgm:cxn modelId="{99508389-CA43-4DD9-9D9B-08E10EBDAD38}" type="presParOf" srcId="{8BB5E1E9-FD5A-45D8-B652-09E811DD9352}" destId="{C6034E99-FAD4-4F8E-AE8F-B027C62E44F7}" srcOrd="2" destOrd="0" presId="urn:microsoft.com/office/officeart/2016/7/layout/BasicLinearProcessNumbered"/>
    <dgm:cxn modelId="{502C20C7-90F4-4CB0-B55F-D410E6F78F38}" type="presParOf" srcId="{8BB5E1E9-FD5A-45D8-B652-09E811DD9352}" destId="{03C91475-2334-4288-B000-E95EAC510BFC}" srcOrd="3" destOrd="0" presId="urn:microsoft.com/office/officeart/2016/7/layout/BasicLinearProcessNumbered"/>
    <dgm:cxn modelId="{EED49C7E-A3B9-4AF6-873C-FD8075D4F046}" type="presParOf" srcId="{7602F13B-0393-4CA5-A305-2E9C9732C2A2}" destId="{97206858-D16C-4496-9D16-361DD996AECF}" srcOrd="3" destOrd="0" presId="urn:microsoft.com/office/officeart/2016/7/layout/BasicLinearProcessNumbered"/>
    <dgm:cxn modelId="{8C122C3D-FDDC-450C-8578-896F87044106}" type="presParOf" srcId="{7602F13B-0393-4CA5-A305-2E9C9732C2A2}" destId="{AD70CF44-7772-49B4-AAB1-F39A43A431C8}" srcOrd="4" destOrd="0" presId="urn:microsoft.com/office/officeart/2016/7/layout/BasicLinearProcessNumbered"/>
    <dgm:cxn modelId="{A867D871-29F9-4EA3-87E4-241BF4756BC1}" type="presParOf" srcId="{AD70CF44-7772-49B4-AAB1-F39A43A431C8}" destId="{3E561A79-D251-4A3B-8A99-A0BB35B05579}" srcOrd="0" destOrd="0" presId="urn:microsoft.com/office/officeart/2016/7/layout/BasicLinearProcessNumbered"/>
    <dgm:cxn modelId="{E0FA72FC-4ECA-44B6-8D45-0759902CBD8D}" type="presParOf" srcId="{AD70CF44-7772-49B4-AAB1-F39A43A431C8}" destId="{906BAA38-D40B-40C0-B763-3A1BD2898E07}" srcOrd="1" destOrd="0" presId="urn:microsoft.com/office/officeart/2016/7/layout/BasicLinearProcessNumbered"/>
    <dgm:cxn modelId="{DEBFA46B-34F8-40EC-B96D-D16F10B221DF}" type="presParOf" srcId="{AD70CF44-7772-49B4-AAB1-F39A43A431C8}" destId="{06A17B49-374C-41A5-A4E7-63CEEAC11FEC}" srcOrd="2" destOrd="0" presId="urn:microsoft.com/office/officeart/2016/7/layout/BasicLinearProcessNumbered"/>
    <dgm:cxn modelId="{09CA48ED-FE25-4251-B827-89799A41BD3D}" type="presParOf" srcId="{AD70CF44-7772-49B4-AAB1-F39A43A431C8}" destId="{BB92C0DD-82C9-4F6E-B066-9066164A899B}" srcOrd="3" destOrd="0" presId="urn:microsoft.com/office/officeart/2016/7/layout/BasicLinearProcessNumbered"/>
    <dgm:cxn modelId="{5F5941B6-0286-4D67-AB69-84A3A470A405}" type="presParOf" srcId="{7602F13B-0393-4CA5-A305-2E9C9732C2A2}" destId="{2AFDDBB4-57F1-4E29-8A56-0AA7C3E650D0}" srcOrd="5" destOrd="0" presId="urn:microsoft.com/office/officeart/2016/7/layout/BasicLinearProcessNumbered"/>
    <dgm:cxn modelId="{99BE5180-B4F6-4D04-92FA-BE9A2A1F2F1D}" type="presParOf" srcId="{7602F13B-0393-4CA5-A305-2E9C9732C2A2}" destId="{AC3F3FEE-4471-4EFB-917E-2768C8B842E8}" srcOrd="6" destOrd="0" presId="urn:microsoft.com/office/officeart/2016/7/layout/BasicLinearProcessNumbered"/>
    <dgm:cxn modelId="{E6C6343C-4066-4D37-8168-A903B5F08B2B}" type="presParOf" srcId="{AC3F3FEE-4471-4EFB-917E-2768C8B842E8}" destId="{BC1E355D-2C6D-43E1-8C83-91AA8CD4C7CD}" srcOrd="0" destOrd="0" presId="urn:microsoft.com/office/officeart/2016/7/layout/BasicLinearProcessNumbered"/>
    <dgm:cxn modelId="{CE3DF072-E9C5-4505-A37B-9A536278977C}" type="presParOf" srcId="{AC3F3FEE-4471-4EFB-917E-2768C8B842E8}" destId="{9742E4B7-7320-4A1C-9567-5494CAE37937}" srcOrd="1" destOrd="0" presId="urn:microsoft.com/office/officeart/2016/7/layout/BasicLinearProcessNumbered"/>
    <dgm:cxn modelId="{531AF670-2226-4EE0-9DFF-284096DE893E}" type="presParOf" srcId="{AC3F3FEE-4471-4EFB-917E-2768C8B842E8}" destId="{5C2BCCD5-A42B-4257-8563-54FEBE06DE17}" srcOrd="2" destOrd="0" presId="urn:microsoft.com/office/officeart/2016/7/layout/BasicLinearProcessNumbered"/>
    <dgm:cxn modelId="{63D22EB6-C246-4296-8315-82F28BF582DA}" type="presParOf" srcId="{AC3F3FEE-4471-4EFB-917E-2768C8B842E8}" destId="{B2DDDAFB-F299-4D80-BA92-CB9E1EEE6E2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73602-BDB8-406C-8D3F-CB8AB8185151}">
      <dsp:nvSpPr>
        <dsp:cNvPr id="0" name=""/>
        <dsp:cNvSpPr/>
      </dsp:nvSpPr>
      <dsp:spPr>
        <a:xfrm>
          <a:off x="0" y="51558"/>
          <a:ext cx="3025303" cy="10448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Login with your consid account here: </a:t>
          </a:r>
          <a:r>
            <a:rPr lang="en-US" sz="1900" kern="1200">
              <a:hlinkClick xmlns:r="http://schemas.openxmlformats.org/officeDocument/2006/relationships" r:id="rId1"/>
            </a:rPr>
            <a:t>https://portal.azure.com/</a:t>
          </a:r>
          <a:endParaRPr lang="en-US" sz="1900" kern="1200"/>
        </a:p>
      </dsp:txBody>
      <dsp:txXfrm>
        <a:off x="51003" y="102561"/>
        <a:ext cx="2923297" cy="942803"/>
      </dsp:txXfrm>
    </dsp:sp>
    <dsp:sp modelId="{2D7217E1-37B8-4A2C-96A3-3EBDE5FE1FD6}">
      <dsp:nvSpPr>
        <dsp:cNvPr id="0" name=""/>
        <dsp:cNvSpPr/>
      </dsp:nvSpPr>
      <dsp:spPr>
        <a:xfrm>
          <a:off x="0" y="1151088"/>
          <a:ext cx="3025303" cy="1044809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Then find the Kubernetes Service: </a:t>
          </a:r>
          <a:r>
            <a:rPr lang="en-US" sz="1900" b="1" i="0" kern="1200"/>
            <a:t>consid_k8s_course_aks</a:t>
          </a:r>
          <a:endParaRPr lang="en-US" sz="1900" kern="1200"/>
        </a:p>
      </dsp:txBody>
      <dsp:txXfrm>
        <a:off x="51003" y="1202091"/>
        <a:ext cx="2923297" cy="942803"/>
      </dsp:txXfrm>
    </dsp:sp>
    <dsp:sp modelId="{E86E075F-643A-4E73-B9CC-1385BE5E033B}">
      <dsp:nvSpPr>
        <dsp:cNvPr id="0" name=""/>
        <dsp:cNvSpPr/>
      </dsp:nvSpPr>
      <dsp:spPr>
        <a:xfrm>
          <a:off x="0" y="2250618"/>
          <a:ext cx="3025303" cy="104480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Find the connect button and then select the </a:t>
          </a:r>
          <a:r>
            <a:rPr lang="en-US" sz="1900" b="1" kern="1200"/>
            <a:t>cloud shell</a:t>
          </a:r>
          <a:endParaRPr lang="en-US" sz="1900" kern="1200"/>
        </a:p>
      </dsp:txBody>
      <dsp:txXfrm>
        <a:off x="51003" y="2301621"/>
        <a:ext cx="2923297" cy="942803"/>
      </dsp:txXfrm>
    </dsp:sp>
    <dsp:sp modelId="{2F83FC12-7952-4EE1-9289-E3F4B97201C0}">
      <dsp:nvSpPr>
        <dsp:cNvPr id="0" name=""/>
        <dsp:cNvSpPr/>
      </dsp:nvSpPr>
      <dsp:spPr>
        <a:xfrm>
          <a:off x="0" y="3350148"/>
          <a:ext cx="3025303" cy="1044809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/>
            <a:t>4. A terminal will be opened, you are now </a:t>
          </a:r>
          <a:r>
            <a:rPr lang="en-US" sz="1900" b="1" i="0" kern="1200"/>
            <a:t>connected</a:t>
          </a:r>
          <a:r>
            <a:rPr lang="en-US" sz="1900" i="0" kern="1200"/>
            <a:t> to the cluster.</a:t>
          </a:r>
          <a:endParaRPr lang="en-US" sz="1900" kern="1200"/>
        </a:p>
      </dsp:txBody>
      <dsp:txXfrm>
        <a:off x="51003" y="3401151"/>
        <a:ext cx="2923297" cy="942803"/>
      </dsp:txXfrm>
    </dsp:sp>
    <dsp:sp modelId="{891AD851-4CE5-4E54-9A30-7A33FC3E9ED9}">
      <dsp:nvSpPr>
        <dsp:cNvPr id="0" name=""/>
        <dsp:cNvSpPr/>
      </dsp:nvSpPr>
      <dsp:spPr>
        <a:xfrm>
          <a:off x="0" y="4449678"/>
          <a:ext cx="3025303" cy="104480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In the next slides we will learn some commands we can run inside the cluster.</a:t>
          </a:r>
        </a:p>
      </dsp:txBody>
      <dsp:txXfrm>
        <a:off x="51003" y="4500681"/>
        <a:ext cx="2923297" cy="94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7EB7C-24E1-4D88-99A0-D840AB8E0E09}">
      <dsp:nvSpPr>
        <dsp:cNvPr id="0" name=""/>
        <dsp:cNvSpPr/>
      </dsp:nvSpPr>
      <dsp:spPr>
        <a:xfrm>
          <a:off x="3080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deployment is used to manage pods</a:t>
          </a:r>
        </a:p>
      </dsp:txBody>
      <dsp:txXfrm>
        <a:off x="3080" y="1563836"/>
        <a:ext cx="2444055" cy="2053006"/>
      </dsp:txXfrm>
    </dsp:sp>
    <dsp:sp modelId="{44C30C47-14C4-40F9-B702-4C2AB902664F}">
      <dsp:nvSpPr>
        <dsp:cNvPr id="0" name=""/>
        <dsp:cNvSpPr/>
      </dsp:nvSpPr>
      <dsp:spPr>
        <a:xfrm>
          <a:off x="711856" y="605766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756094"/>
        <a:ext cx="725847" cy="725847"/>
      </dsp:txXfrm>
    </dsp:sp>
    <dsp:sp modelId="{837F0832-850C-415E-8912-C02717E1EF50}">
      <dsp:nvSpPr>
        <dsp:cNvPr id="0" name=""/>
        <dsp:cNvSpPr/>
      </dsp:nvSpPr>
      <dsp:spPr>
        <a:xfrm>
          <a:off x="3080" y="3685204"/>
          <a:ext cx="244405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839AE-F51D-4557-9A24-6CE63E3CDEE4}">
      <dsp:nvSpPr>
        <dsp:cNvPr id="0" name=""/>
        <dsp:cNvSpPr/>
      </dsp:nvSpPr>
      <dsp:spPr>
        <a:xfrm>
          <a:off x="2691541" y="263599"/>
          <a:ext cx="2444055" cy="34216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Lets say we always want to have 3 replicas of a pod, then our deployment can create 3 individual pod automatically</a:t>
          </a:r>
        </a:p>
      </dsp:txBody>
      <dsp:txXfrm>
        <a:off x="2691541" y="1563836"/>
        <a:ext cx="2444055" cy="2053006"/>
      </dsp:txXfrm>
    </dsp:sp>
    <dsp:sp modelId="{D08C795F-2C70-49A4-976C-42F86FC4CEB9}">
      <dsp:nvSpPr>
        <dsp:cNvPr id="0" name=""/>
        <dsp:cNvSpPr/>
      </dsp:nvSpPr>
      <dsp:spPr>
        <a:xfrm>
          <a:off x="3400317" y="605766"/>
          <a:ext cx="1026503" cy="102650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756094"/>
        <a:ext cx="725847" cy="725847"/>
      </dsp:txXfrm>
    </dsp:sp>
    <dsp:sp modelId="{C6034E99-FAD4-4F8E-AE8F-B027C62E44F7}">
      <dsp:nvSpPr>
        <dsp:cNvPr id="0" name=""/>
        <dsp:cNvSpPr/>
      </dsp:nvSpPr>
      <dsp:spPr>
        <a:xfrm>
          <a:off x="2691541" y="3685204"/>
          <a:ext cx="244405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61A79-D251-4A3B-8A99-A0BB35B05579}">
      <dsp:nvSpPr>
        <dsp:cNvPr id="0" name=""/>
        <dsp:cNvSpPr/>
      </dsp:nvSpPr>
      <dsp:spPr>
        <a:xfrm>
          <a:off x="5380002" y="263599"/>
          <a:ext cx="2444055" cy="34216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we need to update a pods configuration our deployment will update all 3 pods at the same time.</a:t>
          </a:r>
        </a:p>
      </dsp:txBody>
      <dsp:txXfrm>
        <a:off x="5380002" y="1563836"/>
        <a:ext cx="2444055" cy="2053006"/>
      </dsp:txXfrm>
    </dsp:sp>
    <dsp:sp modelId="{906BAA38-D40B-40C0-B763-3A1BD2898E07}">
      <dsp:nvSpPr>
        <dsp:cNvPr id="0" name=""/>
        <dsp:cNvSpPr/>
      </dsp:nvSpPr>
      <dsp:spPr>
        <a:xfrm>
          <a:off x="6088778" y="605766"/>
          <a:ext cx="1026503" cy="102650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756094"/>
        <a:ext cx="725847" cy="725847"/>
      </dsp:txXfrm>
    </dsp:sp>
    <dsp:sp modelId="{06A17B49-374C-41A5-A4E7-63CEEAC11FEC}">
      <dsp:nvSpPr>
        <dsp:cNvPr id="0" name=""/>
        <dsp:cNvSpPr/>
      </dsp:nvSpPr>
      <dsp:spPr>
        <a:xfrm>
          <a:off x="5380002" y="3685204"/>
          <a:ext cx="244405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E355D-2C6D-43E1-8C83-91AA8CD4C7CD}">
      <dsp:nvSpPr>
        <dsp:cNvPr id="0" name=""/>
        <dsp:cNvSpPr/>
      </dsp:nvSpPr>
      <dsp:spPr>
        <a:xfrm>
          <a:off x="8068463" y="263599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we need to restart all 3 pods, a deployment can help with that too!</a:t>
          </a:r>
        </a:p>
      </dsp:txBody>
      <dsp:txXfrm>
        <a:off x="8068463" y="1563836"/>
        <a:ext cx="2444055" cy="2053006"/>
      </dsp:txXfrm>
    </dsp:sp>
    <dsp:sp modelId="{9742E4B7-7320-4A1C-9567-5494CAE37937}">
      <dsp:nvSpPr>
        <dsp:cNvPr id="0" name=""/>
        <dsp:cNvSpPr/>
      </dsp:nvSpPr>
      <dsp:spPr>
        <a:xfrm>
          <a:off x="8777239" y="605766"/>
          <a:ext cx="1026503" cy="10265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756094"/>
        <a:ext cx="725847" cy="725847"/>
      </dsp:txXfrm>
    </dsp:sp>
    <dsp:sp modelId="{5C2BCCD5-A42B-4257-8563-54FEBE06DE17}">
      <dsp:nvSpPr>
        <dsp:cNvPr id="0" name=""/>
        <dsp:cNvSpPr/>
      </dsp:nvSpPr>
      <dsp:spPr>
        <a:xfrm>
          <a:off x="8068463" y="3685204"/>
          <a:ext cx="2444055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6E36399-6BA9-3ABD-ED72-751E19B59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8AD3AF0-B283-3413-394D-D24071A6A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EAE3714-38EB-327A-8CC6-230B00CB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CE30456-607F-D1AD-D6DD-D04EAC40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1B7A72B-BCF0-94E0-1800-4F204197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374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F69415-7A60-B153-323C-8B1FB266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DD85B2A-CD78-5039-74D0-5E7641FBF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38E50A5-EBCA-37A5-3F6C-195DB496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9C520E5-61E6-1C54-11C1-F6B2BF95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4646E39-E8C3-E7A2-BB09-A532EECC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0952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C78DF31-FB21-0473-9C1E-C7705CCB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8A4729B-6C5D-A6D4-0DAC-47F5FAA02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9567FB6-F946-2DCE-3418-AB21BEAE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DFF93BF-A4A2-5C50-1D58-5EB86CE3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37A9360-EDD9-4755-55F6-992CC155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407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750B52-3731-C49F-C05D-02BB70B0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8DB01B3-EEE5-FA47-58D0-264F57AE3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CD45AEE2-FE41-08A2-F2A6-4EC188A1E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D391667-2940-D109-A61B-FF495B5F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09DE924-F396-E1BE-F77E-4F91FC5D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595FC4C-0D11-7DEB-A70B-E43E03BE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785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8E02D0-48E1-4674-ED50-07C4F881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7BD7CAA-C3D1-ED00-7EE5-180ADFFFE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D148F98-9943-9BBD-09C3-1FC8FDE07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4C982AC1-4EC8-F069-2E24-9180115A0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1B71CCC6-9E55-0DA6-A1D3-2F5F5E00E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F2949F7F-1F7C-B1EF-12C5-D808ABD5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0F59E83-1409-48AF-3876-809C80DC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985D78AD-0BF5-75B5-6085-B7DC22D5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871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9B0036-17F8-2B60-67A8-1EC731B5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0030D0B-E596-0967-FA8B-D2790908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A3337E7-339D-D60D-B73D-FCE8A929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5901C4F-0398-7670-C7A4-8883C216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54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4632384-6E9B-8499-6955-44A89786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A53B3DF-FD6C-DB48-9DD4-80FB0A5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C86ACD3-BD80-5E9A-9D7C-02174E2A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7503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9681CA-FE2F-6F95-C82A-66853836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A6CAE98-0A62-635A-994E-03F80003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D4E5F8E-F3B3-3A50-FC78-7D72C7CD6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20DE945-AEF9-5792-1360-3ECFD1B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4FEFB82-76FB-504E-042D-F04C4D1D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8CBD77B-3EC8-D2A0-506A-3F7E090A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866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C2EF5E-67A1-257C-1249-0ED1BBBB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B8B03FDF-0B03-6F9F-1F92-A3FF0AF21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8F59767-44E2-5430-A1E8-56BA0002C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208E2E1-7305-2F43-A4C6-6EC0E09E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AE3CD1B-2FF3-932C-AC9A-4DF5B9FB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9F41C6D-F423-6E8B-AD99-8C8214A1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684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70F63B-151E-E28A-F18D-71504568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3B84C64-4E94-5B53-F387-D9201E25A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AF5060E-52E6-69BE-1D5E-6B43B708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748AEE7-C6B6-D160-B2BD-86271803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0426B19-85E8-BC41-2308-4AC7AA42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120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F0B08EF4-381D-0465-8C08-77B55F652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195A662C-718C-6E47-EC1C-67893444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30D1411-67B1-390E-8AED-25B327AE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D5CD43E-D3B1-7E7D-449B-9ECF2307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806A57E-4491-FC3E-663D-84ABEDA2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041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83F0795-363A-9780-077C-CE6F9490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3F8CEE4-6FAA-0CF0-5E85-A9A36ADB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0365177-5835-A027-23AD-1A9BB4B69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D2368-90B5-4ABB-9A57-0D109538AF44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D366FE8-E21F-6C44-1BE2-24CF9C956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F0DD5D4-835D-3A5E-3084-E788A5691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21487-2871-4473-8DD3-11B0208CE3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51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kubernetes.io/docs/concepts/overview/component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kier.com/" TargetMode="External"/><Relationship Id="rId2" Type="http://schemas.openxmlformats.org/officeDocument/2006/relationships/hyperlink" Target="https://kubernetes.io/docs/reference/generated/kubectl/kubectl-comman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tainiq.com/post/using-kubectl-describ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kier.com/1/oc-ru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8DF0D-2862-760B-B4D8-5E395F378C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409" b="432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4ECE78-B2FB-F447-B02C-32B2EAB0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Kubernetes For Developers</a:t>
            </a:r>
            <a:br>
              <a:rPr lang="en-US" sz="6000" dirty="0"/>
            </a:br>
            <a:r>
              <a:rPr lang="en-US" sz="6000" dirty="0"/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146197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634EF66F-FDEE-EFFD-C70C-E21C02B6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Kubernetes Cluster Components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48A135B-73AB-4538-E775-BDA6525CBA14}"/>
              </a:ext>
            </a:extLst>
          </p:cNvPr>
          <p:cNvSpPr txBox="1"/>
          <p:nvPr/>
        </p:nvSpPr>
        <p:spPr>
          <a:xfrm>
            <a:off x="8258702" y="439547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Explanations here: </a:t>
            </a:r>
            <a:r>
              <a:rPr lang="en-US" sz="1900" kern="1200" dirty="0">
                <a:solidFill>
                  <a:srgbClr val="FFFFFF"/>
                </a:solidFill>
                <a:latin typeface="+mn-lt"/>
                <a:ea typeface="+mn-ea"/>
                <a:cs typeface="+mn-cs"/>
                <a:hlinkClick r:id="rId2"/>
              </a:rPr>
              <a:t>https://kubernetes.io/docs/concepts/overview/components/</a:t>
            </a:r>
            <a:endParaRPr lang="en-US" sz="1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Bild 9">
            <a:extLst>
              <a:ext uri="{FF2B5EF4-FFF2-40B4-BE49-F238E27FC236}">
                <a16:creationId xmlns:a16="http://schemas.microsoft.com/office/drawing/2014/main" id="{B5DD6E7E-AB3C-F0A1-FA26-61745456D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1808" y="1966293"/>
            <a:ext cx="952838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02F5F-147A-A20D-A6CE-1220FAD1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EF0B88F-7E94-248F-5D2F-1F4A04A4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Master Nodes</a:t>
            </a:r>
            <a:endParaRPr lang="sv-SE" sz="4000" dirty="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3378EB9-9F68-3382-1906-E2F14962A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223" y="655975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Kubernetes follows a </a:t>
            </a:r>
            <a:r>
              <a:rPr lang="en-US" sz="1600" b="1" dirty="0"/>
              <a:t>master-worker architecture</a:t>
            </a:r>
            <a:r>
              <a:rPr lang="en-US" sz="1600" dirty="0"/>
              <a:t>, where the </a:t>
            </a:r>
            <a:r>
              <a:rPr lang="en-US" sz="1600" b="1" dirty="0"/>
              <a:t>control plane</a:t>
            </a:r>
            <a:r>
              <a:rPr lang="en-US" sz="1600" dirty="0"/>
              <a:t> manages the cluster and </a:t>
            </a:r>
            <a:r>
              <a:rPr lang="en-US" sz="1600" b="1" dirty="0"/>
              <a:t>worker nodes</a:t>
            </a:r>
            <a:r>
              <a:rPr lang="en-US" sz="1600" dirty="0"/>
              <a:t> run containerized applications.</a:t>
            </a:r>
          </a:p>
          <a:p>
            <a:r>
              <a:rPr lang="en-US" sz="1600" dirty="0"/>
              <a:t>The control plane ensures that the cluster is functioning as expected. It consists of:</a:t>
            </a:r>
          </a:p>
          <a:p>
            <a:pPr lvl="1">
              <a:lnSpc>
                <a:spcPct val="100000"/>
              </a:lnSpc>
            </a:pPr>
            <a:r>
              <a:rPr lang="en-US" sz="1600" b="1" dirty="0" err="1"/>
              <a:t>kube-apiserver</a:t>
            </a:r>
            <a:r>
              <a:rPr lang="en-US" sz="1600" dirty="0"/>
              <a:t>: The front-end of the Kubernetes control plane, exposing APIs for communication.</a:t>
            </a:r>
          </a:p>
          <a:p>
            <a:pPr lvl="1">
              <a:lnSpc>
                <a:spcPct val="100000"/>
              </a:lnSpc>
            </a:pPr>
            <a:r>
              <a:rPr lang="en-US" sz="1600" b="1" dirty="0" err="1"/>
              <a:t>etcd</a:t>
            </a:r>
            <a:r>
              <a:rPr lang="en-US" sz="1600" dirty="0"/>
              <a:t>: A distributed key-value store that holds the cluster's state and configuration.</a:t>
            </a:r>
          </a:p>
          <a:p>
            <a:pPr lvl="1">
              <a:lnSpc>
                <a:spcPct val="100000"/>
              </a:lnSpc>
            </a:pPr>
            <a:r>
              <a:rPr lang="en-US" sz="1600" b="1" dirty="0" err="1"/>
              <a:t>kube</a:t>
            </a:r>
            <a:r>
              <a:rPr lang="en-US" sz="1600" b="1" dirty="0"/>
              <a:t>-scheduler</a:t>
            </a:r>
            <a:r>
              <a:rPr lang="en-US" sz="1600" dirty="0"/>
              <a:t>: Assigns new pods to suitable nodes based on resource availability.</a:t>
            </a:r>
          </a:p>
          <a:p>
            <a:pPr lvl="1">
              <a:lnSpc>
                <a:spcPct val="100000"/>
              </a:lnSpc>
            </a:pPr>
            <a:r>
              <a:rPr lang="en-US" sz="1600" b="1" dirty="0" err="1"/>
              <a:t>kube</a:t>
            </a:r>
            <a:r>
              <a:rPr lang="en-US" sz="1600" b="1" dirty="0"/>
              <a:t>-controller-manager</a:t>
            </a:r>
            <a:r>
              <a:rPr lang="en-US" sz="1600" dirty="0"/>
              <a:t>: Runs various controllers (e.g., Node, Replication, Endpoint controllers) to maintain cluster health.</a:t>
            </a:r>
          </a:p>
          <a:p>
            <a:pPr lvl="1">
              <a:lnSpc>
                <a:spcPct val="100000"/>
              </a:lnSpc>
            </a:pPr>
            <a:r>
              <a:rPr lang="en-US" sz="1600" b="1" dirty="0"/>
              <a:t>cloud-controller-manager</a:t>
            </a:r>
            <a:r>
              <a:rPr lang="en-US" sz="1600" dirty="0"/>
              <a:t>: Manages integration with cloud providers for services like load balancers and storage.</a:t>
            </a:r>
          </a:p>
          <a:p>
            <a:pPr lvl="1"/>
            <a:endParaRPr lang="en-US" sz="16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843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ABDAD99-4FFD-C098-41A8-F39BF761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Worker Nodes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0BA061-5023-DD0A-F9E3-ED82AF66A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Each worker node runs the actual application workloads and consists of:</a:t>
            </a:r>
          </a:p>
          <a:p>
            <a:pPr lvl="1"/>
            <a:r>
              <a:rPr lang="en-US" sz="2000" b="1" dirty="0" err="1"/>
              <a:t>kubelet</a:t>
            </a:r>
            <a:r>
              <a:rPr lang="en-US" sz="2000" dirty="0"/>
              <a:t>: An agent that ensures containers are running as expected on the node.</a:t>
            </a:r>
          </a:p>
          <a:p>
            <a:pPr lvl="1"/>
            <a:r>
              <a:rPr lang="en-US" sz="2000" b="1" dirty="0" err="1"/>
              <a:t>kube</a:t>
            </a:r>
            <a:r>
              <a:rPr lang="en-US" sz="2000" b="1" dirty="0"/>
              <a:t>-proxy</a:t>
            </a:r>
            <a:r>
              <a:rPr lang="en-US" sz="2000" dirty="0"/>
              <a:t>: Manages networking rules for pod-to-pod and external communications.</a:t>
            </a:r>
          </a:p>
          <a:p>
            <a:pPr lvl="1"/>
            <a:r>
              <a:rPr lang="en-US" sz="2000" b="1" dirty="0"/>
              <a:t>Container runtime</a:t>
            </a:r>
            <a:r>
              <a:rPr lang="en-US" sz="2000" dirty="0"/>
              <a:t>: The software (e.g., Docker, </a:t>
            </a:r>
            <a:r>
              <a:rPr lang="en-US" sz="2000" dirty="0" err="1"/>
              <a:t>containerd</a:t>
            </a:r>
            <a:r>
              <a:rPr lang="en-US" sz="2000" dirty="0"/>
              <a:t>) responsible for running containers.</a:t>
            </a:r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12758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1B159F1-B3CA-C948-93DE-7351916A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Add-ons</a:t>
            </a:r>
            <a:br>
              <a:rPr lang="en-US" sz="4000" b="1">
                <a:solidFill>
                  <a:srgbClr val="FFFFFF"/>
                </a:solidFill>
              </a:rPr>
            </a:b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593DF75-24D8-9295-1AC6-83D2A4474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Additional components, such as DNS (</a:t>
            </a:r>
            <a:r>
              <a:rPr lang="en-US" sz="2000" dirty="0" err="1"/>
              <a:t>CoreDNS</a:t>
            </a:r>
            <a:r>
              <a:rPr lang="en-US" sz="2000" dirty="0"/>
              <a:t>), monitoring tools, and networking plugins, enhance cluster functionality.</a:t>
            </a:r>
          </a:p>
          <a:p>
            <a:r>
              <a:rPr lang="en-US" sz="2000" dirty="0"/>
              <a:t>This architecture ensures Kubernetes is </a:t>
            </a:r>
            <a:r>
              <a:rPr lang="en-US" sz="2000" b="1" dirty="0"/>
              <a:t>scalable, self-healing, and declarative</a:t>
            </a:r>
            <a:r>
              <a:rPr lang="en-US" sz="2000" dirty="0"/>
              <a:t> in managing containerized applications.</a:t>
            </a:r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335631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8AF56-CFC1-29AA-4048-73EA3295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Kubernetes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6705-6332-7023-5477-48AE6886C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1"/>
            <a:r>
              <a:rPr lang="en-US" sz="2000" dirty="0"/>
              <a:t>The Kubernetes CLI is used to interact with the Kubernetes </a:t>
            </a:r>
            <a:r>
              <a:rPr lang="en-US" sz="2000" dirty="0" err="1"/>
              <a:t>api</a:t>
            </a:r>
            <a:r>
              <a:rPr lang="en-US" sz="2000" dirty="0"/>
              <a:t>-server</a:t>
            </a:r>
          </a:p>
          <a:p>
            <a:pPr lvl="1"/>
            <a:r>
              <a:rPr lang="en-US" sz="2000" dirty="0"/>
              <a:t>The CLI can send instructions to the cluster to perform actions</a:t>
            </a:r>
          </a:p>
          <a:p>
            <a:pPr lvl="1"/>
            <a:r>
              <a:rPr lang="en-US" sz="2000" dirty="0"/>
              <a:t>You can download </a:t>
            </a:r>
            <a:r>
              <a:rPr lang="en-US" sz="2000" dirty="0" err="1"/>
              <a:t>kubectl</a:t>
            </a:r>
            <a:r>
              <a:rPr lang="en-US" sz="2000" dirty="0"/>
              <a:t> binaries and run locally or you can run the binary directly inside Azure.</a:t>
            </a:r>
          </a:p>
          <a:p>
            <a:pPr lvl="1"/>
            <a:r>
              <a:rPr lang="en-US" sz="2000" dirty="0"/>
              <a:t>In this course we will use the </a:t>
            </a:r>
            <a:r>
              <a:rPr lang="en-US" sz="2000" dirty="0" err="1"/>
              <a:t>kubectl</a:t>
            </a:r>
            <a:r>
              <a:rPr lang="en-US" sz="2000" dirty="0"/>
              <a:t> binary provided by Azure, this service is called the  “cloud shell”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463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ECBC838-4CBE-B14D-7C60-446F0FD8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</a:rPr>
              <a:t>Connect to the Azure Cloud Shell</a:t>
            </a:r>
          </a:p>
        </p:txBody>
      </p:sp>
      <p:graphicFrame>
        <p:nvGraphicFramePr>
          <p:cNvPr id="27" name="Platshållare för innehåll 2">
            <a:extLst>
              <a:ext uri="{FF2B5EF4-FFF2-40B4-BE49-F238E27FC236}">
                <a16:creationId xmlns:a16="http://schemas.microsoft.com/office/drawing/2014/main" id="{5E2DD436-D18F-04C3-9801-D4151E83E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752401"/>
              </p:ext>
            </p:extLst>
          </p:nvPr>
        </p:nvGraphicFramePr>
        <p:xfrm>
          <a:off x="4581727" y="649480"/>
          <a:ext cx="302530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7905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80B0C9-48FC-4AD5-9E4A-A4F32A24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sv-SE" sz="4000"/>
              <a:t>CLI documentation</a:t>
            </a:r>
            <a:endParaRPr lang="en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6B0E431-7425-4A0A-A716-722D51B59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sv-SE" sz="2000"/>
              <a:t>In this course I will use the following pages to reference kubectl commands:</a:t>
            </a:r>
            <a:endParaRPr lang="sv-SE" sz="2000">
              <a:hlinkClick r:id="rId2"/>
            </a:endParaRPr>
          </a:p>
          <a:p>
            <a:r>
              <a:rPr lang="sv-SE" sz="2000">
                <a:hlinkClick r:id="rId2"/>
              </a:rPr>
              <a:t>https://kubernetes.io/docs/reference/generated/kubectl/kubectl-commands</a:t>
            </a:r>
            <a:endParaRPr lang="sv-SE" sz="2000"/>
          </a:p>
          <a:p>
            <a:r>
              <a:rPr lang="sv-SE" sz="2000">
                <a:hlinkClick r:id="rId3"/>
              </a:rPr>
              <a:t>https://www.mankier.com</a:t>
            </a:r>
            <a:endParaRPr lang="sv-SE" sz="2000"/>
          </a:p>
        </p:txBody>
      </p:sp>
      <p:pic>
        <p:nvPicPr>
          <p:cNvPr id="5" name="Picture 4" descr="Närbild av kartnålar på färd Plans vägen">
            <a:extLst>
              <a:ext uri="{FF2B5EF4-FFF2-40B4-BE49-F238E27FC236}">
                <a16:creationId xmlns:a16="http://schemas.microsoft.com/office/drawing/2014/main" id="{C346D134-B80F-62C1-A246-9984382C93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39" r="36619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528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27488D1-75AE-43D0-85DB-6EC357B0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sv-SE" sz="4000" dirty="0" err="1"/>
              <a:t>What</a:t>
            </a:r>
            <a:r>
              <a:rPr lang="sv-SE" sz="4000" dirty="0"/>
              <a:t> is a </a:t>
            </a:r>
            <a:r>
              <a:rPr lang="sv-SE" sz="4000" dirty="0" err="1"/>
              <a:t>Pod</a:t>
            </a:r>
            <a:r>
              <a:rPr lang="sv-SE" sz="4000" dirty="0"/>
              <a:t>?</a:t>
            </a:r>
            <a:endParaRPr lang="en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48C0EFD-2AC5-4A73-AE79-34E94D4C1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sv-SE" sz="2000"/>
              <a:t>The smallest unit in Openshift</a:t>
            </a:r>
          </a:p>
          <a:p>
            <a:r>
              <a:rPr lang="sv-SE" sz="2000"/>
              <a:t>It contains one or more tightly coupled containers inside it</a:t>
            </a:r>
          </a:p>
          <a:p>
            <a:r>
              <a:rPr lang="sv-SE" sz="2000"/>
              <a:t>Each pod has an internal network (localhost)</a:t>
            </a:r>
          </a:p>
          <a:p>
            <a:r>
              <a:rPr lang="sv-SE" sz="2000"/>
              <a:t>A pod can run on any Node (Machine on the OCP Cluster)</a:t>
            </a:r>
          </a:p>
          <a:p>
            <a:r>
              <a:rPr lang="sv-SE" sz="2000"/>
              <a:t>Pods can scale horizontally (Using Deploymentconfigs or Replication Controllers)</a:t>
            </a:r>
          </a:p>
          <a:p>
            <a:r>
              <a:rPr lang="sv-SE" sz="2000"/>
              <a:t>You can create pods from the kubectl cli</a:t>
            </a:r>
          </a:p>
          <a:p>
            <a:r>
              <a:rPr lang="sv-SE" sz="2000"/>
              <a:t>Most pods should be Stateless</a:t>
            </a:r>
          </a:p>
          <a:p>
            <a:r>
              <a:rPr lang="sv-SE" sz="2000"/>
              <a:t>Most pod configurations should be stored on the cluster level as configmaps (more on this later)</a:t>
            </a:r>
          </a:p>
          <a:p>
            <a:endParaRPr lang="sv-SE" sz="2000"/>
          </a:p>
          <a:p>
            <a:endParaRPr lang="en-SE" sz="2000"/>
          </a:p>
        </p:txBody>
      </p:sp>
    </p:spTree>
    <p:extLst>
      <p:ext uri="{BB962C8B-B14F-4D97-AF65-F5344CB8AC3E}">
        <p14:creationId xmlns:p14="http://schemas.microsoft.com/office/powerpoint/2010/main" val="393611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1244-401C-60B0-FCC2-EF7F90E9A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CE25CE-AEB0-D733-2279-972739C0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Using </a:t>
            </a:r>
            <a:r>
              <a:rPr lang="en-US" sz="4000" kern="1200" dirty="0" err="1">
                <a:latin typeface="+mj-lt"/>
                <a:ea typeface="+mj-ea"/>
                <a:cs typeface="+mj-cs"/>
              </a:rPr>
              <a:t>kubectl</a:t>
            </a:r>
            <a:r>
              <a:rPr lang="en-US" sz="4000" kern="1200" dirty="0">
                <a:latin typeface="+mj-lt"/>
                <a:ea typeface="+mj-ea"/>
                <a:cs typeface="+mj-cs"/>
              </a:rPr>
              <a:t>-run to create pods</a:t>
            </a: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6107D01B-FA47-18A6-4FF6-CA98E8E90136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Run an nginx pod and expose port 80: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kubectl</a:t>
            </a:r>
            <a:r>
              <a:rPr lang="en-US" sz="2000" dirty="0"/>
              <a:t> run nginx --image=nginx --port 80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Run an nginx pod, setting the TEST_VAR environment variable: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kubectl</a:t>
            </a:r>
            <a:r>
              <a:rPr lang="en-US" sz="2000" dirty="0"/>
              <a:t> run nginx-dev --image=nginx --env="TEST_VAR=testing"</a:t>
            </a:r>
          </a:p>
        </p:txBody>
      </p:sp>
    </p:spTree>
    <p:extLst>
      <p:ext uri="{BB962C8B-B14F-4D97-AF65-F5344CB8AC3E}">
        <p14:creationId xmlns:p14="http://schemas.microsoft.com/office/powerpoint/2010/main" val="131664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8AAA-AC77-288E-1C22-98548A53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B3ED54-E9B7-75E6-D41F-D332303F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Using </a:t>
            </a:r>
            <a:r>
              <a:rPr lang="en-US" sz="4000" kern="1200" dirty="0" err="1">
                <a:latin typeface="+mj-lt"/>
                <a:ea typeface="+mj-ea"/>
                <a:cs typeface="+mj-cs"/>
              </a:rPr>
              <a:t>yaml</a:t>
            </a:r>
            <a:r>
              <a:rPr lang="en-US" sz="4000" kern="1200" dirty="0">
                <a:latin typeface="+mj-lt"/>
                <a:ea typeface="+mj-ea"/>
                <a:cs typeface="+mj-cs"/>
              </a:rPr>
              <a:t> files to create pods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F3D09E94-346E-A6DB-2F09-C9E7AC868E36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Example flow: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#First create a namespace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kubectl</a:t>
            </a:r>
            <a:r>
              <a:rPr lang="en-US" sz="2000" dirty="0"/>
              <a:t> create namespace </a:t>
            </a:r>
            <a:r>
              <a:rPr lang="en-US" sz="2000" dirty="0" err="1"/>
              <a:t>mynamespace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#Switch namespace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kubectl</a:t>
            </a:r>
            <a:r>
              <a:rPr lang="en-US" sz="2000" dirty="0"/>
              <a:t> config set-context --current --namespace=&lt;namespace-name&gt;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#Create a </a:t>
            </a:r>
            <a:r>
              <a:rPr lang="en-US" sz="2000" b="1" dirty="0" err="1"/>
              <a:t>yaml</a:t>
            </a:r>
            <a:r>
              <a:rPr lang="en-US" sz="2000" b="1" dirty="0"/>
              <a:t> file from run command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kubectl</a:t>
            </a:r>
            <a:r>
              <a:rPr lang="en-US" sz="2000" dirty="0"/>
              <a:t> run nginx-dev --image=nginx </a:t>
            </a:r>
            <a:r>
              <a:rPr lang="en-US" sz="2000" b="1" dirty="0"/>
              <a:t>--dry-run=client –o=</a:t>
            </a:r>
            <a:r>
              <a:rPr lang="en-US" sz="2000" b="1" dirty="0" err="1"/>
              <a:t>yaml</a:t>
            </a:r>
            <a:r>
              <a:rPr lang="en-US" sz="2000" b="1" dirty="0"/>
              <a:t> &gt; </a:t>
            </a:r>
            <a:r>
              <a:rPr lang="en-US" sz="2000" b="1" dirty="0" err="1"/>
              <a:t>pod.yaml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# Create a pod using the data in </a:t>
            </a:r>
            <a:r>
              <a:rPr lang="en-US" sz="2000" b="1" dirty="0" err="1"/>
              <a:t>pod.yaml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 </a:t>
            </a:r>
            <a:r>
              <a:rPr lang="en-US" sz="2000" dirty="0" err="1"/>
              <a:t>kubectl</a:t>
            </a:r>
            <a:r>
              <a:rPr lang="en-US" sz="2000" dirty="0"/>
              <a:t> create -f </a:t>
            </a:r>
            <a:r>
              <a:rPr lang="en-US" sz="2000" dirty="0" err="1"/>
              <a:t>pod.yaml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246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3656-168B-36E0-E913-D83FFCBD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B1D638-1A48-1C56-E84B-21463F23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sv-SE" sz="4000" dirty="0" err="1"/>
              <a:t>Using</a:t>
            </a:r>
            <a:r>
              <a:rPr lang="sv-SE" sz="4000" dirty="0"/>
              <a:t> the CLI</a:t>
            </a:r>
            <a:endParaRPr lang="en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3204848-1BB3-1919-61BD-9A3FFF5E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sv-SE" sz="2000"/>
              <a:t>All kubernetes objects can be created from the CLI</a:t>
            </a:r>
          </a:p>
          <a:p>
            <a:r>
              <a:rPr lang="sv-SE" sz="2000"/>
              <a:t>Common verbs in the cli are:</a:t>
            </a:r>
          </a:p>
          <a:p>
            <a:pPr lvl="1"/>
            <a:r>
              <a:rPr lang="en-GB" sz="2000" b="1" i="0">
                <a:effectLst/>
                <a:latin typeface="Courier New" panose="02070309020205020404" pitchFamily="49" charset="0"/>
              </a:rPr>
              <a:t>create</a:t>
            </a:r>
            <a:r>
              <a:rPr lang="en-GB" sz="2000" b="0" i="0">
                <a:effectLst/>
                <a:latin typeface="Inter"/>
              </a:rPr>
              <a:t> generates new resources from files or standard input devices</a:t>
            </a:r>
          </a:p>
          <a:p>
            <a:pPr lvl="1"/>
            <a:r>
              <a:rPr lang="en-GB" sz="2000" b="1" i="0">
                <a:effectLst/>
                <a:latin typeface="Courier New" panose="02070309020205020404" pitchFamily="49" charset="0"/>
              </a:rPr>
              <a:t>describe</a:t>
            </a:r>
            <a:r>
              <a:rPr lang="en-GB" sz="2000" b="0" i="0">
                <a:effectLst/>
                <a:latin typeface="Inter"/>
              </a:rPr>
              <a:t> retrieves </a:t>
            </a:r>
            <a:r>
              <a:rPr lang="en-GB" sz="2000" b="0" i="0" u="sng">
                <a:effectLst/>
                <a:latin typeface="Inter"/>
                <a:hlinkClick r:id="rId2"/>
              </a:rPr>
              <a:t>details about a resource</a:t>
            </a:r>
            <a:r>
              <a:rPr lang="en-GB" sz="2000" b="0" i="0">
                <a:effectLst/>
                <a:latin typeface="Inter"/>
              </a:rPr>
              <a:t> or resource group</a:t>
            </a:r>
          </a:p>
          <a:p>
            <a:pPr lvl="1"/>
            <a:r>
              <a:rPr lang="en-GB" sz="2000" b="1" i="0">
                <a:effectLst/>
                <a:latin typeface="Courier New" panose="02070309020205020404" pitchFamily="49" charset="0"/>
              </a:rPr>
              <a:t>get</a:t>
            </a:r>
            <a:r>
              <a:rPr lang="en-GB" sz="2000" b="0" i="0">
                <a:effectLst/>
                <a:latin typeface="Inter"/>
              </a:rPr>
              <a:t> fetches cluster data from various sources</a:t>
            </a:r>
          </a:p>
          <a:p>
            <a:pPr lvl="1"/>
            <a:r>
              <a:rPr lang="en-GB" sz="2000" b="1" i="0">
                <a:effectLst/>
                <a:latin typeface="Courier New" panose="02070309020205020404" pitchFamily="49" charset="0"/>
              </a:rPr>
              <a:t>delete</a:t>
            </a:r>
            <a:r>
              <a:rPr lang="en-GB" sz="2000" b="0" i="0">
                <a:effectLst/>
                <a:latin typeface="Inter"/>
              </a:rPr>
              <a:t> erases resources as required</a:t>
            </a:r>
          </a:p>
          <a:p>
            <a:pPr lvl="1"/>
            <a:r>
              <a:rPr lang="en-GB" sz="2000" b="1" i="0">
                <a:effectLst/>
                <a:latin typeface="Courier New" panose="02070309020205020404" pitchFamily="49" charset="0"/>
              </a:rPr>
              <a:t>apply</a:t>
            </a:r>
            <a:r>
              <a:rPr lang="en-GB" sz="2000" b="0" i="0">
                <a:effectLst/>
                <a:latin typeface="Inter"/>
              </a:rPr>
              <a:t> pushes changes based on your configuration files</a:t>
            </a:r>
          </a:p>
          <a:p>
            <a:pPr lvl="1"/>
            <a:r>
              <a:rPr lang="en-GB" sz="2000" b="1">
                <a:latin typeface="Courier New" panose="02070309020205020404" pitchFamily="49" charset="0"/>
              </a:rPr>
              <a:t>edit</a:t>
            </a:r>
            <a:r>
              <a:rPr lang="en-GB" sz="2000">
                <a:latin typeface="Courier New" panose="02070309020205020404" pitchFamily="49" charset="0"/>
              </a:rPr>
              <a:t> </a:t>
            </a:r>
            <a:r>
              <a:rPr lang="en-GB" sz="2000">
                <a:latin typeface="Inter"/>
              </a:rPr>
              <a:t>edit live</a:t>
            </a:r>
            <a:r>
              <a:rPr lang="en-GB" sz="2000" b="0" i="0">
                <a:effectLst/>
                <a:latin typeface="Inter"/>
              </a:rPr>
              <a:t> configuration files</a:t>
            </a:r>
          </a:p>
          <a:p>
            <a:pPr lvl="1"/>
            <a:endParaRPr lang="sv-SE" sz="2000"/>
          </a:p>
          <a:p>
            <a:pPr marL="457200" lvl="1" indent="0">
              <a:buNone/>
            </a:pPr>
            <a:endParaRPr lang="sv-SE" sz="2000"/>
          </a:p>
        </p:txBody>
      </p:sp>
    </p:spTree>
    <p:extLst>
      <p:ext uri="{BB962C8B-B14F-4D97-AF65-F5344CB8AC3E}">
        <p14:creationId xmlns:p14="http://schemas.microsoft.com/office/powerpoint/2010/main" val="420382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F7A2-F03D-B2B1-3944-3748B374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5650AA-132A-FBB6-1FBF-22A69DC0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httpd</a:t>
            </a:r>
            <a:r>
              <a:rPr lang="sv-SE" dirty="0"/>
              <a:t> </a:t>
            </a:r>
            <a:r>
              <a:rPr lang="sv-SE" dirty="0" err="1"/>
              <a:t>pod</a:t>
            </a:r>
            <a:endParaRPr lang="en-SE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DEEF00E5-D1D7-F37C-72EF-A66AA5E4050D}"/>
              </a:ext>
            </a:extLst>
          </p:cNvPr>
          <p:cNvSpPr txBox="1"/>
          <p:nvPr/>
        </p:nvSpPr>
        <p:spPr>
          <a:xfrm>
            <a:off x="1108681" y="1690688"/>
            <a:ext cx="9974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en-GB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kubectl</a:t>
            </a:r>
            <a:r>
              <a:rPr lang="en-GB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run </a:t>
            </a:r>
            <a:r>
              <a:rPr lang="en-GB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mattias</a:t>
            </a:r>
            <a:r>
              <a:rPr lang="en-GB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-httpd --image=httpd -o=</a:t>
            </a:r>
            <a:r>
              <a:rPr lang="en-GB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yaml</a:t>
            </a:r>
            <a:r>
              <a:rPr lang="en-GB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--dry-run=client</a:t>
            </a:r>
            <a:endParaRPr lang="en-SE" sz="1600" dirty="0"/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DAA4F158-AAD8-C8CE-EFC6-B34B9F798D9D}"/>
              </a:ext>
            </a:extLst>
          </p:cNvPr>
          <p:cNvSpPr/>
          <p:nvPr/>
        </p:nvSpPr>
        <p:spPr>
          <a:xfrm>
            <a:off x="675668" y="2139950"/>
            <a:ext cx="10407650" cy="47180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v1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kind: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Pod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metadata: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creationTimestamp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labels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mattias-httpd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mattias-httpd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containers: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- image: httpd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mattias-httpd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{}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dnsPolicy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ClusterFirst</a:t>
            </a:r>
            <a:endParaRPr kumimoji="0" lang="sv-SE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sv-S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restartPolicy</a:t>
            </a: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Never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status: {}</a:t>
            </a:r>
          </a:p>
        </p:txBody>
      </p:sp>
    </p:spTree>
    <p:extLst>
      <p:ext uri="{BB962C8B-B14F-4D97-AF65-F5344CB8AC3E}">
        <p14:creationId xmlns:p14="http://schemas.microsoft.com/office/powerpoint/2010/main" val="114765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6B31796-4EF6-3378-62B1-3279EF1A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1: Simple Pod with a Single Container</a:t>
            </a:r>
            <a:endParaRPr lang="sv-SE" dirty="0">
              <a:latin typeface="+mn-lt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B0579D84-FC86-6DC9-B043-AE9464812123}"/>
              </a:ext>
            </a:extLst>
          </p:cNvPr>
          <p:cNvSpPr/>
          <p:nvPr/>
        </p:nvSpPr>
        <p:spPr>
          <a:xfrm>
            <a:off x="946150" y="1790700"/>
            <a:ext cx="10407650" cy="47021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</a:t>
            </a: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simple-pod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nginx-container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nginx:latest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ports: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containerPort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80</a:t>
            </a:r>
            <a:endParaRPr lang="sv-SE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611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BF7F-CA38-E98B-BCFF-DED82267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4FB0226-AC02-A646-ABE5-1730B332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2: Pod with Multiple Containers</a:t>
            </a:r>
            <a:endParaRPr lang="sv-SE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E4EA0354-9F0C-EE53-BEEE-E7510DCF4F4E}"/>
              </a:ext>
            </a:extLst>
          </p:cNvPr>
          <p:cNvSpPr/>
          <p:nvPr/>
        </p:nvSpPr>
        <p:spPr>
          <a:xfrm>
            <a:off x="838200" y="1790700"/>
            <a:ext cx="10515600" cy="47021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apiVersion: v1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Pod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multi-container-pod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nginx-container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nginx:latest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ports: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 containerPort: 80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busybox-container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busybox:latest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command: ["sleep", "3600"]</a:t>
            </a:r>
            <a:endParaRPr lang="sv-SE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192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CDA6-AF00-FE31-D339-260447CD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FBE23F3-D34B-C3D7-9864-DCE71FD3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8413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3: Pod with Resource Limits</a:t>
            </a:r>
            <a:endParaRPr lang="sv-SE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4179E71A-4B53-C045-FAF8-52BAFFBDA274}"/>
              </a:ext>
            </a:extLst>
          </p:cNvPr>
          <p:cNvSpPr/>
          <p:nvPr/>
        </p:nvSpPr>
        <p:spPr>
          <a:xfrm>
            <a:off x="838200" y="889000"/>
            <a:ext cx="10515600" cy="56038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sv-SE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</a:t>
            </a:r>
            <a:r>
              <a:rPr lang="sv-SE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resource-pod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nginx-container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</a:t>
            </a:r>
            <a:r>
              <a:rPr lang="en-US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nginx:latest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resources: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requests: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memory: "64Mi"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"250m"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limits: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memory: "128Mi"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2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"500m"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command: ["sleep", "3600"]</a:t>
            </a:r>
            <a:endParaRPr lang="sv-SE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84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A2B0-CC61-A934-70F4-F16D272C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E72A151-93AD-5478-830B-1FD7044C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841375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4: Pod with Environment Variables</a:t>
            </a:r>
            <a:endParaRPr lang="sv-SE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8D9F2C5-D7B7-3873-89AE-D344C11A7444}"/>
              </a:ext>
            </a:extLst>
          </p:cNvPr>
          <p:cNvSpPr/>
          <p:nvPr/>
        </p:nvSpPr>
        <p:spPr>
          <a:xfrm>
            <a:off x="838200" y="889000"/>
            <a:ext cx="10515600" cy="56038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</a:t>
            </a: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env-pod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busybox:latest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command: ["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"-c", "echo The ENV_VAR is $MY_ENV_VAR &amp;&amp; sleep 3600"]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env: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 name: MY_ENV_VAR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value: "Hello, Kubernetes!"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51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2713-1508-06F7-6032-ACB4AD7D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D2177CF-4B60-7C1F-C9A6-38B166C1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8413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3: Pod with Resource Limits</a:t>
            </a:r>
            <a:endParaRPr lang="sv-SE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64578698-3FFB-2EA7-A914-07B33169E087}"/>
              </a:ext>
            </a:extLst>
          </p:cNvPr>
          <p:cNvSpPr/>
          <p:nvPr/>
        </p:nvSpPr>
        <p:spPr>
          <a:xfrm>
            <a:off x="838200" y="889000"/>
            <a:ext cx="10515600" cy="56038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</a:t>
            </a: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env-pod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busybox:latest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command: ["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"-c", "echo The ENV_VAR is $MY_ENV_VAR &amp;&amp; sleep 3600"]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env: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 name: MY_ENV_VAR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value: "Hello, Kubernetes!"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47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F43F-137E-06FF-98B4-7D758458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E51A03-43EC-B078-4626-51FDDD5A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4900" b="1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Example 5: Pod with a Mounted Volume</a:t>
            </a:r>
            <a:br>
              <a:rPr lang="sv-S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sv-SE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9BEC73EB-EBB4-1497-6BC1-C5A517A59503}"/>
              </a:ext>
            </a:extLst>
          </p:cNvPr>
          <p:cNvSpPr/>
          <p:nvPr/>
        </p:nvSpPr>
        <p:spPr>
          <a:xfrm>
            <a:off x="838200" y="889000"/>
            <a:ext cx="10515600" cy="56038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sv-SE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sv-SE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kind: </a:t>
            </a:r>
            <a:r>
              <a:rPr lang="sv-SE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name: volume-pod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image: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busybox:latest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command: ["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"-c", "sleep 3600"]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volumeMounts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mountPath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"/data"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name: my-volume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volumes: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 name: my-volume</a:t>
            </a:r>
            <a:endParaRPr lang="sv-SE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emptyDir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{}</a:t>
            </a:r>
            <a:endParaRPr lang="sv-S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67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BA01E2F-A945-49F5-B98A-438A2FF7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sv-SE" sz="4000" dirty="0"/>
              <a:t>15 </a:t>
            </a:r>
            <a:r>
              <a:rPr lang="sv-SE" sz="4000" dirty="0" err="1"/>
              <a:t>minute</a:t>
            </a:r>
            <a:r>
              <a:rPr lang="sv-SE" sz="4000" dirty="0"/>
              <a:t> </a:t>
            </a:r>
            <a:r>
              <a:rPr lang="sv-SE" sz="4000" dirty="0" err="1"/>
              <a:t>Excercise</a:t>
            </a:r>
            <a:r>
              <a:rPr lang="sv-SE" sz="4000" dirty="0"/>
              <a:t> </a:t>
            </a:r>
            <a:r>
              <a:rPr lang="sv-SE" sz="4000" dirty="0" err="1"/>
              <a:t>Pods</a:t>
            </a:r>
            <a:endParaRPr lang="en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2DBBB70-ED69-4934-95F1-E99FE116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sv-SE" sz="2000" dirty="0" err="1"/>
              <a:t>Use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knowledge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docker</a:t>
            </a:r>
            <a:r>
              <a:rPr lang="sv-SE" sz="2000" dirty="0"/>
              <a:t> and </a:t>
            </a:r>
            <a:r>
              <a:rPr lang="sv-SE" sz="2000" dirty="0" err="1"/>
              <a:t>mankier</a:t>
            </a:r>
            <a:r>
              <a:rPr lang="sv-SE" sz="2000" dirty="0"/>
              <a:t> to </a:t>
            </a:r>
            <a:r>
              <a:rPr lang="sv-SE" sz="2000" dirty="0" err="1"/>
              <a:t>find</a:t>
            </a:r>
            <a:r>
              <a:rPr lang="sv-SE" sz="2000" dirty="0"/>
              <a:t> </a:t>
            </a:r>
            <a:r>
              <a:rPr lang="sv-SE" sz="2000" dirty="0" err="1"/>
              <a:t>out</a:t>
            </a:r>
            <a:r>
              <a:rPr lang="sv-SE" sz="2000" dirty="0"/>
              <a:t> </a:t>
            </a:r>
            <a:r>
              <a:rPr lang="sv-SE" sz="2000" dirty="0" err="1"/>
              <a:t>how</a:t>
            </a:r>
            <a:r>
              <a:rPr lang="sv-SE" sz="2000" dirty="0"/>
              <a:t> to spin </a:t>
            </a:r>
            <a:r>
              <a:rPr lang="sv-SE" sz="2000" dirty="0" err="1"/>
              <a:t>up</a:t>
            </a:r>
            <a:r>
              <a:rPr lang="sv-SE" sz="2000" dirty="0"/>
              <a:t> a </a:t>
            </a:r>
            <a:r>
              <a:rPr lang="sv-SE" sz="2000" dirty="0" err="1"/>
              <a:t>pod</a:t>
            </a:r>
            <a:r>
              <a:rPr lang="sv-SE" sz="2000" dirty="0"/>
              <a:t> </a:t>
            </a:r>
            <a:r>
              <a:rPr lang="sv-SE" sz="2000" dirty="0" err="1"/>
              <a:t>with</a:t>
            </a:r>
            <a:r>
              <a:rPr lang="sv-SE" sz="2000" dirty="0"/>
              <a:t> the </a:t>
            </a:r>
            <a:r>
              <a:rPr lang="sv-SE" sz="2000" dirty="0" err="1"/>
              <a:t>httpd</a:t>
            </a:r>
            <a:r>
              <a:rPr lang="sv-SE" sz="2000" dirty="0"/>
              <a:t> image in </a:t>
            </a:r>
            <a:r>
              <a:rPr lang="sv-SE" sz="2000" dirty="0" err="1"/>
              <a:t>Kubernetes</a:t>
            </a:r>
            <a:r>
              <a:rPr lang="sv-SE" sz="2000" dirty="0"/>
              <a:t>.</a:t>
            </a:r>
          </a:p>
          <a:p>
            <a:pPr lvl="1"/>
            <a:r>
              <a:rPr lang="sv-SE" sz="2000" dirty="0">
                <a:hlinkClick r:id="rId2"/>
              </a:rPr>
              <a:t>https://www.mankier.com/1/oc-run</a:t>
            </a:r>
            <a:endParaRPr lang="sv-SE" sz="2000" dirty="0"/>
          </a:p>
          <a:p>
            <a:r>
              <a:rPr lang="sv-SE" sz="2000" dirty="0" err="1"/>
              <a:t>User</a:t>
            </a:r>
            <a:r>
              <a:rPr lang="sv-SE" sz="2000" dirty="0"/>
              <a:t> the --</a:t>
            </a:r>
            <a:r>
              <a:rPr lang="sv-SE" sz="2000" dirty="0" err="1"/>
              <a:t>dry-run</a:t>
            </a:r>
            <a:r>
              <a:rPr lang="sv-SE" sz="2000" dirty="0"/>
              <a:t>=</a:t>
            </a:r>
            <a:r>
              <a:rPr lang="sv-SE" sz="2000" dirty="0" err="1"/>
              <a:t>client</a:t>
            </a:r>
            <a:r>
              <a:rPr lang="sv-SE" sz="2000" dirty="0"/>
              <a:t> flag to </a:t>
            </a:r>
            <a:r>
              <a:rPr lang="sv-SE" sz="2000" dirty="0" err="1"/>
              <a:t>verify</a:t>
            </a:r>
            <a:r>
              <a:rPr lang="sv-SE" sz="2000" dirty="0"/>
              <a:t> </a:t>
            </a:r>
            <a:r>
              <a:rPr lang="sv-SE" sz="2000" dirty="0" err="1"/>
              <a:t>object</a:t>
            </a:r>
            <a:r>
              <a:rPr lang="sv-SE" sz="2000" dirty="0"/>
              <a:t> </a:t>
            </a:r>
            <a:r>
              <a:rPr lang="sv-SE" sz="2000" dirty="0" err="1"/>
              <a:t>before</a:t>
            </a:r>
            <a:r>
              <a:rPr lang="sv-SE" sz="2000" dirty="0"/>
              <a:t> </a:t>
            </a:r>
            <a:r>
              <a:rPr lang="sv-SE" sz="2000" dirty="0" err="1"/>
              <a:t>creation</a:t>
            </a:r>
            <a:r>
              <a:rPr lang="sv-SE" sz="2000" dirty="0"/>
              <a:t>.</a:t>
            </a:r>
          </a:p>
          <a:p>
            <a:r>
              <a:rPr lang="sv-SE" sz="2000" dirty="0" err="1"/>
              <a:t>Use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docker</a:t>
            </a:r>
            <a:r>
              <a:rPr lang="sv-SE" sz="2000" dirty="0"/>
              <a:t> </a:t>
            </a:r>
            <a:r>
              <a:rPr lang="sv-SE" sz="2000" dirty="0" err="1"/>
              <a:t>knowledge</a:t>
            </a:r>
            <a:r>
              <a:rPr lang="sv-SE" sz="2000" dirty="0"/>
              <a:t> to </a:t>
            </a:r>
            <a:r>
              <a:rPr lang="sv-SE" sz="2000" dirty="0" err="1"/>
              <a:t>find</a:t>
            </a:r>
            <a:r>
              <a:rPr lang="sv-SE" sz="2000" dirty="0"/>
              <a:t> </a:t>
            </a:r>
            <a:r>
              <a:rPr lang="sv-SE" sz="2000" dirty="0" err="1"/>
              <a:t>out</a:t>
            </a:r>
            <a:r>
              <a:rPr lang="sv-SE" sz="2000" dirty="0"/>
              <a:t> </a:t>
            </a:r>
            <a:r>
              <a:rPr lang="sv-SE" sz="2000" dirty="0" err="1"/>
              <a:t>how</a:t>
            </a:r>
            <a:r>
              <a:rPr lang="sv-SE" sz="2000" dirty="0"/>
              <a:t> to </a:t>
            </a:r>
            <a:r>
              <a:rPr lang="sv-SE" sz="2000" dirty="0" err="1"/>
              <a:t>exec</a:t>
            </a:r>
            <a:r>
              <a:rPr lang="sv-SE" sz="2000" dirty="0"/>
              <a:t> </a:t>
            </a:r>
            <a:r>
              <a:rPr lang="sv-SE" sz="2000" dirty="0" err="1"/>
              <a:t>into</a:t>
            </a:r>
            <a:r>
              <a:rPr lang="sv-SE" sz="2000" dirty="0"/>
              <a:t> the container and </a:t>
            </a:r>
            <a:r>
              <a:rPr lang="sv-SE" sz="2000" dirty="0" err="1"/>
              <a:t>run</a:t>
            </a:r>
            <a:r>
              <a:rPr lang="sv-SE" sz="2000" dirty="0"/>
              <a:t> </a:t>
            </a:r>
            <a:r>
              <a:rPr lang="sv-SE" sz="2000" dirty="0" err="1"/>
              <a:t>some</a:t>
            </a:r>
            <a:r>
              <a:rPr lang="sv-SE" sz="2000" dirty="0"/>
              <a:t> </a:t>
            </a:r>
            <a:r>
              <a:rPr lang="sv-SE" sz="2000" dirty="0" err="1"/>
              <a:t>command</a:t>
            </a:r>
            <a:r>
              <a:rPr lang="sv-SE" sz="2000" dirty="0"/>
              <a:t>.</a:t>
            </a:r>
          </a:p>
          <a:p>
            <a:r>
              <a:rPr lang="sv-SE" sz="2000" dirty="0" err="1"/>
              <a:t>Verify</a:t>
            </a:r>
            <a:r>
              <a:rPr lang="sv-SE" sz="2000" dirty="0"/>
              <a:t> in </a:t>
            </a:r>
            <a:r>
              <a:rPr lang="sv-SE" sz="2000" dirty="0" err="1"/>
              <a:t>kubernetes</a:t>
            </a:r>
            <a:r>
              <a:rPr lang="sv-SE" sz="2000" dirty="0"/>
              <a:t> </a:t>
            </a:r>
            <a:r>
              <a:rPr lang="sv-SE" sz="2000" dirty="0" err="1"/>
              <a:t>that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object</a:t>
            </a:r>
            <a:r>
              <a:rPr lang="sv-SE" sz="2000" dirty="0"/>
              <a:t> </a:t>
            </a:r>
            <a:r>
              <a:rPr lang="sv-SE" sz="2000" dirty="0" err="1"/>
              <a:t>was</a:t>
            </a:r>
            <a:r>
              <a:rPr lang="sv-SE" sz="2000" dirty="0"/>
              <a:t> </a:t>
            </a:r>
            <a:r>
              <a:rPr lang="sv-SE" sz="2000" dirty="0" err="1"/>
              <a:t>created</a:t>
            </a:r>
            <a:r>
              <a:rPr lang="sv-SE" sz="2000" dirty="0"/>
              <a:t>.</a:t>
            </a:r>
          </a:p>
          <a:p>
            <a:r>
              <a:rPr lang="sv-SE" sz="2000" dirty="0" err="1"/>
              <a:t>Now</a:t>
            </a:r>
            <a:r>
              <a:rPr lang="sv-SE" sz="2000" dirty="0"/>
              <a:t> </a:t>
            </a:r>
            <a:r>
              <a:rPr lang="sv-SE" sz="2000" dirty="0" err="1"/>
              <a:t>find</a:t>
            </a:r>
            <a:r>
              <a:rPr lang="sv-SE" sz="2000" dirty="0"/>
              <a:t> </a:t>
            </a:r>
            <a:r>
              <a:rPr lang="sv-SE" sz="2000" dirty="0" err="1"/>
              <a:t>out</a:t>
            </a:r>
            <a:r>
              <a:rPr lang="sv-SE" sz="2000" dirty="0"/>
              <a:t> </a:t>
            </a:r>
            <a:r>
              <a:rPr lang="sv-SE" sz="2000" dirty="0" err="1"/>
              <a:t>how</a:t>
            </a:r>
            <a:r>
              <a:rPr lang="sv-SE" sz="2000" dirty="0"/>
              <a:t> to </a:t>
            </a:r>
            <a:r>
              <a:rPr lang="sv-SE" sz="2000" dirty="0" err="1"/>
              <a:t>label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pod</a:t>
            </a:r>
            <a:r>
              <a:rPr lang="sv-SE" sz="2000" dirty="0"/>
              <a:t> </a:t>
            </a:r>
            <a:r>
              <a:rPr lang="sv-SE" sz="2000" dirty="0" err="1"/>
              <a:t>with</a:t>
            </a:r>
            <a:r>
              <a:rPr lang="sv-SE" sz="2000" dirty="0"/>
              <a:t> </a:t>
            </a:r>
            <a:r>
              <a:rPr lang="sv-SE" sz="2000" dirty="0" err="1"/>
              <a:t>enviroment</a:t>
            </a:r>
            <a:r>
              <a:rPr lang="sv-SE" sz="2000" dirty="0"/>
              <a:t>=</a:t>
            </a:r>
            <a:r>
              <a:rPr lang="sv-SE" sz="2000" dirty="0" err="1"/>
              <a:t>dev</a:t>
            </a:r>
            <a:endParaRPr lang="sv-SE" sz="2000" dirty="0"/>
          </a:p>
          <a:p>
            <a:pPr lvl="1"/>
            <a:r>
              <a:rPr lang="sv-SE" sz="2000" dirty="0" err="1"/>
              <a:t>What</a:t>
            </a:r>
            <a:r>
              <a:rPr lang="sv-SE" sz="2000" dirty="0"/>
              <a:t> </a:t>
            </a:r>
            <a:r>
              <a:rPr lang="sv-SE" sz="2000" dirty="0" err="1"/>
              <a:t>does</a:t>
            </a:r>
            <a:r>
              <a:rPr lang="sv-SE" sz="2000" dirty="0"/>
              <a:t> it </a:t>
            </a:r>
            <a:r>
              <a:rPr lang="sv-SE" sz="2000" dirty="0" err="1"/>
              <a:t>mean</a:t>
            </a:r>
            <a:r>
              <a:rPr lang="sv-SE" sz="2000" dirty="0"/>
              <a:t>?</a:t>
            </a:r>
          </a:p>
          <a:p>
            <a:endParaRPr lang="sv-SE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2262599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0EE3254-7DC2-4222-848B-C195E620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5400"/>
              <a:t>Background Deployments</a:t>
            </a:r>
            <a:endParaRPr lang="en-SE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C0D9FB82-0540-7052-A213-69EFA7296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55365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05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94F147-A884-4AD6-ABDC-36A76081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Deployments</a:t>
            </a:r>
            <a:endParaRPr lang="en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344CB38-E248-415E-8448-0FB6E443B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875224"/>
          </a:xfrm>
          <a:prstGeom prst="rect">
            <a:avLst/>
          </a:prstGeom>
        </p:spPr>
      </p:pic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DE101C53-6EE6-48CC-8E20-822D7723FCED}"/>
              </a:ext>
            </a:extLst>
          </p:cNvPr>
          <p:cNvCxnSpPr>
            <a:cxnSpLocks/>
          </p:cNvCxnSpPr>
          <p:nvPr/>
        </p:nvCxnSpPr>
        <p:spPr>
          <a:xfrm flipH="1">
            <a:off x="4768850" y="3942149"/>
            <a:ext cx="3263900" cy="7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BD4CE4C4-604D-477B-B9CD-D27BD3955454}"/>
              </a:ext>
            </a:extLst>
          </p:cNvPr>
          <p:cNvSpPr txBox="1"/>
          <p:nvPr/>
        </p:nvSpPr>
        <p:spPr>
          <a:xfrm>
            <a:off x="8096250" y="3618984"/>
            <a:ext cx="3321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 </a:t>
            </a:r>
            <a:r>
              <a:rPr lang="sv-SE" dirty="0" err="1"/>
              <a:t>pod</a:t>
            </a:r>
            <a:r>
              <a:rPr lang="sv-SE" dirty="0"/>
              <a:t> definition inside the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object</a:t>
            </a:r>
            <a:r>
              <a:rPr lang="sv-SE" dirty="0"/>
              <a:t> is </a:t>
            </a:r>
            <a:r>
              <a:rPr lang="sv-SE" dirty="0" err="1"/>
              <a:t>defined</a:t>
            </a:r>
            <a:endParaRPr lang="sv-SE" dirty="0"/>
          </a:p>
        </p:txBody>
      </p: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1560E4A5-3F76-4CE4-BA09-0D4B76AA9E5A}"/>
              </a:ext>
            </a:extLst>
          </p:cNvPr>
          <p:cNvCxnSpPr>
            <a:cxnSpLocks/>
          </p:cNvCxnSpPr>
          <p:nvPr/>
        </p:nvCxnSpPr>
        <p:spPr>
          <a:xfrm flipH="1">
            <a:off x="3187700" y="2786449"/>
            <a:ext cx="3263900" cy="7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pilkoppling 10">
            <a:extLst>
              <a:ext uri="{FF2B5EF4-FFF2-40B4-BE49-F238E27FC236}">
                <a16:creationId xmlns:a16="http://schemas.microsoft.com/office/drawing/2014/main" id="{BDEFD269-6894-4C69-9837-4A9D48CE8F38}"/>
              </a:ext>
            </a:extLst>
          </p:cNvPr>
          <p:cNvCxnSpPr>
            <a:cxnSpLocks/>
          </p:cNvCxnSpPr>
          <p:nvPr/>
        </p:nvCxnSpPr>
        <p:spPr>
          <a:xfrm flipH="1">
            <a:off x="3397250" y="2786449"/>
            <a:ext cx="3054350" cy="150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ruta 12">
            <a:extLst>
              <a:ext uri="{FF2B5EF4-FFF2-40B4-BE49-F238E27FC236}">
                <a16:creationId xmlns:a16="http://schemas.microsoft.com/office/drawing/2014/main" id="{C87540E7-45BF-4CB2-9D8F-43A836F5E1CA}"/>
              </a:ext>
            </a:extLst>
          </p:cNvPr>
          <p:cNvSpPr txBox="1"/>
          <p:nvPr/>
        </p:nvSpPr>
        <p:spPr>
          <a:xfrm>
            <a:off x="6521450" y="2447792"/>
            <a:ext cx="332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Labels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match in the </a:t>
            </a:r>
            <a:r>
              <a:rPr lang="sv-SE" dirty="0" err="1"/>
              <a:t>pod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91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CF5037-FE26-44FA-A6E7-65575440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sv-SE" sz="4000" dirty="0"/>
              <a:t>15 </a:t>
            </a:r>
            <a:r>
              <a:rPr lang="sv-SE" sz="4000" dirty="0" err="1"/>
              <a:t>minutes</a:t>
            </a:r>
            <a:r>
              <a:rPr lang="sv-SE" sz="4000" dirty="0"/>
              <a:t> </a:t>
            </a:r>
            <a:r>
              <a:rPr lang="sv-SE" sz="4000" dirty="0" err="1"/>
              <a:t>excercise</a:t>
            </a:r>
            <a:r>
              <a:rPr lang="sv-SE" sz="4000" dirty="0"/>
              <a:t> </a:t>
            </a:r>
            <a:r>
              <a:rPr lang="sv-SE" sz="4000" dirty="0" err="1"/>
              <a:t>Deployments</a:t>
            </a:r>
            <a:endParaRPr lang="en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18A6D8-4636-46F3-8542-2145450C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4" y="1379250"/>
            <a:ext cx="9724031" cy="3683358"/>
          </a:xfrm>
        </p:spPr>
        <p:txBody>
          <a:bodyPr anchor="ctr">
            <a:normAutofit/>
          </a:bodyPr>
          <a:lstStyle/>
          <a:p>
            <a:r>
              <a:rPr lang="sv-SE" sz="2000" dirty="0" err="1"/>
              <a:t>Use</a:t>
            </a:r>
            <a:r>
              <a:rPr lang="sv-SE" sz="2000" dirty="0"/>
              <a:t> the </a:t>
            </a:r>
            <a:r>
              <a:rPr lang="sv-SE" sz="2000" dirty="0" err="1"/>
              <a:t>kubernetes</a:t>
            </a:r>
            <a:r>
              <a:rPr lang="sv-SE" sz="2000" dirty="0"/>
              <a:t> </a:t>
            </a:r>
            <a:r>
              <a:rPr lang="sv-SE" sz="2000" dirty="0" err="1"/>
              <a:t>documentation</a:t>
            </a:r>
            <a:r>
              <a:rPr lang="sv-SE" sz="2000" dirty="0"/>
              <a:t> in combination </a:t>
            </a:r>
            <a:r>
              <a:rPr lang="sv-SE" sz="2000" dirty="0" err="1"/>
              <a:t>with</a:t>
            </a:r>
            <a:r>
              <a:rPr lang="sv-SE" sz="2000" dirty="0"/>
              <a:t> the </a:t>
            </a:r>
            <a:r>
              <a:rPr lang="sv-SE" sz="2000" dirty="0" err="1"/>
              <a:t>yaml</a:t>
            </a:r>
            <a:r>
              <a:rPr lang="sv-SE" sz="2000" dirty="0"/>
              <a:t> for the </a:t>
            </a:r>
            <a:r>
              <a:rPr lang="sv-SE" sz="2000" dirty="0" err="1"/>
              <a:t>httpd</a:t>
            </a:r>
            <a:r>
              <a:rPr lang="sv-SE" sz="2000" dirty="0"/>
              <a:t> </a:t>
            </a:r>
            <a:r>
              <a:rPr lang="sv-SE" sz="2000" dirty="0" err="1"/>
              <a:t>pod</a:t>
            </a:r>
            <a:r>
              <a:rPr lang="sv-SE" sz="2000" dirty="0"/>
              <a:t>, to wrap a </a:t>
            </a:r>
            <a:r>
              <a:rPr lang="sv-SE" sz="2000" dirty="0" err="1"/>
              <a:t>httpd</a:t>
            </a:r>
            <a:r>
              <a:rPr lang="sv-SE" sz="2000" dirty="0"/>
              <a:t> </a:t>
            </a:r>
            <a:r>
              <a:rPr lang="sv-SE" sz="2000" dirty="0" err="1"/>
              <a:t>pod</a:t>
            </a:r>
            <a:r>
              <a:rPr lang="sv-SE" sz="2000" dirty="0"/>
              <a:t> inside a </a:t>
            </a:r>
            <a:r>
              <a:rPr lang="sv-SE" sz="2000" dirty="0" err="1"/>
              <a:t>deployment</a:t>
            </a:r>
            <a:r>
              <a:rPr lang="sv-SE" sz="2000" dirty="0"/>
              <a:t> </a:t>
            </a:r>
            <a:r>
              <a:rPr lang="sv-SE" sz="2000" dirty="0" err="1"/>
              <a:t>with</a:t>
            </a:r>
            <a:r>
              <a:rPr lang="sv-SE" sz="2000" dirty="0"/>
              <a:t> 3 </a:t>
            </a:r>
            <a:r>
              <a:rPr lang="sv-SE" sz="2000" dirty="0" err="1"/>
              <a:t>replicas</a:t>
            </a:r>
            <a:r>
              <a:rPr lang="sv-SE" sz="2000" dirty="0"/>
              <a:t>.</a:t>
            </a:r>
          </a:p>
          <a:p>
            <a:r>
              <a:rPr lang="sv-SE" sz="2000" dirty="0" err="1"/>
              <a:t>Find</a:t>
            </a:r>
            <a:r>
              <a:rPr lang="sv-SE" sz="2000" dirty="0"/>
              <a:t> </a:t>
            </a:r>
            <a:r>
              <a:rPr lang="sv-SE" sz="2000" dirty="0" err="1"/>
              <a:t>out</a:t>
            </a:r>
            <a:r>
              <a:rPr lang="sv-SE" sz="2000" dirty="0"/>
              <a:t> the </a:t>
            </a:r>
            <a:r>
              <a:rPr lang="sv-SE" sz="2000" dirty="0" err="1"/>
              <a:t>correct</a:t>
            </a:r>
            <a:r>
              <a:rPr lang="sv-SE" sz="2000" dirty="0"/>
              <a:t> </a:t>
            </a:r>
            <a:r>
              <a:rPr lang="sv-SE" sz="2000" dirty="0" err="1"/>
              <a:t>oc</a:t>
            </a:r>
            <a:r>
              <a:rPr lang="sv-SE" sz="2000" dirty="0"/>
              <a:t> </a:t>
            </a:r>
            <a:r>
              <a:rPr lang="sv-SE" sz="2000" dirty="0" err="1"/>
              <a:t>command</a:t>
            </a:r>
            <a:r>
              <a:rPr lang="sv-SE" sz="2000" dirty="0"/>
              <a:t> to set a new image version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httpd</a:t>
            </a:r>
            <a:r>
              <a:rPr lang="sv-SE" sz="2000" dirty="0"/>
              <a:t> to </a:t>
            </a:r>
            <a:r>
              <a:rPr lang="en-SE" sz="2000" dirty="0">
                <a:latin typeface="Lucida Console" panose="020B0609040504020204" pitchFamily="49" charset="0"/>
              </a:rPr>
              <a:t>2.4</a:t>
            </a:r>
            <a:r>
              <a:rPr lang="sv-SE" sz="2000" dirty="0">
                <a:latin typeface="Lucida Console" panose="020B0609040504020204" pitchFamily="49" charset="0"/>
              </a:rPr>
              <a:t> in the </a:t>
            </a:r>
            <a:r>
              <a:rPr lang="sv-SE" sz="2000" dirty="0" err="1">
                <a:latin typeface="Lucida Console" panose="020B0609040504020204" pitchFamily="49" charset="0"/>
              </a:rPr>
              <a:t>deployment</a:t>
            </a:r>
            <a:endParaRPr lang="sv-SE" sz="2000" dirty="0"/>
          </a:p>
          <a:p>
            <a:pPr lvl="1"/>
            <a:r>
              <a:rPr lang="sv-SE" sz="2000" dirty="0" err="1"/>
              <a:t>What</a:t>
            </a:r>
            <a:r>
              <a:rPr lang="sv-SE" sz="2000" dirty="0"/>
              <a:t> </a:t>
            </a:r>
            <a:r>
              <a:rPr lang="sv-SE" sz="2000" dirty="0" err="1"/>
              <a:t>will</a:t>
            </a:r>
            <a:r>
              <a:rPr lang="sv-SE" sz="2000" dirty="0"/>
              <a:t> </a:t>
            </a:r>
            <a:r>
              <a:rPr lang="sv-SE" sz="2000" dirty="0" err="1"/>
              <a:t>happen</a:t>
            </a:r>
            <a:r>
              <a:rPr lang="sv-SE" sz="2000" dirty="0"/>
              <a:t> to the </a:t>
            </a:r>
            <a:r>
              <a:rPr lang="sv-SE" sz="2000" dirty="0" err="1"/>
              <a:t>pods</a:t>
            </a:r>
            <a:r>
              <a:rPr lang="sv-SE" sz="2000" dirty="0"/>
              <a:t>?</a:t>
            </a:r>
          </a:p>
          <a:p>
            <a:r>
              <a:rPr lang="sv-SE" sz="2000" dirty="0" err="1"/>
              <a:t>Now</a:t>
            </a:r>
            <a:r>
              <a:rPr lang="sv-SE" sz="2000" dirty="0"/>
              <a:t> go to </a:t>
            </a:r>
            <a:r>
              <a:rPr lang="sv-SE" sz="2000" dirty="0" err="1"/>
              <a:t>one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pods</a:t>
            </a:r>
            <a:r>
              <a:rPr lang="sv-SE" sz="2000" dirty="0"/>
              <a:t> and </a:t>
            </a:r>
            <a:r>
              <a:rPr lang="sv-SE" sz="2000" dirty="0" err="1"/>
              <a:t>delete</a:t>
            </a:r>
            <a:r>
              <a:rPr lang="sv-SE" sz="2000" dirty="0"/>
              <a:t> </a:t>
            </a:r>
            <a:r>
              <a:rPr lang="sv-SE" sz="2000" dirty="0" err="1"/>
              <a:t>them</a:t>
            </a:r>
            <a:r>
              <a:rPr lang="sv-SE" sz="2000" dirty="0"/>
              <a:t> </a:t>
            </a:r>
            <a:r>
              <a:rPr lang="sv-SE" sz="2000" dirty="0" err="1"/>
              <a:t>manually</a:t>
            </a:r>
            <a:endParaRPr lang="sv-SE" sz="2000" dirty="0"/>
          </a:p>
          <a:p>
            <a:pPr lvl="1"/>
            <a:r>
              <a:rPr lang="sv-SE" sz="2000" dirty="0"/>
              <a:t>The </a:t>
            </a:r>
            <a:r>
              <a:rPr lang="sv-SE" sz="2000" dirty="0" err="1"/>
              <a:t>deployment</a:t>
            </a:r>
            <a:r>
              <a:rPr lang="sv-SE" sz="2000" dirty="0"/>
              <a:t> </a:t>
            </a:r>
            <a:r>
              <a:rPr lang="sv-SE" sz="2000" dirty="0" err="1"/>
              <a:t>will</a:t>
            </a:r>
            <a:r>
              <a:rPr lang="sv-SE" sz="2000" dirty="0"/>
              <a:t> try to spin </a:t>
            </a:r>
            <a:r>
              <a:rPr lang="sv-SE" sz="2000" dirty="0" err="1"/>
              <a:t>them</a:t>
            </a:r>
            <a:r>
              <a:rPr lang="sv-SE" sz="2000" dirty="0"/>
              <a:t> </a:t>
            </a:r>
            <a:r>
              <a:rPr lang="sv-SE" sz="2000" dirty="0" err="1"/>
              <a:t>up</a:t>
            </a:r>
            <a:r>
              <a:rPr lang="sv-SE" sz="2000" dirty="0"/>
              <a:t> </a:t>
            </a:r>
            <a:r>
              <a:rPr lang="sv-SE" sz="2000" dirty="0" err="1"/>
              <a:t>again</a:t>
            </a:r>
            <a:r>
              <a:rPr lang="sv-SE" sz="2000" dirty="0"/>
              <a:t>.</a:t>
            </a:r>
          </a:p>
          <a:p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2525607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B87A61-0544-4D3A-9436-2BF79D31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sv-SE" sz="4000"/>
              <a:t>Services Background</a:t>
            </a:r>
            <a:endParaRPr lang="en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AAE2AF5-A4AE-4DBA-8951-EB3867D0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GB" sz="1900" b="0" i="0">
                <a:effectLst/>
                <a:latin typeface="open sans" panose="020B0606030504020204" pitchFamily="34" charset="0"/>
              </a:rPr>
              <a:t>Pods are nonpermanent resources. If you use a Deployment to run your app, it can create and destroy Pods dynamically.</a:t>
            </a:r>
          </a:p>
          <a:p>
            <a:r>
              <a:rPr lang="en-GB" sz="1900" b="0" i="0">
                <a:effectLst/>
                <a:latin typeface="open sans" panose="020B0606030504020204" pitchFamily="34" charset="0"/>
              </a:rPr>
              <a:t>Each Pod gets its own IP address, however in a Deployment, the set of Pods running in one moment in time could be different from the set of Pods running that application a moment later.</a:t>
            </a:r>
          </a:p>
          <a:p>
            <a:r>
              <a:rPr lang="en-GB" sz="1900" b="0" i="0">
                <a:effectLst/>
                <a:latin typeface="open sans" panose="020B0606030504020204" pitchFamily="34" charset="0"/>
              </a:rPr>
              <a:t>how do the frontends find out and keep track of which IP address to connect to, so that the frontend can use the backend part of the workload?</a:t>
            </a:r>
          </a:p>
          <a:p>
            <a:endParaRPr lang="en-SE" sz="1900"/>
          </a:p>
        </p:txBody>
      </p:sp>
      <p:pic>
        <p:nvPicPr>
          <p:cNvPr id="5" name="Picture 4" descr="3D spheres connected with a red line">
            <a:extLst>
              <a:ext uri="{FF2B5EF4-FFF2-40B4-BE49-F238E27FC236}">
                <a16:creationId xmlns:a16="http://schemas.microsoft.com/office/drawing/2014/main" id="{5D50EFE8-C95C-9CA2-EF61-03F9302B3B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95" r="21710"/>
          <a:stretch/>
        </p:blipFill>
        <p:spPr>
          <a:xfrm>
            <a:off x="7447156" y="909081"/>
            <a:ext cx="3428151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06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06BE11-74ED-4DC6-B605-12830BA9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Services</a:t>
            </a:r>
            <a:endParaRPr lang="en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5A14DBAC-3134-428E-835E-B82FB8C09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9" y="2047824"/>
            <a:ext cx="10515600" cy="3092551"/>
          </a:xfrm>
          <a:prstGeom prst="rect">
            <a:avLst/>
          </a:prstGeom>
        </p:spPr>
      </p:pic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9AEC73AF-AE86-449C-8FAB-694097B1F679}"/>
              </a:ext>
            </a:extLst>
          </p:cNvPr>
          <p:cNvCxnSpPr>
            <a:cxnSpLocks/>
          </p:cNvCxnSpPr>
          <p:nvPr/>
        </p:nvCxnSpPr>
        <p:spPr>
          <a:xfrm flipH="1">
            <a:off x="5372100" y="2540000"/>
            <a:ext cx="2679700" cy="142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4E1F76DD-9DC5-424E-A15F-90A50DF60F8E}"/>
              </a:ext>
            </a:extLst>
          </p:cNvPr>
          <p:cNvSpPr txBox="1"/>
          <p:nvPr/>
        </p:nvSpPr>
        <p:spPr>
          <a:xfrm>
            <a:off x="8032751" y="2216834"/>
            <a:ext cx="3321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label</a:t>
            </a:r>
            <a:r>
              <a:rPr lang="sv-SE" dirty="0"/>
              <a:t> to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, so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select</a:t>
            </a:r>
            <a:r>
              <a:rPr lang="sv-SE" dirty="0"/>
              <a:t> it.</a:t>
            </a:r>
          </a:p>
        </p:txBody>
      </p:sp>
      <p:cxnSp>
        <p:nvCxnSpPr>
          <p:cNvPr id="9" name="Rak pilkoppling 8">
            <a:extLst>
              <a:ext uri="{FF2B5EF4-FFF2-40B4-BE49-F238E27FC236}">
                <a16:creationId xmlns:a16="http://schemas.microsoft.com/office/drawing/2014/main" id="{3C31EDE3-78F8-4B55-AF34-3FDD76DE3BA8}"/>
              </a:ext>
            </a:extLst>
          </p:cNvPr>
          <p:cNvCxnSpPr>
            <a:cxnSpLocks/>
          </p:cNvCxnSpPr>
          <p:nvPr/>
        </p:nvCxnSpPr>
        <p:spPr>
          <a:xfrm flipH="1">
            <a:off x="4032250" y="4330700"/>
            <a:ext cx="3333750" cy="744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ruta 10">
            <a:extLst>
              <a:ext uri="{FF2B5EF4-FFF2-40B4-BE49-F238E27FC236}">
                <a16:creationId xmlns:a16="http://schemas.microsoft.com/office/drawing/2014/main" id="{73B32A5E-8AEC-459D-90DB-D454DB3EBAD9}"/>
              </a:ext>
            </a:extLst>
          </p:cNvPr>
          <p:cNvSpPr txBox="1"/>
          <p:nvPr/>
        </p:nvSpPr>
        <p:spPr>
          <a:xfrm>
            <a:off x="7429501" y="3994836"/>
            <a:ext cx="332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The port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pod</a:t>
            </a:r>
            <a:r>
              <a:rPr lang="sv-SE" dirty="0"/>
              <a:t> goes </a:t>
            </a:r>
            <a:r>
              <a:rPr lang="sv-SE" dirty="0" err="1"/>
              <a:t>here</a:t>
            </a:r>
            <a:endParaRPr lang="sv-SE" dirty="0"/>
          </a:p>
        </p:txBody>
      </p:sp>
      <p:cxnSp>
        <p:nvCxnSpPr>
          <p:cNvPr id="12" name="Rak pilkoppling 11">
            <a:extLst>
              <a:ext uri="{FF2B5EF4-FFF2-40B4-BE49-F238E27FC236}">
                <a16:creationId xmlns:a16="http://schemas.microsoft.com/office/drawing/2014/main" id="{918438E8-6D58-4A0F-8DF4-DB92E33122D0}"/>
              </a:ext>
            </a:extLst>
          </p:cNvPr>
          <p:cNvCxnSpPr>
            <a:cxnSpLocks/>
          </p:cNvCxnSpPr>
          <p:nvPr/>
        </p:nvCxnSpPr>
        <p:spPr>
          <a:xfrm flipH="1">
            <a:off x="2876550" y="3594100"/>
            <a:ext cx="5175250" cy="118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ruta 13">
            <a:extLst>
              <a:ext uri="{FF2B5EF4-FFF2-40B4-BE49-F238E27FC236}">
                <a16:creationId xmlns:a16="http://schemas.microsoft.com/office/drawing/2014/main" id="{8E526196-6791-4039-8B43-E5877AC94262}"/>
              </a:ext>
            </a:extLst>
          </p:cNvPr>
          <p:cNvSpPr txBox="1"/>
          <p:nvPr/>
        </p:nvSpPr>
        <p:spPr>
          <a:xfrm>
            <a:off x="8051800" y="3251200"/>
            <a:ext cx="3321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call service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port.</a:t>
            </a:r>
          </a:p>
        </p:txBody>
      </p:sp>
    </p:spTree>
    <p:extLst>
      <p:ext uri="{BB962C8B-B14F-4D97-AF65-F5344CB8AC3E}">
        <p14:creationId xmlns:p14="http://schemas.microsoft.com/office/powerpoint/2010/main" val="259650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EC546F9-5AE5-4FBB-82FC-40E4101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15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excercise</a:t>
            </a:r>
            <a:r>
              <a:rPr lang="sv-SE" dirty="0"/>
              <a:t> Services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27BFFB6-5F7B-4CE3-AE81-B3CF0288E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Create</a:t>
            </a:r>
            <a:r>
              <a:rPr lang="sv-SE" dirty="0"/>
              <a:t> a service for the </a:t>
            </a:r>
            <a:r>
              <a:rPr lang="sv-SE" dirty="0" err="1"/>
              <a:t>httpd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the </a:t>
            </a:r>
            <a:r>
              <a:rPr lang="sv-SE" dirty="0" err="1"/>
              <a:t>mankier</a:t>
            </a:r>
            <a:r>
              <a:rPr lang="sv-SE" dirty="0"/>
              <a:t> </a:t>
            </a:r>
            <a:r>
              <a:rPr lang="sv-SE" dirty="0" err="1"/>
              <a:t>documentation</a:t>
            </a:r>
            <a:endParaRPr lang="sv-SE" dirty="0"/>
          </a:p>
          <a:p>
            <a:pPr lvl="1"/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lookup</a:t>
            </a:r>
            <a:r>
              <a:rPr lang="sv-SE" dirty="0"/>
              <a:t> </a:t>
            </a:r>
            <a:r>
              <a:rPr lang="sv-SE" dirty="0" err="1"/>
              <a:t>kubectl-expose</a:t>
            </a:r>
            <a:endParaRPr lang="sv-SE" dirty="0"/>
          </a:p>
          <a:p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another</a:t>
            </a:r>
            <a:r>
              <a:rPr lang="sv-SE" dirty="0"/>
              <a:t> </a:t>
            </a:r>
            <a:r>
              <a:rPr lang="sv-SE" dirty="0" err="1"/>
              <a:t>httpd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and </a:t>
            </a:r>
            <a:r>
              <a:rPr lang="sv-SE" dirty="0" err="1"/>
              <a:t>curl</a:t>
            </a:r>
            <a:r>
              <a:rPr lang="sv-SE" dirty="0"/>
              <a:t> the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httpd</a:t>
            </a:r>
            <a:r>
              <a:rPr lang="sv-SE" dirty="0"/>
              <a:t> service </a:t>
            </a:r>
            <a:r>
              <a:rPr lang="sv-SE" dirty="0" err="1"/>
              <a:t>using</a:t>
            </a:r>
            <a:r>
              <a:rPr lang="sv-SE" dirty="0"/>
              <a:t> service </a:t>
            </a:r>
            <a:r>
              <a:rPr lang="sv-SE" dirty="0" err="1"/>
              <a:t>name</a:t>
            </a:r>
            <a:r>
              <a:rPr lang="sv-SE" dirty="0"/>
              <a:t> and port. </a:t>
            </a:r>
          </a:p>
          <a:p>
            <a:r>
              <a:rPr lang="sv-SE" dirty="0"/>
              <a:t>The service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expose</a:t>
            </a:r>
            <a:r>
              <a:rPr lang="sv-SE" dirty="0"/>
              <a:t> the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internally</a:t>
            </a:r>
            <a:r>
              <a:rPr lang="sv-SE" dirty="0"/>
              <a:t> in the </a:t>
            </a:r>
            <a:r>
              <a:rPr lang="sv-SE" dirty="0" err="1"/>
              <a:t>namespace</a:t>
            </a:r>
            <a:r>
              <a:rPr lang="sv-SE" dirty="0"/>
              <a:t> for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pods</a:t>
            </a:r>
            <a:r>
              <a:rPr lang="sv-SE" dirty="0"/>
              <a:t>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48466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487F9DF-BD97-BD72-3915-4497BBCC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Next</a:t>
            </a:r>
            <a:r>
              <a:rPr lang="sv-SE" dirty="0"/>
              <a:t> </a:t>
            </a:r>
            <a:r>
              <a:rPr lang="sv-SE" dirty="0" err="1"/>
              <a:t>time</a:t>
            </a:r>
            <a:r>
              <a:rPr lang="sv-SE" dirty="0"/>
              <a:t>: </a:t>
            </a:r>
            <a:r>
              <a:rPr lang="sv-SE" dirty="0" err="1"/>
              <a:t>Accessing</a:t>
            </a:r>
            <a:r>
              <a:rPr lang="sv-SE" dirty="0"/>
              <a:t> </a:t>
            </a:r>
            <a:r>
              <a:rPr lang="sv-SE" dirty="0" err="1"/>
              <a:t>Pods</a:t>
            </a:r>
            <a:endParaRPr lang="sv-SE" dirty="0"/>
          </a:p>
        </p:txBody>
      </p:sp>
      <p:pic>
        <p:nvPicPr>
          <p:cNvPr id="9" name="Platshållare för innehåll 8" descr="En bild som visar text, skärmbild, diagram, Teckensnitt&#10;&#10;AI-genererat innehåll kan vara felaktigt.">
            <a:extLst>
              <a:ext uri="{FF2B5EF4-FFF2-40B4-BE49-F238E27FC236}">
                <a16:creationId xmlns:a16="http://schemas.microsoft.com/office/drawing/2014/main" id="{1E2FAAEE-A4B9-6944-8E2F-BCC31758A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7" y="1825625"/>
            <a:ext cx="6056469" cy="4542352"/>
          </a:xfrm>
        </p:spPr>
      </p:pic>
    </p:spTree>
    <p:extLst>
      <p:ext uri="{BB962C8B-B14F-4D97-AF65-F5344CB8AC3E}">
        <p14:creationId xmlns:p14="http://schemas.microsoft.com/office/powerpoint/2010/main" val="360593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3665</TotalTime>
  <Words>1642</Words>
  <Application>Microsoft Office PowerPoint</Application>
  <PresentationFormat>Bredbild</PresentationFormat>
  <Paragraphs>209</Paragraphs>
  <Slides>27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Courier New</vt:lpstr>
      <vt:lpstr>Inter</vt:lpstr>
      <vt:lpstr>Lucida Console</vt:lpstr>
      <vt:lpstr>open sans</vt:lpstr>
      <vt:lpstr>Office-tema</vt:lpstr>
      <vt:lpstr>Kubernetes For Developers Session 1</vt:lpstr>
      <vt:lpstr>Kubernetes Cluster Components</vt:lpstr>
      <vt:lpstr>Master Nodes</vt:lpstr>
      <vt:lpstr>Worker Nodes</vt:lpstr>
      <vt:lpstr>Add-ons </vt:lpstr>
      <vt:lpstr>Kubernetes CLI</vt:lpstr>
      <vt:lpstr>Connect to the Azure Cloud Shell</vt:lpstr>
      <vt:lpstr>CLI documentation</vt:lpstr>
      <vt:lpstr>What is a Pod?</vt:lpstr>
      <vt:lpstr>Using kubectl-run to create pods</vt:lpstr>
      <vt:lpstr>Using yaml files to create pods</vt:lpstr>
      <vt:lpstr>Using the CLI</vt:lpstr>
      <vt:lpstr>Create a httpd pod</vt:lpstr>
      <vt:lpstr>Example 1: Simple Pod with a Single Container</vt:lpstr>
      <vt:lpstr>Example 2: Pod with Multiple Containers</vt:lpstr>
      <vt:lpstr>Example 3: Pod with Resource Limits</vt:lpstr>
      <vt:lpstr>Example 4: Pod with Environment Variables</vt:lpstr>
      <vt:lpstr>Example 3: Pod with Resource Limits</vt:lpstr>
      <vt:lpstr>Example 5: Pod with a Mounted Volume </vt:lpstr>
      <vt:lpstr>15 minute Excercise Pods</vt:lpstr>
      <vt:lpstr>Background Deployments</vt:lpstr>
      <vt:lpstr>Deployments</vt:lpstr>
      <vt:lpstr>15 minutes excercise Deployments</vt:lpstr>
      <vt:lpstr>Services Background</vt:lpstr>
      <vt:lpstr>Services</vt:lpstr>
      <vt:lpstr>15 minute excercise Services</vt:lpstr>
      <vt:lpstr>Next time: Accessing Pods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Bourghardt Nordell</dc:creator>
  <cp:lastModifiedBy>Mattias Bourghardt Nordell</cp:lastModifiedBy>
  <cp:revision>10</cp:revision>
  <dcterms:created xsi:type="dcterms:W3CDTF">2025-02-17T20:09:01Z</dcterms:created>
  <dcterms:modified xsi:type="dcterms:W3CDTF">2026-05-06T16:02:50Z</dcterms:modified>
</cp:coreProperties>
</file>