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71" r:id="rId9"/>
    <p:sldId id="282" r:id="rId10"/>
    <p:sldId id="286" r:id="rId11"/>
    <p:sldId id="285" r:id="rId12"/>
    <p:sldId id="287" r:id="rId13"/>
    <p:sldId id="288" r:id="rId14"/>
    <p:sldId id="262" r:id="rId15"/>
    <p:sldId id="283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9EA202-6CA8-A269-BC63-9A48D109C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D6A08C0-8804-C202-1408-390C3865A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74342C6-9122-0343-E43C-CC215117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BE506E6-394F-58D6-62FD-051733A1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D94710F-AD99-8145-E200-7632277D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775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4D1AD97-A665-DE23-8EA0-FE50EA76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6BC4766-14E6-9804-C247-526ABA14C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A8D7EEA-4BD9-6489-21EB-E2F7676B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5829473-0D97-6525-4B6E-43D45E0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CF5713D-D09F-3C33-6388-BE6F1F61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266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E06649D-63DD-0D79-6501-1D51DD64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A1A399F-A617-5740-BA4D-E15ACE5AF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90F8CC9-EC47-6F35-08A4-A07666B9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EDC917F-4709-D794-A4F2-34DE42E1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0393F8D-59DF-340B-4E53-AB642E8B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147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3B0BD79-B410-F0B9-19AE-6EEFD132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E8A0B32-00BD-2B44-1CAF-96B98F62E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324C2F4E-7232-7B2C-6FED-CAB02D7B1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B64F1EE-95B9-9020-261F-00D5C3CC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8150BC4-8665-FAB2-2ED3-76637134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22DF3E78-4ED5-E4B3-D72A-C8152D6A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1090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DD7F0F-EB17-E259-4C12-50AC3012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7D0FCA3-BCF9-A77F-3B37-BE2B69C89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4CC47A00-693B-3885-699A-19762EE07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13109459-235A-0EE0-58F7-C993C8015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C92EA65-3A14-1D2C-BF86-28B80C357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E7A78A82-18BF-333E-7BDB-E497BD40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2A92B34A-67E0-0B55-698D-3BD7EB1D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5E6DADC1-5669-3D61-7161-7BA1560F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982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326BA15-DFD7-378C-DBC0-DDA3C71D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2628BBF-912D-49F1-6C24-00F9CDE4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D04054D-DA77-82FB-F1ED-1A777A31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7A1E601-1D95-4E6E-FFF9-8C5D4007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196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10450B6-F781-533B-44AE-4D5E965F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8E0E7958-5EF0-3FCF-A34B-6EEC9531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DF3D6611-6831-AA89-48C1-0E95ACEB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510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E94E60-4436-F8E9-82FD-45A8F97A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8BE30BC-C7BF-DF70-5957-FFAA99BCE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60B23FA-06E9-13CF-CD02-89126DF13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9D24B6B-B518-2665-7F58-5A9C6F80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016E118-CACE-580C-3CDC-8DC63248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A6DB650-22E8-A2C9-E73D-FC049993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078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21E0266-0F71-7EE8-8665-EDCA144A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5B4AC90F-D9EF-1755-B10F-0EE6E7319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1DCFF97-C008-329C-5E6C-C3831BC27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5C122DD-F674-F28F-6E12-ED3F39DF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CBFB28A-8447-FB19-0598-86CDC135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9C3299F-F6F4-6BF3-5464-C012B96F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765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370E239-17DF-FCC7-C5E3-F8A7DB5F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54B0669-8FBF-28A3-D71A-78FDDF416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059251D-6911-035B-44E3-9BDB1F1F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0DD25D1-5AF8-42CA-6149-1A0752B9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1E28108-4AFA-950B-0307-A1745A4A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403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4141EE37-1247-95AC-0203-6524C69C9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69D01770-E4EC-469B-6FBF-92CAC26F0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E184982-CE6F-A796-5AB3-19CF58CC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BAD6EC1-4030-10B8-61FC-1FC2A73A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34E8764-0407-26FE-2CC4-4223AF00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050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AB4A87F8-629B-2C25-A497-39854FD82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61F6721-5A1B-3607-3F51-EC670E014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57871DD-D94D-5FB0-AF84-68EE16634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3DC4F-7360-4D2C-AFD1-532BD54B8834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9F2B913-187D-5380-03DA-D1A7E62CC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7A5CDB9-30A9-68D7-2E65-F77162174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F0BC4-682E-4497-8EDB-607518D4CC0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7079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Azure-Samples/aks-store-demo/main/sample-manifests/docs/app-routing/aks-store-deployments-and-services.yaml" TargetMode="External"/><Relationship Id="rId2" Type="http://schemas.openxmlformats.org/officeDocument/2006/relationships/hyperlink" Target="https://learn.microsoft.com/en-us/azure/aks/app-rout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E50B3E7-5B6F-AE8C-76D2-DB0C9F2AF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/>
              <a:t>Kubernetes</a:t>
            </a:r>
            <a:r>
              <a:rPr lang="sv-SE" dirty="0"/>
              <a:t> for </a:t>
            </a:r>
            <a:r>
              <a:rPr lang="sv-SE" dirty="0" err="1"/>
              <a:t>developers</a:t>
            </a:r>
            <a:br>
              <a:rPr lang="sv-SE" dirty="0"/>
            </a:br>
            <a:r>
              <a:rPr lang="sv-SE" dirty="0"/>
              <a:t>session 3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541CB1C3-C3EC-8638-01B2-AE75B3D76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2706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50A5BA2-EE81-2728-2D99-A63F01ADC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499"/>
          </a:xfrm>
        </p:spPr>
        <p:txBody>
          <a:bodyPr>
            <a:normAutofit/>
          </a:bodyPr>
          <a:lstStyle/>
          <a:p>
            <a:pPr algn="ctr"/>
            <a:r>
              <a:rPr lang="sv-SE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Ingress</a:t>
            </a:r>
            <a:br>
              <a:rPr lang="sv-SE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8AB7E18-EA41-564E-6FE3-C30C82D21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825624"/>
            <a:ext cx="10591800" cy="2933752"/>
          </a:xfrm>
        </p:spPr>
        <p:txBody>
          <a:bodyPr/>
          <a:lstStyle/>
          <a:p>
            <a:pPr algn="l"/>
            <a:endParaRPr lang="sv-SE" sz="1600" b="1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HTTP (or HTTPS)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service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protocol-aware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configuration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mechanism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understands web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URIs,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hostnames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 Ingress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different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via the </a:t>
            </a:r>
            <a:r>
              <a:rPr lang="sv-SE" sz="1600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sv-SE" sz="16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API.</a:t>
            </a:r>
          </a:p>
          <a:p>
            <a:endParaRPr lang="sv-SE" dirty="0"/>
          </a:p>
        </p:txBody>
      </p:sp>
      <p:pic>
        <p:nvPicPr>
          <p:cNvPr id="5" name="Bildobjekt 4" descr="En bild som visar text, linje, diagram, Teckensnitt&#10;&#10;AI-genererat innehåll kan vara felaktigt.">
            <a:extLst>
              <a:ext uri="{FF2B5EF4-FFF2-40B4-BE49-F238E27FC236}">
                <a16:creationId xmlns:a16="http://schemas.microsoft.com/office/drawing/2014/main" id="{0C757F34-7A30-530A-D9CB-6E236E5EC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023" y="3024266"/>
            <a:ext cx="7338319" cy="2546854"/>
          </a:xfrm>
          <a:prstGeom prst="rect">
            <a:avLst/>
          </a:prstGeom>
        </p:spPr>
      </p:pic>
      <p:cxnSp>
        <p:nvCxnSpPr>
          <p:cNvPr id="6" name="Rak pilkoppling 5">
            <a:extLst>
              <a:ext uri="{FF2B5EF4-FFF2-40B4-BE49-F238E27FC236}">
                <a16:creationId xmlns:a16="http://schemas.microsoft.com/office/drawing/2014/main" id="{8699C076-0EB2-626F-C743-8B184AA0B63C}"/>
              </a:ext>
            </a:extLst>
          </p:cNvPr>
          <p:cNvCxnSpPr>
            <a:cxnSpLocks/>
          </p:cNvCxnSpPr>
          <p:nvPr/>
        </p:nvCxnSpPr>
        <p:spPr>
          <a:xfrm flipV="1">
            <a:off x="3739019" y="4621095"/>
            <a:ext cx="1397577" cy="1003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ruta 7">
            <a:extLst>
              <a:ext uri="{FF2B5EF4-FFF2-40B4-BE49-F238E27FC236}">
                <a16:creationId xmlns:a16="http://schemas.microsoft.com/office/drawing/2014/main" id="{FCA30177-D10F-456F-4F09-020016EB5F00}"/>
              </a:ext>
            </a:extLst>
          </p:cNvPr>
          <p:cNvSpPr txBox="1"/>
          <p:nvPr/>
        </p:nvSpPr>
        <p:spPr>
          <a:xfrm>
            <a:off x="1104645" y="5624186"/>
            <a:ext cx="5079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This</a:t>
            </a:r>
            <a:r>
              <a:rPr lang="sv-SE" dirty="0"/>
              <a:t> controller </a:t>
            </a:r>
            <a:r>
              <a:rPr lang="sv-SE" dirty="0" err="1"/>
              <a:t>need</a:t>
            </a:r>
            <a:r>
              <a:rPr lang="sv-SE" dirty="0"/>
              <a:t> to be </a:t>
            </a:r>
            <a:r>
              <a:rPr lang="sv-SE" dirty="0" err="1"/>
              <a:t>installed</a:t>
            </a:r>
            <a:r>
              <a:rPr lang="sv-SE" dirty="0"/>
              <a:t> on the cluster!</a:t>
            </a:r>
          </a:p>
        </p:txBody>
      </p:sp>
    </p:spTree>
    <p:extLst>
      <p:ext uri="{BB962C8B-B14F-4D97-AF65-F5344CB8AC3E}">
        <p14:creationId xmlns:p14="http://schemas.microsoft.com/office/powerpoint/2010/main" val="191271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AB1AC98-376F-0DCD-2B09-9D0CB3FC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Example</a:t>
            </a:r>
            <a:endParaRPr lang="sv-SE" dirty="0"/>
          </a:p>
        </p:txBody>
      </p:sp>
      <p:pic>
        <p:nvPicPr>
          <p:cNvPr id="5" name="Platshållare för innehåll 4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DBB92BD5-2904-2423-E300-E52731789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99" y="1435855"/>
            <a:ext cx="5465425" cy="4351338"/>
          </a:xfrm>
        </p:spPr>
      </p:pic>
      <p:cxnSp>
        <p:nvCxnSpPr>
          <p:cNvPr id="7" name="Rak pilkoppling 6">
            <a:extLst>
              <a:ext uri="{FF2B5EF4-FFF2-40B4-BE49-F238E27FC236}">
                <a16:creationId xmlns:a16="http://schemas.microsoft.com/office/drawing/2014/main" id="{0071B758-814D-84BE-9E67-374737583076}"/>
              </a:ext>
            </a:extLst>
          </p:cNvPr>
          <p:cNvCxnSpPr>
            <a:cxnSpLocks/>
          </p:cNvCxnSpPr>
          <p:nvPr/>
        </p:nvCxnSpPr>
        <p:spPr>
          <a:xfrm flipH="1">
            <a:off x="3829434" y="3429000"/>
            <a:ext cx="3356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ak pilkoppling 8">
            <a:extLst>
              <a:ext uri="{FF2B5EF4-FFF2-40B4-BE49-F238E27FC236}">
                <a16:creationId xmlns:a16="http://schemas.microsoft.com/office/drawing/2014/main" id="{D18AE958-74D3-B8F6-9B57-A528E92256EE}"/>
              </a:ext>
            </a:extLst>
          </p:cNvPr>
          <p:cNvCxnSpPr>
            <a:cxnSpLocks/>
          </p:cNvCxnSpPr>
          <p:nvPr/>
        </p:nvCxnSpPr>
        <p:spPr>
          <a:xfrm flipH="1">
            <a:off x="5061930" y="2482724"/>
            <a:ext cx="1651090" cy="615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k pilkoppling 11">
            <a:extLst>
              <a:ext uri="{FF2B5EF4-FFF2-40B4-BE49-F238E27FC236}">
                <a16:creationId xmlns:a16="http://schemas.microsoft.com/office/drawing/2014/main" id="{564FAF5B-75A1-3A7B-2049-7A186CAE8838}"/>
              </a:ext>
            </a:extLst>
          </p:cNvPr>
          <p:cNvCxnSpPr>
            <a:cxnSpLocks/>
          </p:cNvCxnSpPr>
          <p:nvPr/>
        </p:nvCxnSpPr>
        <p:spPr>
          <a:xfrm flipH="1">
            <a:off x="3006433" y="4244186"/>
            <a:ext cx="3652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A27E5EDF-BCD1-C1E8-3BB1-7FD6087C6D7E}"/>
              </a:ext>
            </a:extLst>
          </p:cNvPr>
          <p:cNvCxnSpPr>
            <a:cxnSpLocks/>
          </p:cNvCxnSpPr>
          <p:nvPr/>
        </p:nvCxnSpPr>
        <p:spPr>
          <a:xfrm flipH="1">
            <a:off x="3072917" y="5206659"/>
            <a:ext cx="35856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ruta 15">
            <a:extLst>
              <a:ext uri="{FF2B5EF4-FFF2-40B4-BE49-F238E27FC236}">
                <a16:creationId xmlns:a16="http://schemas.microsoft.com/office/drawing/2014/main" id="{26292339-F3D3-437F-5F20-38DBF52AF686}"/>
              </a:ext>
            </a:extLst>
          </p:cNvPr>
          <p:cNvSpPr txBox="1"/>
          <p:nvPr/>
        </p:nvSpPr>
        <p:spPr>
          <a:xfrm>
            <a:off x="6713020" y="2144345"/>
            <a:ext cx="435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rewrites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in to </a:t>
            </a:r>
            <a:r>
              <a:rPr lang="sv-SE" dirty="0" err="1"/>
              <a:t>pod</a:t>
            </a:r>
            <a:r>
              <a:rPr lang="sv-SE" dirty="0"/>
              <a:t> from</a:t>
            </a:r>
          </a:p>
          <a:p>
            <a:r>
              <a:rPr lang="sv-SE" dirty="0"/>
              <a:t>/</a:t>
            </a:r>
            <a:r>
              <a:rPr lang="sv-SE" dirty="0" err="1"/>
              <a:t>testpath</a:t>
            </a:r>
            <a:r>
              <a:rPr lang="sv-SE" dirty="0"/>
              <a:t> to /, </a:t>
            </a:r>
            <a:r>
              <a:rPr lang="sv-SE" dirty="0" err="1"/>
              <a:t>because</a:t>
            </a:r>
            <a:r>
              <a:rPr lang="sv-SE" dirty="0"/>
              <a:t> </a:t>
            </a:r>
            <a:r>
              <a:rPr lang="sv-SE" dirty="0" err="1"/>
              <a:t>nginx</a:t>
            </a:r>
            <a:r>
              <a:rPr lang="sv-SE" dirty="0"/>
              <a:t> </a:t>
            </a:r>
            <a:r>
              <a:rPr lang="sv-SE" dirty="0" err="1"/>
              <a:t>responds</a:t>
            </a:r>
            <a:r>
              <a:rPr lang="sv-SE" dirty="0"/>
              <a:t> at /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26292339-F3D3-437F-5F20-38DBF52AF686}"/>
              </a:ext>
            </a:extLst>
          </p:cNvPr>
          <p:cNvSpPr txBox="1"/>
          <p:nvPr/>
        </p:nvSpPr>
        <p:spPr>
          <a:xfrm>
            <a:off x="7186325" y="3184942"/>
            <a:ext cx="523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needs</a:t>
            </a:r>
            <a:r>
              <a:rPr lang="sv-SE" dirty="0"/>
              <a:t> to match </a:t>
            </a:r>
            <a:r>
              <a:rPr lang="sv-SE" dirty="0" err="1"/>
              <a:t>class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installed</a:t>
            </a:r>
            <a:r>
              <a:rPr lang="sv-SE" dirty="0"/>
              <a:t> ingress controller</a:t>
            </a:r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A5C4CA75-E178-87EE-C6A6-697F1BCF18E1}"/>
              </a:ext>
            </a:extLst>
          </p:cNvPr>
          <p:cNvSpPr txBox="1"/>
          <p:nvPr/>
        </p:nvSpPr>
        <p:spPr>
          <a:xfrm>
            <a:off x="6658550" y="4016197"/>
            <a:ext cx="489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incomming</a:t>
            </a:r>
            <a:r>
              <a:rPr lang="sv-SE" dirty="0"/>
              <a:t> </a:t>
            </a:r>
            <a:r>
              <a:rPr lang="sv-SE" dirty="0" err="1"/>
              <a:t>request</a:t>
            </a:r>
            <a:r>
              <a:rPr lang="sv-SE" dirty="0"/>
              <a:t> </a:t>
            </a:r>
            <a:r>
              <a:rPr lang="sv-SE" dirty="0" err="1"/>
              <a:t>needs</a:t>
            </a:r>
            <a:r>
              <a:rPr lang="sv-SE" dirty="0"/>
              <a:t> to match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pattern</a:t>
            </a:r>
            <a:endParaRPr lang="sv-SE" dirty="0"/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486F5965-0D7C-56C7-9B65-ADBABCB2B2E5}"/>
              </a:ext>
            </a:extLst>
          </p:cNvPr>
          <p:cNvSpPr txBox="1"/>
          <p:nvPr/>
        </p:nvSpPr>
        <p:spPr>
          <a:xfrm>
            <a:off x="6713020" y="4985991"/>
            <a:ext cx="284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service and port to route to</a:t>
            </a:r>
          </a:p>
        </p:txBody>
      </p:sp>
    </p:spTree>
    <p:extLst>
      <p:ext uri="{BB962C8B-B14F-4D97-AF65-F5344CB8AC3E}">
        <p14:creationId xmlns:p14="http://schemas.microsoft.com/office/powerpoint/2010/main" val="256224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D0E2FB8-5561-7B0B-7928-D5E720C0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Azure</a:t>
            </a:r>
            <a:r>
              <a:rPr lang="sv-SE" dirty="0"/>
              <a:t> has an ingress </a:t>
            </a:r>
            <a:r>
              <a:rPr lang="sv-SE" dirty="0" err="1"/>
              <a:t>addon</a:t>
            </a:r>
            <a:r>
              <a:rPr lang="sv-SE" dirty="0"/>
              <a:t>  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FF0E431-179C-FB3A-2626-A66D35770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The </a:t>
            </a:r>
            <a:r>
              <a:rPr lang="sv-SE" dirty="0" err="1"/>
              <a:t>addon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simplify</a:t>
            </a:r>
            <a:r>
              <a:rPr lang="sv-SE" dirty="0"/>
              <a:t> the installation </a:t>
            </a:r>
            <a:r>
              <a:rPr lang="sv-SE" dirty="0" err="1"/>
              <a:t>of</a:t>
            </a:r>
            <a:r>
              <a:rPr lang="sv-SE" dirty="0"/>
              <a:t> the ingress controller</a:t>
            </a:r>
          </a:p>
          <a:p>
            <a:r>
              <a:rPr lang="sv-SE" dirty="0"/>
              <a:t>The </a:t>
            </a:r>
            <a:r>
              <a:rPr lang="sv-SE" dirty="0" err="1"/>
              <a:t>addon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install</a:t>
            </a:r>
            <a:r>
              <a:rPr lang="sv-SE" dirty="0"/>
              <a:t> and </a:t>
            </a:r>
            <a:r>
              <a:rPr lang="sv-SE" dirty="0" err="1"/>
              <a:t>configure</a:t>
            </a:r>
            <a:r>
              <a:rPr lang="sv-SE" dirty="0"/>
              <a:t> a </a:t>
            </a:r>
            <a:r>
              <a:rPr lang="sv-SE" dirty="0" err="1"/>
              <a:t>nginx</a:t>
            </a:r>
            <a:r>
              <a:rPr lang="sv-SE" dirty="0"/>
              <a:t> </a:t>
            </a:r>
            <a:r>
              <a:rPr lang="sv-SE" dirty="0" err="1"/>
              <a:t>LoadBalancer</a:t>
            </a: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use</a:t>
            </a:r>
            <a:r>
              <a:rPr lang="sv-SE" dirty="0"/>
              <a:t> the </a:t>
            </a:r>
            <a:r>
              <a:rPr lang="sv-SE" dirty="0" err="1"/>
              <a:t>correct</a:t>
            </a:r>
            <a:r>
              <a:rPr lang="sv-SE" dirty="0"/>
              <a:t> </a:t>
            </a:r>
            <a:r>
              <a:rPr lang="sv-SE" dirty="0" err="1"/>
              <a:t>classname</a:t>
            </a:r>
            <a:r>
              <a:rPr lang="sv-SE" dirty="0"/>
              <a:t> in ingress to </a:t>
            </a:r>
            <a:r>
              <a:rPr lang="sv-SE" dirty="0" err="1"/>
              <a:t>use</a:t>
            </a:r>
            <a:r>
              <a:rPr lang="sv-SE" dirty="0"/>
              <a:t> the </a:t>
            </a:r>
            <a:r>
              <a:rPr lang="sv-SE" dirty="0" err="1"/>
              <a:t>LoadBalancer</a:t>
            </a:r>
            <a:r>
              <a:rPr lang="sv-SE" dirty="0"/>
              <a:t> </a:t>
            </a:r>
            <a:r>
              <a:rPr lang="sv-SE" dirty="0" err="1"/>
              <a:t>installed</a:t>
            </a:r>
            <a:r>
              <a:rPr lang="sv-SE" dirty="0"/>
              <a:t>:</a:t>
            </a:r>
          </a:p>
          <a:p>
            <a:pPr lvl="1"/>
            <a:r>
              <a:rPr lang="en-US" b="0" i="0" dirty="0" err="1">
                <a:solidFill>
                  <a:srgbClr val="0451A5"/>
                </a:solidFill>
                <a:effectLst/>
                <a:latin typeface="SFMono-Regular"/>
              </a:rPr>
              <a:t>ingressClassName</a:t>
            </a:r>
            <a:r>
              <a:rPr lang="en-US" b="0" i="0" dirty="0">
                <a:solidFill>
                  <a:srgbClr val="0451A5"/>
                </a:solidFill>
                <a:effectLst/>
                <a:latin typeface="SFMono-Regular"/>
              </a:rPr>
              <a:t>: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webapprouting.kubernetes.azure.com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64438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BCAD260-02CD-8F93-5710-2ECCEAFE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it in action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7BF7ADB-1E18-E3CE-5D77-A99A4DD67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an ingress </a:t>
            </a:r>
            <a:r>
              <a:rPr lang="sv-SE" dirty="0" err="1"/>
              <a:t>following</a:t>
            </a:r>
            <a:r>
              <a:rPr lang="sv-SE" dirty="0"/>
              <a:t> the guide </a:t>
            </a:r>
            <a:r>
              <a:rPr lang="sv-SE" dirty="0" err="1"/>
              <a:t>here</a:t>
            </a:r>
            <a:r>
              <a:rPr lang="sv-SE" dirty="0"/>
              <a:t>:</a:t>
            </a:r>
          </a:p>
          <a:p>
            <a:pPr lvl="1"/>
            <a:r>
              <a:rPr lang="sv-SE" dirty="0">
                <a:hlinkClick r:id="rId2"/>
              </a:rPr>
              <a:t>https://learn.microsoft.com/en-us/azure/aks/app-routing</a:t>
            </a:r>
            <a:endParaRPr lang="sv-SE" dirty="0"/>
          </a:p>
          <a:p>
            <a:pPr lvl="2"/>
            <a:r>
              <a:rPr lang="sv-SE" dirty="0"/>
              <a:t>1. Look at the </a:t>
            </a:r>
            <a:r>
              <a:rPr lang="sv-SE" dirty="0" err="1"/>
              <a:t>files</a:t>
            </a:r>
            <a:r>
              <a:rPr lang="sv-SE" dirty="0"/>
              <a:t> </a:t>
            </a:r>
            <a:r>
              <a:rPr lang="sv-SE" dirty="0" err="1"/>
              <a:t>here</a:t>
            </a:r>
            <a:r>
              <a:rPr lang="sv-SE" dirty="0"/>
              <a:t>: </a:t>
            </a:r>
            <a:r>
              <a:rPr lang="sv-SE" b="0" i="0" dirty="0">
                <a:solidFill>
                  <a:srgbClr val="0451A5"/>
                </a:solidFill>
                <a:effectLst/>
                <a:latin typeface="SFMono-Regular"/>
                <a:hlinkClick r:id="rId3"/>
              </a:rPr>
              <a:t>https://raw.githubusercontent.com/Azure-Samples/aks-store-demo/main/sample-manifests/docs/app-routing/aks-store-deployments-and-services.yaml</a:t>
            </a:r>
            <a:r>
              <a:rPr lang="sv-SE" b="0" i="0" dirty="0">
                <a:solidFill>
                  <a:srgbClr val="0451A5"/>
                </a:solidFill>
                <a:effectLst/>
                <a:latin typeface="SFMono-Regular"/>
              </a:rPr>
              <a:t> </a:t>
            </a:r>
          </a:p>
          <a:p>
            <a:pPr lvl="2"/>
            <a:r>
              <a:rPr lang="sv-SE" dirty="0"/>
              <a:t>2. </a:t>
            </a:r>
            <a:r>
              <a:rPr lang="sv-SE" dirty="0" err="1"/>
              <a:t>Apply</a:t>
            </a:r>
            <a:r>
              <a:rPr lang="sv-SE" dirty="0"/>
              <a:t> the </a:t>
            </a:r>
            <a:r>
              <a:rPr lang="sv-SE" dirty="0" err="1"/>
              <a:t>files</a:t>
            </a:r>
            <a:r>
              <a:rPr lang="sv-SE" dirty="0"/>
              <a:t> and check status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deployments</a:t>
            </a:r>
            <a:r>
              <a:rPr lang="sv-SE" dirty="0"/>
              <a:t> (</a:t>
            </a:r>
            <a:r>
              <a:rPr lang="sv-SE" dirty="0" err="1"/>
              <a:t>kubectl</a:t>
            </a:r>
            <a:r>
              <a:rPr lang="sv-SE" dirty="0"/>
              <a:t> get/</a:t>
            </a:r>
            <a:r>
              <a:rPr lang="sv-SE" dirty="0" err="1"/>
              <a:t>describe</a:t>
            </a:r>
            <a:r>
              <a:rPr lang="sv-SE" dirty="0"/>
              <a:t> </a:t>
            </a:r>
            <a:r>
              <a:rPr lang="sv-SE" dirty="0" err="1"/>
              <a:t>deploy</a:t>
            </a:r>
            <a:r>
              <a:rPr lang="sv-SE" dirty="0"/>
              <a:t>)</a:t>
            </a:r>
          </a:p>
          <a:p>
            <a:pPr lvl="2"/>
            <a:r>
              <a:rPr lang="sv-SE" dirty="0"/>
              <a:t>3. The </a:t>
            </a:r>
            <a:r>
              <a:rPr lang="sv-SE" dirty="0" err="1"/>
              <a:t>deployments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expose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clusterIP</a:t>
            </a:r>
            <a:r>
              <a:rPr lang="sv-SE" dirty="0"/>
              <a:t>, </a:t>
            </a:r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 </a:t>
            </a:r>
            <a:r>
              <a:rPr lang="sv-SE" dirty="0" err="1"/>
              <a:t>acess</a:t>
            </a:r>
            <a:r>
              <a:rPr lang="sv-SE" dirty="0"/>
              <a:t> it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kubernetes</a:t>
            </a:r>
            <a:r>
              <a:rPr lang="sv-SE" dirty="0"/>
              <a:t> ingress</a:t>
            </a:r>
          </a:p>
          <a:p>
            <a:pPr lvl="2"/>
            <a:r>
              <a:rPr lang="sv-SE" dirty="0"/>
              <a:t>4. </a:t>
            </a:r>
            <a:r>
              <a:rPr lang="sv-SE" dirty="0" err="1"/>
              <a:t>Apply</a:t>
            </a:r>
            <a:r>
              <a:rPr lang="sv-SE" dirty="0"/>
              <a:t> the ingress </a:t>
            </a:r>
            <a:r>
              <a:rPr lang="sv-SE" dirty="0" err="1"/>
              <a:t>example</a:t>
            </a:r>
            <a:r>
              <a:rPr lang="sv-SE" dirty="0"/>
              <a:t> and se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access the store-front </a:t>
            </a:r>
            <a:r>
              <a:rPr lang="sv-SE" dirty="0" err="1"/>
              <a:t>app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path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approach.</a:t>
            </a:r>
          </a:p>
        </p:txBody>
      </p:sp>
    </p:spTree>
    <p:extLst>
      <p:ext uri="{BB962C8B-B14F-4D97-AF65-F5344CB8AC3E}">
        <p14:creationId xmlns:p14="http://schemas.microsoft.com/office/powerpoint/2010/main" val="227048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E3995F4-D22A-E4CD-F8E2-C8448585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configurations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31C7AAB-17B0-4232-E72B-6C875CF69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Now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know</a:t>
            </a:r>
            <a:r>
              <a:rPr lang="sv-SE" dirty="0"/>
              <a:t> </a:t>
            </a:r>
            <a:r>
              <a:rPr lang="sv-SE" dirty="0" err="1"/>
              <a:t>how</a:t>
            </a:r>
            <a:r>
              <a:rPr lang="sv-SE" dirty="0"/>
              <a:t> to access </a:t>
            </a:r>
            <a:r>
              <a:rPr lang="sv-SE" dirty="0" err="1"/>
              <a:t>pods</a:t>
            </a:r>
            <a:r>
              <a:rPr lang="sv-SE" dirty="0"/>
              <a:t>, </a:t>
            </a:r>
            <a:r>
              <a:rPr lang="sv-SE" dirty="0" err="1"/>
              <a:t>lets</a:t>
            </a:r>
            <a:r>
              <a:rPr lang="sv-SE" dirty="0"/>
              <a:t> look at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configurations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look at </a:t>
            </a:r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set </a:t>
            </a:r>
            <a:r>
              <a:rPr lang="sv-SE" dirty="0" err="1"/>
              <a:t>environment</a:t>
            </a:r>
            <a:r>
              <a:rPr lang="sv-SE" dirty="0"/>
              <a:t> </a:t>
            </a:r>
            <a:r>
              <a:rPr lang="sv-SE" dirty="0" err="1"/>
              <a:t>variables</a:t>
            </a:r>
            <a:r>
              <a:rPr lang="sv-SE" dirty="0"/>
              <a:t> from </a:t>
            </a:r>
            <a:r>
              <a:rPr lang="sv-SE" dirty="0" err="1"/>
              <a:t>configmaps</a:t>
            </a:r>
            <a:r>
              <a:rPr lang="sv-SE" dirty="0"/>
              <a:t>/</a:t>
            </a:r>
            <a:r>
              <a:rPr lang="sv-SE" dirty="0" err="1"/>
              <a:t>secrets</a:t>
            </a:r>
            <a:r>
              <a:rPr lang="sv-SE" dirty="0"/>
              <a:t> to </a:t>
            </a:r>
            <a:r>
              <a:rPr lang="sv-SE" dirty="0" err="1"/>
              <a:t>configure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app.</a:t>
            </a:r>
          </a:p>
          <a:p>
            <a:pPr lvl="1"/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look at </a:t>
            </a:r>
            <a:r>
              <a:rPr lang="sv-SE" dirty="0" err="1"/>
              <a:t>how</a:t>
            </a:r>
            <a:r>
              <a:rPr lang="sv-SE" dirty="0"/>
              <a:t> to </a:t>
            </a:r>
            <a:r>
              <a:rPr lang="sv-SE" dirty="0" err="1"/>
              <a:t>mount</a:t>
            </a:r>
            <a:r>
              <a:rPr lang="sv-SE" dirty="0"/>
              <a:t> </a:t>
            </a:r>
            <a:r>
              <a:rPr lang="sv-SE" dirty="0" err="1"/>
              <a:t>volumes</a:t>
            </a:r>
            <a:r>
              <a:rPr lang="sv-SE" dirty="0"/>
              <a:t> in an </a:t>
            </a:r>
            <a:r>
              <a:rPr lang="sv-SE" dirty="0" err="1"/>
              <a:t>app</a:t>
            </a:r>
            <a:r>
              <a:rPr lang="sv-SE" dirty="0"/>
              <a:t> for permanent </a:t>
            </a:r>
            <a:r>
              <a:rPr lang="sv-SE" dirty="0" err="1"/>
              <a:t>storage</a:t>
            </a: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115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E5C1FB-CCE2-4ADD-946B-94B21221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Configmaps</a:t>
            </a:r>
            <a:r>
              <a:rPr lang="sv-SE" dirty="0"/>
              <a:t> </a:t>
            </a:r>
            <a:r>
              <a:rPr lang="sv-SE" b="1" dirty="0"/>
              <a:t>from-</a:t>
            </a:r>
            <a:r>
              <a:rPr lang="sv-SE" b="1" dirty="0" err="1"/>
              <a:t>literals</a:t>
            </a:r>
            <a:endParaRPr lang="en-SE" b="1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2BAEBDA9-1D31-4BE9-A1ED-A778E8798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74" y="1891019"/>
            <a:ext cx="10245026" cy="307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89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A78F66F-B041-4936-B60B-249E6363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9103"/>
          </a:xfrm>
        </p:spPr>
        <p:txBody>
          <a:bodyPr/>
          <a:lstStyle/>
          <a:p>
            <a:pPr algn="ctr"/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env</a:t>
            </a:r>
            <a:r>
              <a:rPr lang="sv-SE" dirty="0"/>
              <a:t> and </a:t>
            </a:r>
            <a:r>
              <a:rPr lang="sv-SE" dirty="0" err="1"/>
              <a:t>envFrom</a:t>
            </a:r>
            <a:r>
              <a:rPr lang="sv-SE" dirty="0"/>
              <a:t> in </a:t>
            </a:r>
            <a:r>
              <a:rPr lang="sv-SE" dirty="0" err="1"/>
              <a:t>Pod</a:t>
            </a:r>
            <a:endParaRPr lang="en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81DFE1E6-CC37-4002-A658-DC3734E4C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165" y="1573530"/>
            <a:ext cx="7426365" cy="481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4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C8CAB26-D3A4-4AA3-A2F0-86CD463C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Secrets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similar</a:t>
            </a:r>
            <a:r>
              <a:rPr lang="sv-SE" dirty="0"/>
              <a:t> </a:t>
            </a:r>
            <a:r>
              <a:rPr lang="sv-SE" dirty="0" err="1"/>
              <a:t>but</a:t>
            </a:r>
            <a:r>
              <a:rPr lang="sv-SE" dirty="0"/>
              <a:t> base64 </a:t>
            </a:r>
            <a:r>
              <a:rPr lang="sv-SE" dirty="0" err="1"/>
              <a:t>encoded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B27D049-FE90-4835-8828-FEF50EF86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986"/>
            <a:ext cx="10532165" cy="1325563"/>
          </a:xfrm>
        </p:spPr>
        <p:txBody>
          <a:bodyPr>
            <a:normAutofit fontScale="92500" lnSpcReduction="20000"/>
          </a:bodyPr>
          <a:lstStyle/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convert</a:t>
            </a:r>
            <a:r>
              <a:rPr lang="sv-SE" dirty="0"/>
              <a:t> it </a:t>
            </a:r>
            <a:r>
              <a:rPr lang="sv-SE" dirty="0" err="1"/>
              <a:t>manually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creating</a:t>
            </a:r>
            <a:r>
              <a:rPr lang="sv-SE" dirty="0"/>
              <a:t> from 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  <a:p>
            <a:pPr lvl="1"/>
            <a:r>
              <a:rPr lang="pt-BR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echo -n 'Hello world' | base64</a:t>
            </a:r>
          </a:p>
          <a:p>
            <a:r>
              <a:rPr lang="pt-BR" dirty="0">
                <a:solidFill>
                  <a:prstClr val="black"/>
                </a:solidFill>
                <a:latin typeface="Lucida Console" panose="020B0609040504020204" pitchFamily="49" charset="0"/>
              </a:rPr>
              <a:t>Same command as configmaps when created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and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very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similar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when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mounting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 in </a:t>
            </a:r>
            <a:r>
              <a:rPr lang="sv-SE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pod</a:t>
            </a:r>
            <a:r>
              <a:rPr lang="sv-SE" dirty="0">
                <a:solidFill>
                  <a:prstClr val="black"/>
                </a:solidFill>
                <a:latin typeface="Lucida Console" panose="020B0609040504020204" pitchFamily="49" charset="0"/>
              </a:rPr>
              <a:t>.</a:t>
            </a:r>
            <a:endParaRPr lang="pt-BR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0808347-5BAE-4A1C-8650-4A4367B17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11" y="3088793"/>
            <a:ext cx="8220177" cy="313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7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1B407C-BDC0-4023-8668-59AE4969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Pods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stateless</a:t>
            </a:r>
            <a:r>
              <a:rPr lang="sv-SE" dirty="0"/>
              <a:t> </a:t>
            </a:r>
            <a:r>
              <a:rPr lang="sv-SE" dirty="0" err="1"/>
              <a:t>but</a:t>
            </a:r>
            <a:r>
              <a:rPr lang="sv-SE" dirty="0"/>
              <a:t>…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F135547-7BDD-4F08-B0FD-32235CD7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Some</a:t>
            </a:r>
            <a:r>
              <a:rPr lang="sv-SE" dirty="0"/>
              <a:t> containers </a:t>
            </a:r>
            <a:r>
              <a:rPr lang="sv-SE" dirty="0" err="1"/>
              <a:t>require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to be </a:t>
            </a:r>
            <a:r>
              <a:rPr lang="sv-SE" dirty="0" err="1"/>
              <a:t>stored</a:t>
            </a:r>
            <a:r>
              <a:rPr lang="sv-SE" dirty="0"/>
              <a:t> on disk</a:t>
            </a:r>
          </a:p>
          <a:p>
            <a:r>
              <a:rPr lang="sv-SE" dirty="0" err="1"/>
              <a:t>Sometimes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cache data in </a:t>
            </a:r>
            <a:r>
              <a:rPr lang="sv-SE" dirty="0" err="1"/>
              <a:t>some</a:t>
            </a:r>
            <a:r>
              <a:rPr lang="sv-SE" dirty="0"/>
              <a:t> directory</a:t>
            </a:r>
          </a:p>
          <a:p>
            <a:r>
              <a:rPr lang="sv-SE" dirty="0" err="1"/>
              <a:t>Once</a:t>
            </a:r>
            <a:r>
              <a:rPr lang="sv-SE" dirty="0"/>
              <a:t> a </a:t>
            </a:r>
            <a:r>
              <a:rPr lang="sv-SE" dirty="0" err="1"/>
              <a:t>pod</a:t>
            </a:r>
            <a:r>
              <a:rPr lang="sv-SE" dirty="0"/>
              <a:t> has </a:t>
            </a:r>
            <a:r>
              <a:rPr lang="sv-SE" dirty="0" err="1"/>
              <a:t>restarted</a:t>
            </a:r>
            <a:r>
              <a:rPr lang="sv-SE" dirty="0"/>
              <a:t>, all data is </a:t>
            </a:r>
            <a:r>
              <a:rPr lang="sv-SE" dirty="0" err="1"/>
              <a:t>lost</a:t>
            </a:r>
            <a:endParaRPr lang="sv-SE" dirty="0"/>
          </a:p>
          <a:p>
            <a:r>
              <a:rPr lang="sv-SE" dirty="0"/>
              <a:t> Small </a:t>
            </a:r>
            <a:r>
              <a:rPr lang="sv-SE" dirty="0" err="1"/>
              <a:t>files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mounted</a:t>
            </a:r>
            <a:r>
              <a:rPr lang="sv-SE" dirty="0"/>
              <a:t> in </a:t>
            </a:r>
            <a:r>
              <a:rPr lang="sv-SE" dirty="0" err="1"/>
              <a:t>configmaps</a:t>
            </a:r>
            <a:endParaRPr lang="sv-SE" dirty="0"/>
          </a:p>
          <a:p>
            <a:r>
              <a:rPr lang="sv-SE" dirty="0" err="1"/>
              <a:t>Larger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be </a:t>
            </a:r>
            <a:r>
              <a:rPr lang="sv-SE" dirty="0" err="1"/>
              <a:t>stored</a:t>
            </a:r>
            <a:r>
              <a:rPr lang="sv-SE" dirty="0"/>
              <a:t> in </a:t>
            </a:r>
            <a:r>
              <a:rPr lang="sv-SE" dirty="0" err="1"/>
              <a:t>PersistentVolumes</a:t>
            </a:r>
            <a:endParaRPr lang="sv-SE" dirty="0"/>
          </a:p>
          <a:p>
            <a:r>
              <a:rPr lang="sv-SE" dirty="0"/>
              <a:t>To </a:t>
            </a:r>
            <a:r>
              <a:rPr lang="sv-SE" dirty="0" err="1"/>
              <a:t>claim</a:t>
            </a:r>
            <a:r>
              <a:rPr lang="sv-SE" dirty="0"/>
              <a:t> data from a </a:t>
            </a:r>
            <a:r>
              <a:rPr lang="sv-SE" dirty="0" err="1"/>
              <a:t>persistentVolume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define</a:t>
            </a:r>
            <a:r>
              <a:rPr lang="sv-SE" dirty="0"/>
              <a:t> a </a:t>
            </a:r>
            <a:r>
              <a:rPr lang="sv-SE" dirty="0" err="1"/>
              <a:t>persistenVolumeClaim</a:t>
            </a:r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614843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69D93A-F53E-4E90-AF31-54F563C4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Simple cache </a:t>
            </a:r>
            <a:r>
              <a:rPr lang="sv-SE" dirty="0" err="1"/>
              <a:t>volume</a:t>
            </a:r>
            <a:endParaRPr lang="en-SE" dirty="0"/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5CC76162-314B-41AD-BE6A-29586FDD3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89" y="2013576"/>
            <a:ext cx="5987146" cy="4136704"/>
          </a:xfrm>
          <a:prstGeom prst="rect">
            <a:avLst/>
          </a:prstGeom>
        </p:spPr>
      </p:pic>
      <p:cxnSp>
        <p:nvCxnSpPr>
          <p:cNvPr id="4" name="Rak pilkoppling 3">
            <a:extLst>
              <a:ext uri="{FF2B5EF4-FFF2-40B4-BE49-F238E27FC236}">
                <a16:creationId xmlns:a16="http://schemas.microsoft.com/office/drawing/2014/main" id="{E6894026-5839-489B-AA8B-FB410E72D5A8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217108" y="4400388"/>
            <a:ext cx="6413326" cy="1486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ruta 6">
            <a:extLst>
              <a:ext uri="{FF2B5EF4-FFF2-40B4-BE49-F238E27FC236}">
                <a16:creationId xmlns:a16="http://schemas.microsoft.com/office/drawing/2014/main" id="{07C882B4-CEA5-4E61-9C6E-914E82E167B0}"/>
              </a:ext>
            </a:extLst>
          </p:cNvPr>
          <p:cNvSpPr txBox="1"/>
          <p:nvPr/>
        </p:nvSpPr>
        <p:spPr>
          <a:xfrm>
            <a:off x="8630434" y="4077222"/>
            <a:ext cx="287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emptyDir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 a </a:t>
            </a:r>
            <a:r>
              <a:rPr lang="sv-SE" dirty="0" err="1"/>
              <a:t>temporary</a:t>
            </a:r>
            <a:r>
              <a:rPr lang="sv-SE" dirty="0"/>
              <a:t> </a:t>
            </a:r>
            <a:r>
              <a:rPr lang="sv-SE" dirty="0" err="1"/>
              <a:t>storage</a:t>
            </a:r>
            <a:endParaRPr lang="en-SE" dirty="0"/>
          </a:p>
        </p:txBody>
      </p:sp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A87958CD-1102-4BC9-A354-CE0410F159E9}"/>
              </a:ext>
            </a:extLst>
          </p:cNvPr>
          <p:cNvCxnSpPr>
            <a:cxnSpLocks/>
          </p:cNvCxnSpPr>
          <p:nvPr/>
        </p:nvCxnSpPr>
        <p:spPr>
          <a:xfrm flipH="1">
            <a:off x="2394560" y="3368246"/>
            <a:ext cx="6413326" cy="1486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ruta 10">
            <a:extLst>
              <a:ext uri="{FF2B5EF4-FFF2-40B4-BE49-F238E27FC236}">
                <a16:creationId xmlns:a16="http://schemas.microsoft.com/office/drawing/2014/main" id="{6900EC41-04FA-44AC-B206-7621AC59ED14}"/>
              </a:ext>
            </a:extLst>
          </p:cNvPr>
          <p:cNvSpPr txBox="1"/>
          <p:nvPr/>
        </p:nvSpPr>
        <p:spPr>
          <a:xfrm>
            <a:off x="8807886" y="2906581"/>
            <a:ext cx="287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The cache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store </a:t>
            </a:r>
            <a:r>
              <a:rPr lang="sv-SE" dirty="0" err="1"/>
              <a:t>everything</a:t>
            </a:r>
            <a:r>
              <a:rPr lang="sv-SE" dirty="0"/>
              <a:t> inside /cache in the test-container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89932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01FDDBA-3DCB-41FC-8084-86BEAC49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6839"/>
          </a:xfrm>
        </p:spPr>
        <p:txBody>
          <a:bodyPr/>
          <a:lstStyle/>
          <a:p>
            <a:pPr algn="ctr"/>
            <a:r>
              <a:rPr lang="sv-SE" dirty="0" err="1"/>
              <a:t>PersistentVolume</a:t>
            </a:r>
            <a:endParaRPr lang="en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81B6DEE8-AFF7-436F-88AF-92202895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68" y="1360334"/>
            <a:ext cx="6230721" cy="5413115"/>
          </a:xfrm>
          <a:prstGeom prst="rect">
            <a:avLst/>
          </a:prstGeom>
        </p:spPr>
      </p:pic>
      <p:cxnSp>
        <p:nvCxnSpPr>
          <p:cNvPr id="9" name="Rak pilkoppling 8">
            <a:extLst>
              <a:ext uri="{FF2B5EF4-FFF2-40B4-BE49-F238E27FC236}">
                <a16:creationId xmlns:a16="http://schemas.microsoft.com/office/drawing/2014/main" id="{AB6FB8C2-3C73-4023-BAD1-B0E7B2060BA1}"/>
              </a:ext>
            </a:extLst>
          </p:cNvPr>
          <p:cNvCxnSpPr>
            <a:cxnSpLocks/>
          </p:cNvCxnSpPr>
          <p:nvPr/>
        </p:nvCxnSpPr>
        <p:spPr>
          <a:xfrm flipH="1">
            <a:off x="3494762" y="2267211"/>
            <a:ext cx="5022937" cy="239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DB48BE25-2940-4088-8D58-B3F27F06A274}"/>
              </a:ext>
            </a:extLst>
          </p:cNvPr>
          <p:cNvCxnSpPr>
            <a:cxnSpLocks/>
          </p:cNvCxnSpPr>
          <p:nvPr/>
        </p:nvCxnSpPr>
        <p:spPr>
          <a:xfrm flipH="1">
            <a:off x="2532379" y="4033381"/>
            <a:ext cx="5985320" cy="1464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pilkoppling 14">
            <a:extLst>
              <a:ext uri="{FF2B5EF4-FFF2-40B4-BE49-F238E27FC236}">
                <a16:creationId xmlns:a16="http://schemas.microsoft.com/office/drawing/2014/main" id="{AF353FD8-D82D-4B79-B89C-8FF451FC6924}"/>
              </a:ext>
            </a:extLst>
          </p:cNvPr>
          <p:cNvCxnSpPr>
            <a:cxnSpLocks/>
          </p:cNvCxnSpPr>
          <p:nvPr/>
        </p:nvCxnSpPr>
        <p:spPr>
          <a:xfrm flipH="1">
            <a:off x="2532379" y="5323562"/>
            <a:ext cx="6924772" cy="1023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ruta 16">
            <a:extLst>
              <a:ext uri="{FF2B5EF4-FFF2-40B4-BE49-F238E27FC236}">
                <a16:creationId xmlns:a16="http://schemas.microsoft.com/office/drawing/2014/main" id="{B1A48D2F-DEBE-42AC-ACFC-7F69F9A933D7}"/>
              </a:ext>
            </a:extLst>
          </p:cNvPr>
          <p:cNvSpPr txBox="1"/>
          <p:nvPr/>
        </p:nvSpPr>
        <p:spPr>
          <a:xfrm>
            <a:off x="8517699" y="2001585"/>
            <a:ext cx="3674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Set an </a:t>
            </a:r>
            <a:r>
              <a:rPr lang="sv-SE" dirty="0" err="1"/>
              <a:t>optional</a:t>
            </a:r>
            <a:r>
              <a:rPr lang="sv-SE" dirty="0"/>
              <a:t> </a:t>
            </a:r>
            <a:r>
              <a:rPr lang="sv-SE" dirty="0" err="1"/>
              <a:t>classname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defined</a:t>
            </a:r>
            <a:r>
              <a:rPr lang="sv-SE" dirty="0"/>
              <a:t> in cluster.</a:t>
            </a:r>
            <a:endParaRPr lang="en-SE" dirty="0"/>
          </a:p>
        </p:txBody>
      </p:sp>
      <p:sp>
        <p:nvSpPr>
          <p:cNvPr id="18" name="textruta 17">
            <a:extLst>
              <a:ext uri="{FF2B5EF4-FFF2-40B4-BE49-F238E27FC236}">
                <a16:creationId xmlns:a16="http://schemas.microsoft.com/office/drawing/2014/main" id="{86774A39-DFA4-49C8-8718-CE8E01F141E5}"/>
              </a:ext>
            </a:extLst>
          </p:cNvPr>
          <p:cNvSpPr txBox="1"/>
          <p:nvPr/>
        </p:nvSpPr>
        <p:spPr>
          <a:xfrm>
            <a:off x="8517698" y="3794907"/>
            <a:ext cx="3674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Set a </a:t>
            </a:r>
            <a:r>
              <a:rPr lang="sv-SE" dirty="0" err="1"/>
              <a:t>requested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 </a:t>
            </a:r>
            <a:r>
              <a:rPr lang="sv-SE" dirty="0" err="1"/>
              <a:t>amount</a:t>
            </a:r>
            <a:endParaRPr lang="en-SE" dirty="0"/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331A6041-C48B-433A-9E36-53F23D0AFA35}"/>
              </a:ext>
            </a:extLst>
          </p:cNvPr>
          <p:cNvSpPr txBox="1"/>
          <p:nvPr/>
        </p:nvSpPr>
        <p:spPr>
          <a:xfrm>
            <a:off x="9457151" y="5085088"/>
            <a:ext cx="2630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Set </a:t>
            </a:r>
            <a:r>
              <a:rPr lang="sv-SE" dirty="0" err="1"/>
              <a:t>accessMode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105227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E3F670-BC83-445B-AAC3-B894327F9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6110"/>
          </a:xfrm>
        </p:spPr>
        <p:txBody>
          <a:bodyPr/>
          <a:lstStyle/>
          <a:p>
            <a:pPr algn="ctr"/>
            <a:r>
              <a:rPr lang="sv-SE" dirty="0" err="1"/>
              <a:t>PersistentVolumeClaim</a:t>
            </a:r>
            <a:endParaRPr lang="en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CECB882-62BE-4FB0-99DA-236A9EEBC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16" y="1683026"/>
            <a:ext cx="6185254" cy="5073330"/>
          </a:xfrm>
          <a:prstGeom prst="rect">
            <a:avLst/>
          </a:prstGeom>
        </p:spPr>
      </p:pic>
      <p:cxnSp>
        <p:nvCxnSpPr>
          <p:cNvPr id="6" name="Rak pilkoppling 5">
            <a:extLst>
              <a:ext uri="{FF2B5EF4-FFF2-40B4-BE49-F238E27FC236}">
                <a16:creationId xmlns:a16="http://schemas.microsoft.com/office/drawing/2014/main" id="{F992845E-4C8F-448D-B42F-1DFB6778F04B}"/>
              </a:ext>
            </a:extLst>
          </p:cNvPr>
          <p:cNvCxnSpPr>
            <a:cxnSpLocks/>
          </p:cNvCxnSpPr>
          <p:nvPr/>
        </p:nvCxnSpPr>
        <p:spPr>
          <a:xfrm flipH="1">
            <a:off x="3427444" y="2104373"/>
            <a:ext cx="5040151" cy="1971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ruta 7">
            <a:extLst>
              <a:ext uri="{FF2B5EF4-FFF2-40B4-BE49-F238E27FC236}">
                <a16:creationId xmlns:a16="http://schemas.microsoft.com/office/drawing/2014/main" id="{EB8BFA86-B68F-40E8-8BD8-E4418505B242}"/>
              </a:ext>
            </a:extLst>
          </p:cNvPr>
          <p:cNvSpPr txBox="1"/>
          <p:nvPr/>
        </p:nvSpPr>
        <p:spPr>
          <a:xfrm>
            <a:off x="8566237" y="1683026"/>
            <a:ext cx="3397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If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peristenVolume</a:t>
            </a:r>
            <a:r>
              <a:rPr lang="sv-SE" dirty="0"/>
              <a:t> has a </a:t>
            </a:r>
            <a:r>
              <a:rPr lang="sv-SE" dirty="0" err="1"/>
              <a:t>matching</a:t>
            </a:r>
            <a:r>
              <a:rPr lang="sv-SE" dirty="0"/>
              <a:t> </a:t>
            </a:r>
            <a:r>
              <a:rPr lang="sv-SE" dirty="0" err="1"/>
              <a:t>classname</a:t>
            </a:r>
            <a:r>
              <a:rPr lang="sv-SE" dirty="0"/>
              <a:t> it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.</a:t>
            </a:r>
            <a:endParaRPr lang="en-SE" dirty="0"/>
          </a:p>
        </p:txBody>
      </p:sp>
      <p:cxnSp>
        <p:nvCxnSpPr>
          <p:cNvPr id="9" name="Rak pilkoppling 8">
            <a:extLst>
              <a:ext uri="{FF2B5EF4-FFF2-40B4-BE49-F238E27FC236}">
                <a16:creationId xmlns:a16="http://schemas.microsoft.com/office/drawing/2014/main" id="{8204D304-1002-4104-8BC1-676F87554CC0}"/>
              </a:ext>
            </a:extLst>
          </p:cNvPr>
          <p:cNvCxnSpPr>
            <a:cxnSpLocks/>
          </p:cNvCxnSpPr>
          <p:nvPr/>
        </p:nvCxnSpPr>
        <p:spPr>
          <a:xfrm flipH="1">
            <a:off x="2503003" y="3848100"/>
            <a:ext cx="5599597" cy="112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ruta 11">
            <a:extLst>
              <a:ext uri="{FF2B5EF4-FFF2-40B4-BE49-F238E27FC236}">
                <a16:creationId xmlns:a16="http://schemas.microsoft.com/office/drawing/2014/main" id="{A3D15896-7BD5-4D2F-9269-887945C50D7F}"/>
              </a:ext>
            </a:extLst>
          </p:cNvPr>
          <p:cNvSpPr txBox="1"/>
          <p:nvPr/>
        </p:nvSpPr>
        <p:spPr>
          <a:xfrm>
            <a:off x="8385431" y="3524934"/>
            <a:ext cx="3622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Needs</a:t>
            </a:r>
            <a:r>
              <a:rPr lang="sv-SE" dirty="0"/>
              <a:t> to match </a:t>
            </a:r>
            <a:r>
              <a:rPr lang="sv-SE" dirty="0" err="1"/>
              <a:t>persistentVolume</a:t>
            </a:r>
            <a:r>
              <a:rPr lang="sv-SE" dirty="0"/>
              <a:t> </a:t>
            </a:r>
            <a:r>
              <a:rPr lang="sv-SE" dirty="0" err="1"/>
              <a:t>accessType</a:t>
            </a:r>
            <a:endParaRPr lang="en-SE" dirty="0"/>
          </a:p>
        </p:txBody>
      </p: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1B21A449-60CA-4D0C-A696-50F409B77036}"/>
              </a:ext>
            </a:extLst>
          </p:cNvPr>
          <p:cNvCxnSpPr>
            <a:cxnSpLocks/>
          </p:cNvCxnSpPr>
          <p:nvPr/>
        </p:nvCxnSpPr>
        <p:spPr>
          <a:xfrm flipH="1">
            <a:off x="2535304" y="5112399"/>
            <a:ext cx="5599597" cy="112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ruta 13">
            <a:extLst>
              <a:ext uri="{FF2B5EF4-FFF2-40B4-BE49-F238E27FC236}">
                <a16:creationId xmlns:a16="http://schemas.microsoft.com/office/drawing/2014/main" id="{48769E12-3AE9-4068-BD94-286D9E2B3C22}"/>
              </a:ext>
            </a:extLst>
          </p:cNvPr>
          <p:cNvSpPr txBox="1"/>
          <p:nvPr/>
        </p:nvSpPr>
        <p:spPr>
          <a:xfrm>
            <a:off x="8234379" y="4748634"/>
            <a:ext cx="3622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Amount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, </a:t>
            </a:r>
            <a:r>
              <a:rPr lang="sv-SE" dirty="0" err="1"/>
              <a:t>needs</a:t>
            </a:r>
            <a:r>
              <a:rPr lang="sv-SE" dirty="0"/>
              <a:t> to be less </a:t>
            </a:r>
            <a:r>
              <a:rPr lang="sv-SE" dirty="0" err="1"/>
              <a:t>then</a:t>
            </a:r>
            <a:r>
              <a:rPr lang="sv-SE" dirty="0"/>
              <a:t> </a:t>
            </a:r>
            <a:r>
              <a:rPr lang="sv-SE" dirty="0" err="1"/>
              <a:t>available</a:t>
            </a:r>
            <a:r>
              <a:rPr lang="sv-SE" dirty="0"/>
              <a:t> on </a:t>
            </a:r>
            <a:r>
              <a:rPr lang="sv-SE" dirty="0" err="1"/>
              <a:t>persistentVolume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352027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46AD4C9-2B10-4CED-9DA8-0D5B4289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Creating a </a:t>
            </a:r>
            <a:r>
              <a:rPr lang="sv-SE" dirty="0" err="1"/>
              <a:t>volume</a:t>
            </a:r>
            <a:r>
              <a:rPr lang="sv-SE" dirty="0"/>
              <a:t> inside a </a:t>
            </a:r>
            <a:r>
              <a:rPr lang="sv-SE" dirty="0" err="1"/>
              <a:t>pod</a:t>
            </a:r>
            <a:r>
              <a:rPr lang="sv-SE" dirty="0"/>
              <a:t> from a </a:t>
            </a:r>
            <a:r>
              <a:rPr lang="sv-SE" dirty="0" err="1"/>
              <a:t>persistentVolumeClaim</a:t>
            </a:r>
            <a:endParaRPr lang="en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DD73AA5-F753-442F-A147-4F3241256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062472" cy="4852416"/>
          </a:xfrm>
          <a:prstGeom prst="rect">
            <a:avLst/>
          </a:prstGeom>
        </p:spPr>
      </p:pic>
      <p:cxnSp>
        <p:nvCxnSpPr>
          <p:cNvPr id="6" name="Rak pilkoppling 5">
            <a:extLst>
              <a:ext uri="{FF2B5EF4-FFF2-40B4-BE49-F238E27FC236}">
                <a16:creationId xmlns:a16="http://schemas.microsoft.com/office/drawing/2014/main" id="{B9215D89-0C7D-450F-9E6E-402F3EE4893C}"/>
              </a:ext>
            </a:extLst>
          </p:cNvPr>
          <p:cNvCxnSpPr>
            <a:cxnSpLocks/>
          </p:cNvCxnSpPr>
          <p:nvPr/>
        </p:nvCxnSpPr>
        <p:spPr>
          <a:xfrm flipH="1">
            <a:off x="4554030" y="2166277"/>
            <a:ext cx="4174432" cy="145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ruta 6">
            <a:extLst>
              <a:ext uri="{FF2B5EF4-FFF2-40B4-BE49-F238E27FC236}">
                <a16:creationId xmlns:a16="http://schemas.microsoft.com/office/drawing/2014/main" id="{34F1DA70-0102-46B7-AA89-B8CAFE064DC7}"/>
              </a:ext>
            </a:extLst>
          </p:cNvPr>
          <p:cNvSpPr txBox="1"/>
          <p:nvPr/>
        </p:nvSpPr>
        <p:spPr>
          <a:xfrm>
            <a:off x="8868427" y="1843111"/>
            <a:ext cx="317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Needs</a:t>
            </a:r>
            <a:r>
              <a:rPr lang="sv-SE" dirty="0"/>
              <a:t> to match the 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an </a:t>
            </a:r>
            <a:r>
              <a:rPr lang="sv-SE" dirty="0" err="1"/>
              <a:t>existing</a:t>
            </a:r>
            <a:r>
              <a:rPr lang="sv-SE" dirty="0"/>
              <a:t> </a:t>
            </a:r>
            <a:r>
              <a:rPr lang="sv-SE" dirty="0" err="1"/>
              <a:t>claim</a:t>
            </a:r>
            <a:r>
              <a:rPr lang="sv-SE" dirty="0"/>
              <a:t>.</a:t>
            </a:r>
            <a:endParaRPr lang="en-SE" dirty="0"/>
          </a:p>
        </p:txBody>
      </p:sp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4057081E-06AC-4BD8-A6A6-EC29A1AE08D3}"/>
              </a:ext>
            </a:extLst>
          </p:cNvPr>
          <p:cNvCxnSpPr>
            <a:cxnSpLocks/>
          </p:cNvCxnSpPr>
          <p:nvPr/>
        </p:nvCxnSpPr>
        <p:spPr>
          <a:xfrm flipH="1" flipV="1">
            <a:off x="3710118" y="2799386"/>
            <a:ext cx="5158309" cy="1555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pilkoppling 11">
            <a:extLst>
              <a:ext uri="{FF2B5EF4-FFF2-40B4-BE49-F238E27FC236}">
                <a16:creationId xmlns:a16="http://schemas.microsoft.com/office/drawing/2014/main" id="{00CD5A9A-A435-4283-9B17-C2D95DF8C6A0}"/>
              </a:ext>
            </a:extLst>
          </p:cNvPr>
          <p:cNvCxnSpPr>
            <a:cxnSpLocks/>
          </p:cNvCxnSpPr>
          <p:nvPr/>
        </p:nvCxnSpPr>
        <p:spPr>
          <a:xfrm flipH="1">
            <a:off x="4418331" y="4509370"/>
            <a:ext cx="4450096" cy="1609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ruta 13">
            <a:extLst>
              <a:ext uri="{FF2B5EF4-FFF2-40B4-BE49-F238E27FC236}">
                <a16:creationId xmlns:a16="http://schemas.microsoft.com/office/drawing/2014/main" id="{1B2010C3-465D-4E35-8A7D-EB2802E82EC8}"/>
              </a:ext>
            </a:extLst>
          </p:cNvPr>
          <p:cNvSpPr txBox="1"/>
          <p:nvPr/>
        </p:nvSpPr>
        <p:spPr>
          <a:xfrm>
            <a:off x="8894173" y="4031524"/>
            <a:ext cx="3173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name</a:t>
            </a:r>
            <a:r>
              <a:rPr lang="sv-SE" dirty="0"/>
              <a:t> and </a:t>
            </a:r>
            <a:r>
              <a:rPr lang="sv-SE" dirty="0" err="1"/>
              <a:t>Mount</a:t>
            </a:r>
            <a:r>
              <a:rPr lang="sv-SE" dirty="0"/>
              <a:t> 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needs</a:t>
            </a:r>
            <a:r>
              <a:rPr lang="sv-SE" dirty="0"/>
              <a:t> to match.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71328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DF8180B-6F71-4958-9E80-FDF588F3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Challenge setup </a:t>
            </a:r>
            <a:r>
              <a:rPr lang="sv-SE" dirty="0" err="1"/>
              <a:t>postgres</a:t>
            </a:r>
            <a:r>
              <a:rPr lang="sv-SE" dirty="0"/>
              <a:t> in </a:t>
            </a:r>
            <a:r>
              <a:rPr lang="sv-SE" dirty="0" err="1"/>
              <a:t>Kubernetes</a:t>
            </a:r>
            <a:r>
              <a:rPr lang="sv-SE" dirty="0"/>
              <a:t>.</a:t>
            </a:r>
            <a:endParaRPr lang="en-SE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356DB6FC-9C05-4374-A4F6-9FC9445B1DF9}"/>
              </a:ext>
            </a:extLst>
          </p:cNvPr>
          <p:cNvSpPr txBox="1"/>
          <p:nvPr/>
        </p:nvSpPr>
        <p:spPr>
          <a:xfrm>
            <a:off x="1481242" y="2060020"/>
            <a:ext cx="105875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Follow</a:t>
            </a:r>
            <a:r>
              <a:rPr lang="sv-SE" dirty="0"/>
              <a:t> the </a:t>
            </a:r>
            <a:r>
              <a:rPr lang="sv-SE" dirty="0" err="1"/>
              <a:t>instruction</a:t>
            </a:r>
            <a:r>
              <a:rPr lang="sv-SE" dirty="0"/>
              <a:t> in the </a:t>
            </a:r>
            <a:r>
              <a:rPr lang="sv-SE" dirty="0" err="1"/>
              <a:t>zip</a:t>
            </a:r>
            <a:r>
              <a:rPr lang="sv-SE" dirty="0"/>
              <a:t> fil.</a:t>
            </a:r>
          </a:p>
          <a:p>
            <a:r>
              <a:rPr lang="sv-SE" dirty="0"/>
              <a:t>and se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setup </a:t>
            </a:r>
            <a:r>
              <a:rPr lang="sv-SE" dirty="0" err="1"/>
              <a:t>postgresql</a:t>
            </a:r>
            <a:r>
              <a:rPr lang="sv-SE" dirty="0"/>
              <a:t>  in </a:t>
            </a:r>
            <a:r>
              <a:rPr lang="sv-SE" dirty="0" err="1"/>
              <a:t>kubernetes</a:t>
            </a:r>
            <a:r>
              <a:rPr lang="sv-SE" dirty="0"/>
              <a:t>, </a:t>
            </a:r>
            <a:r>
              <a:rPr lang="sv-SE" dirty="0" err="1"/>
              <a:t>with</a:t>
            </a:r>
            <a:r>
              <a:rPr lang="sv-SE" dirty="0"/>
              <a:t> a </a:t>
            </a:r>
            <a:r>
              <a:rPr lang="sv-SE" dirty="0" err="1"/>
              <a:t>secret</a:t>
            </a:r>
            <a:r>
              <a:rPr lang="sv-SE" dirty="0"/>
              <a:t> and </a:t>
            </a:r>
            <a:r>
              <a:rPr lang="sv-SE" dirty="0" err="1"/>
              <a:t>volume</a:t>
            </a:r>
            <a:r>
              <a:rPr lang="sv-SE" dirty="0"/>
              <a:t> (for </a:t>
            </a:r>
            <a:r>
              <a:rPr lang="sv-SE" dirty="0" err="1"/>
              <a:t>storage</a:t>
            </a:r>
            <a:r>
              <a:rPr lang="sv-SE" dirty="0"/>
              <a:t> </a:t>
            </a:r>
            <a:r>
              <a:rPr lang="sv-SE" dirty="0" err="1"/>
              <a:t>between</a:t>
            </a:r>
            <a:r>
              <a:rPr lang="sv-SE" dirty="0"/>
              <a:t> restarts)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/>
              <a:t>Guidelines</a:t>
            </a:r>
            <a:r>
              <a:rPr lang="sv-S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kubectl</a:t>
            </a:r>
            <a:r>
              <a:rPr lang="sv-SE" dirty="0"/>
              <a:t> get/</a:t>
            </a:r>
            <a:r>
              <a:rPr lang="sv-SE" dirty="0" err="1"/>
              <a:t>describe</a:t>
            </a:r>
            <a:r>
              <a:rPr lang="sv-SE" dirty="0"/>
              <a:t> to look at status for all </a:t>
            </a:r>
            <a:r>
              <a:rPr lang="sv-SE" dirty="0" err="1"/>
              <a:t>created</a:t>
            </a:r>
            <a:r>
              <a:rPr lang="sv-SE" dirty="0"/>
              <a:t> </a:t>
            </a:r>
            <a:r>
              <a:rPr lang="sv-SE" dirty="0" err="1"/>
              <a:t>resources</a:t>
            </a:r>
            <a:r>
              <a:rPr lang="sv-SE" dirty="0"/>
              <a:t> (-o=</a:t>
            </a:r>
            <a:r>
              <a:rPr lang="sv-SE" dirty="0" err="1"/>
              <a:t>yaml</a:t>
            </a:r>
            <a:r>
              <a:rPr lang="sv-SE" dirty="0"/>
              <a:t> flag for </a:t>
            </a:r>
            <a:r>
              <a:rPr lang="sv-SE" dirty="0" err="1"/>
              <a:t>yaml</a:t>
            </a:r>
            <a:r>
              <a:rPr lang="sv-SE" dirty="0"/>
              <a:t> output)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kubectl</a:t>
            </a:r>
            <a:r>
              <a:rPr lang="sv-SE" dirty="0"/>
              <a:t> logs </a:t>
            </a:r>
            <a:r>
              <a:rPr lang="sv-SE" dirty="0" err="1"/>
              <a:t>deploy</a:t>
            </a:r>
            <a:r>
              <a:rPr lang="sv-SE" dirty="0"/>
              <a:t>/</a:t>
            </a:r>
            <a:r>
              <a:rPr lang="sv-SE" dirty="0" err="1"/>
              <a:t>postgres</a:t>
            </a:r>
            <a:r>
              <a:rPr lang="sv-SE" dirty="0"/>
              <a:t> to check logs inside </a:t>
            </a:r>
            <a:r>
              <a:rPr lang="sv-SE" dirty="0" err="1"/>
              <a:t>postgres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/>
              <a:t>create</a:t>
            </a:r>
            <a:r>
              <a:rPr lang="sv-SE" dirty="0"/>
              <a:t> -f </a:t>
            </a:r>
            <a:r>
              <a:rPr lang="sv-SE" dirty="0" err="1"/>
              <a:t>myFile.yaml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a k8s </a:t>
            </a:r>
            <a:r>
              <a:rPr lang="sv-SE" dirty="0" err="1"/>
              <a:t>resource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commands</a:t>
            </a:r>
            <a:r>
              <a:rPr lang="sv-SE" dirty="0"/>
              <a:t> from </a:t>
            </a:r>
            <a:r>
              <a:rPr lang="sv-SE" dirty="0" err="1"/>
              <a:t>documentation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yaml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kubectl</a:t>
            </a:r>
            <a:r>
              <a:rPr lang="sv-SE" dirty="0"/>
              <a:t> </a:t>
            </a:r>
            <a:r>
              <a:rPr lang="sv-SE" dirty="0" err="1"/>
              <a:t>exec</a:t>
            </a:r>
            <a:r>
              <a:rPr lang="sv-SE" dirty="0"/>
              <a:t> -it </a:t>
            </a:r>
            <a:r>
              <a:rPr lang="sv-SE" dirty="0" err="1"/>
              <a:t>deploy</a:t>
            </a:r>
            <a:r>
              <a:rPr lang="sv-SE" dirty="0"/>
              <a:t>/</a:t>
            </a:r>
            <a:r>
              <a:rPr lang="sv-SE" dirty="0" err="1"/>
              <a:t>postgres</a:t>
            </a:r>
            <a:r>
              <a:rPr lang="sv-SE" dirty="0"/>
              <a:t> -- </a:t>
            </a:r>
            <a:r>
              <a:rPr lang="sv-SE" dirty="0" err="1"/>
              <a:t>sh</a:t>
            </a:r>
            <a:r>
              <a:rPr lang="sv-SE" dirty="0"/>
              <a:t> , to start a </a:t>
            </a:r>
            <a:r>
              <a:rPr lang="sv-SE" dirty="0" err="1"/>
              <a:t>shell</a:t>
            </a:r>
            <a:r>
              <a:rPr lang="sv-SE" dirty="0"/>
              <a:t> inside the </a:t>
            </a:r>
            <a:r>
              <a:rPr lang="sv-SE" dirty="0" err="1"/>
              <a:t>postgres</a:t>
            </a:r>
            <a:r>
              <a:rPr lang="sv-SE" dirty="0"/>
              <a:t> </a:t>
            </a:r>
            <a:r>
              <a:rPr lang="sv-SE" dirty="0" err="1"/>
              <a:t>pod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 check </a:t>
            </a:r>
            <a:r>
              <a:rPr lang="sv-SE" dirty="0" err="1"/>
              <a:t>filesystem</a:t>
            </a:r>
            <a:r>
              <a:rPr lang="sv-SE" dirty="0"/>
              <a:t> and </a:t>
            </a:r>
            <a:r>
              <a:rPr lang="sv-SE" dirty="0" err="1"/>
              <a:t>env</a:t>
            </a:r>
            <a:r>
              <a:rPr lang="sv-SE" dirty="0"/>
              <a:t>. (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 the </a:t>
            </a:r>
            <a:r>
              <a:rPr lang="sv-SE" dirty="0" err="1"/>
              <a:t>env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 to check all </a:t>
            </a:r>
            <a:r>
              <a:rPr lang="sv-SE" dirty="0" err="1"/>
              <a:t>env</a:t>
            </a:r>
            <a:r>
              <a:rPr lang="sv-SE" dirty="0"/>
              <a:t> set from </a:t>
            </a:r>
            <a:r>
              <a:rPr lang="sv-SE" dirty="0" err="1"/>
              <a:t>secret</a:t>
            </a:r>
            <a:r>
              <a:rPr lang="sv-SE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/>
              <a:t>Usually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steal</a:t>
            </a:r>
            <a:r>
              <a:rPr lang="sv-SE" dirty="0"/>
              <a:t> </a:t>
            </a:r>
            <a:r>
              <a:rPr lang="sv-SE" dirty="0" err="1"/>
              <a:t>yaml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from k8s </a:t>
            </a:r>
            <a:r>
              <a:rPr lang="sv-SE" dirty="0" err="1"/>
              <a:t>documentation</a:t>
            </a:r>
            <a:r>
              <a:rPr lang="sv-SE" dirty="0"/>
              <a:t> and the </a:t>
            </a:r>
            <a:r>
              <a:rPr lang="sv-SE" dirty="0" err="1"/>
              <a:t>modify</a:t>
            </a:r>
            <a:r>
              <a:rPr lang="sv-SE" dirty="0"/>
              <a:t> </a:t>
            </a:r>
            <a:r>
              <a:rPr lang="sv-SE" dirty="0" err="1"/>
              <a:t>them</a:t>
            </a:r>
            <a:r>
              <a:rPr lang="sv-SE" dirty="0"/>
              <a:t> as a </a:t>
            </a:r>
            <a:r>
              <a:rPr lang="sv-SE" dirty="0" err="1"/>
              <a:t>base</a:t>
            </a:r>
            <a:endParaRPr lang="sv-S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/>
              <a:t>If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want</a:t>
            </a:r>
            <a:r>
              <a:rPr lang="sv-SE" dirty="0"/>
              <a:t> to,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port-</a:t>
            </a:r>
            <a:r>
              <a:rPr lang="sv-SE" dirty="0" err="1"/>
              <a:t>forwarding</a:t>
            </a:r>
            <a:r>
              <a:rPr lang="sv-SE" dirty="0"/>
              <a:t> on the service to </a:t>
            </a:r>
            <a:r>
              <a:rPr lang="sv-SE" dirty="0" err="1"/>
              <a:t>connect</a:t>
            </a:r>
            <a:r>
              <a:rPr lang="sv-SE" dirty="0"/>
              <a:t> to the </a:t>
            </a:r>
            <a:r>
              <a:rPr lang="sv-SE" dirty="0" err="1"/>
              <a:t>postgres</a:t>
            </a:r>
            <a:r>
              <a:rPr lang="sv-SE" dirty="0"/>
              <a:t> </a:t>
            </a:r>
            <a:r>
              <a:rPr lang="sv-SE" dirty="0" err="1"/>
              <a:t>database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4415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693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Office-tema</vt:lpstr>
      <vt:lpstr>Kubernetes for developers session 3</vt:lpstr>
      <vt:lpstr>Ingress </vt:lpstr>
      <vt:lpstr>Example</vt:lpstr>
      <vt:lpstr>Azure has an ingress addon  </vt:lpstr>
      <vt:lpstr>Lets see it in action</vt:lpstr>
      <vt:lpstr>Pod configurations</vt:lpstr>
      <vt:lpstr>Configmaps from-literals</vt:lpstr>
      <vt:lpstr>Using env and envFrom in Pod</vt:lpstr>
      <vt:lpstr>Secrets are similar but base64 encoded</vt:lpstr>
      <vt:lpstr>Pods are stateless but…</vt:lpstr>
      <vt:lpstr>Simple cache volume</vt:lpstr>
      <vt:lpstr>PersistentVolume</vt:lpstr>
      <vt:lpstr>PersistentVolumeClaim</vt:lpstr>
      <vt:lpstr>Creating a volume inside a pod from a persistentVolumeClaim</vt:lpstr>
      <vt:lpstr>Challenge setup postgres in Kubernetes.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Mattias Bourghardt Nordell</dc:creator>
  <cp:lastModifiedBy>Mattias Bourghardt Nordell</cp:lastModifiedBy>
  <cp:revision>8</cp:revision>
  <dcterms:created xsi:type="dcterms:W3CDTF">2025-03-05T20:02:04Z</dcterms:created>
  <dcterms:modified xsi:type="dcterms:W3CDTF">2026-05-13T16:57:53Z</dcterms:modified>
</cp:coreProperties>
</file>