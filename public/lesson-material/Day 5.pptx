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2" r:id="rId4"/>
    <p:sldId id="273" r:id="rId5"/>
    <p:sldId id="271" r:id="rId6"/>
    <p:sldId id="257" r:id="rId7"/>
    <p:sldId id="259" r:id="rId8"/>
    <p:sldId id="260" r:id="rId9"/>
    <p:sldId id="261" r:id="rId10"/>
    <p:sldId id="262" r:id="rId11"/>
    <p:sldId id="263" r:id="rId12"/>
    <p:sldId id="265" r:id="rId13"/>
    <p:sldId id="267" r:id="rId14"/>
    <p:sldId id="268" r:id="rId15"/>
    <p:sldId id="269" r:id="rId16"/>
    <p:sldId id="270" r:id="rId17"/>
    <p:sldId id="274" r:id="rId1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24AB3F7-2F48-F80F-0D83-052DBF01B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216DB35C-6F59-664D-98E3-F36249D0C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BF186DE-DDE9-15B3-3522-031D0F8C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A0068CF-94B9-9CA9-487F-5A6377BC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291F73E-935C-FE02-36D3-42F353EB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19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C169EFA-0944-0204-5435-AFFA3B07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681566A-9C07-4FE4-E231-10AE0C53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CE1C290-C6CF-23FA-0E6E-949FCF68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7A9E483-8CFA-D21F-C915-39DFEB93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C51EA20-1209-14CC-A810-E6E12F68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8542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83F2C3C-F634-1A82-98B2-972714F5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668BDEC-000A-1596-8D09-B25D8E325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E9A6A31-98A7-A255-E855-F68A4350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FB9FFE1-985B-54AF-3C86-7A045AC9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2DE0E19-DC40-7BE8-373E-FE4460AA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200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DB9AA06-2E48-0548-E61E-25734B3A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5AF11C1-952C-2A2A-014A-BEEC58775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777ACD3-D413-65F4-D2D1-581E1F647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1158476-7807-87D7-B1FA-E20336A1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6B6844D-7D6E-2AC1-DBEA-EBE50BE9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A1ECFF10-46C2-7647-E8C4-B7BDCF7A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730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FA01385-6EA6-5FAD-3E2B-A79874D9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8A7D17A-6736-8F1F-BD1C-F7893FF03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2870D227-7790-2EDE-CCB6-58A6740E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CD496CC-3E7C-6B63-3B00-B967E4430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160A713-F783-0A9D-247F-B5CA93218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5CCAE41E-FA45-6933-6D09-8CB462D4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51070A66-5BDD-09D2-6BCF-0DFECF6C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FFCBD70B-A900-09C9-7117-BDEA1F02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19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1BB877C-F931-AB43-1026-4008B6A8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9F1A02E-9302-7ED6-69E8-8E251258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98E5E36-5BC2-1AE5-DEEC-2F856D90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F110C31-8A92-7D32-B283-D2468771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163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F7BBB0E-B234-7125-0793-7271AE43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7D5C7341-2581-E8AC-4EFF-BEE6C400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8072F77-0864-3DC7-7A4B-FACABCB4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619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1C0B40-8EC2-FC5A-D2AC-DA591F38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1398397-1835-FC1D-F130-C6229DAED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F0D2D90-8CF3-D7A9-6E3A-99067CFFE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23A036C-6249-89AB-C49E-BCF3E418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515999D-7168-6639-0180-8319E864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E3123FC-DE0E-DB97-78C8-24C7DED9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043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D26620B-6FFD-60AF-9BAA-D3A3B2EF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CE17AFFF-3B94-9C95-53EC-3E7654654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1A18393-04BC-C58C-F978-D27A5C5C0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33EB2670-0D94-39CA-8C5B-97245CE8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FACF680A-01FB-DA05-8A66-206E92CD0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8489F7D-5506-2181-B284-49A6ACEB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5424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FFE633B-53C4-A012-F213-AB783985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C8D1F72-1843-EA21-EC0F-4E7E89C3B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8CFFAB2-A3C7-47AB-6CBB-65D7F439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2CD72B-1B98-B6BF-D8EE-DB0DA9CA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6804859-4338-B8E1-2533-EE339574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20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4F155061-ADF4-FDCE-1102-6EF91FC18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73C1C42B-B1F0-3FA4-3925-CBC8F87C4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4ED9FB7-6875-C81E-A649-4964802D9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06F68A0-FCA2-8881-1B6A-9989206F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738390B-515A-E95B-D812-188C03EB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602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EC93255-56C5-953A-D1D5-540169596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985F121-7751-D9F1-C0BF-5DDDA7AC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350C0EB-FE79-8712-5D6E-2C02306AF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4769B-E0C3-498F-9382-41F5A95489DE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CB8F7C1-CCA0-F545-BC07-414DB2E7B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DE31F37-74A1-ED54-0AF2-B4B4688AD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05E5F-C0BB-4F84-A9B7-E8C6858BE97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442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kubernetes.io/docs/reference/generated/kubectl/kubectl-commands#-em-deployment-em-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reference/generated/kubectl/kubectl-commands#expose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kubernetes.io/docs/reference/generated/kubectl/kubectl-commands#-em-deployment-em-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reference/generated/kubectl/kubectl-commands#expose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subhasmitadas696/step-by-step-guide-to-deploying-the-spring-pet-clinic-app-in-kubernetes-0729f632209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subhasmitadas696/step-by-step-guide-to-deploying-the-spring-pet-clinic-app-in-kubernetes-0729f632209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2E2FB7B-1657-9BB3-AB3C-F8F548790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Demo </a:t>
            </a:r>
            <a:r>
              <a:rPr lang="sv-SE" dirty="0" err="1"/>
              <a:t>app</a:t>
            </a:r>
            <a:r>
              <a:rPr lang="sv-SE" dirty="0"/>
              <a:t>: Spring </a:t>
            </a:r>
            <a:r>
              <a:rPr lang="sv-SE" dirty="0" err="1"/>
              <a:t>Boot</a:t>
            </a:r>
            <a:r>
              <a:rPr lang="sv-SE" dirty="0"/>
              <a:t> </a:t>
            </a:r>
            <a:r>
              <a:rPr lang="sv-SE" dirty="0" err="1"/>
              <a:t>Petclinic</a:t>
            </a:r>
            <a:r>
              <a:rPr lang="sv-SE" dirty="0"/>
              <a:t> in AKS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C08A638C-DA18-51BE-6F25-AE4A40D088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03227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F2CA57B-AD52-5CA8-3449-FEB167B6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Clone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 and push to Image </a:t>
            </a:r>
            <a:r>
              <a:rPr lang="sv-SE" dirty="0" err="1"/>
              <a:t>registry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C71DFB4-70FA-0002-831B-3708A90FF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 err="1">
                <a:latin typeface="source-code-pro"/>
              </a:rPr>
              <a:t>Clone</a:t>
            </a:r>
            <a:r>
              <a:rPr lang="sv-SE" dirty="0">
                <a:latin typeface="source-code-pro"/>
              </a:rPr>
              <a:t> repo</a:t>
            </a:r>
            <a:endParaRPr lang="sv-SE" b="0" i="0" dirty="0">
              <a:effectLst/>
              <a:latin typeface="source-code-pro"/>
            </a:endParaRPr>
          </a:p>
          <a:p>
            <a:pPr lvl="1"/>
            <a:r>
              <a:rPr lang="sv-SE" b="0" i="0" dirty="0" err="1">
                <a:effectLst/>
                <a:latin typeface="source-code-pro"/>
              </a:rPr>
              <a:t>git</a:t>
            </a:r>
            <a:r>
              <a:rPr lang="sv-SE" b="0" i="0" dirty="0">
                <a:effectLst/>
                <a:latin typeface="source-code-pro"/>
              </a:rPr>
              <a:t> </a:t>
            </a:r>
            <a:r>
              <a:rPr lang="sv-SE" b="0" i="0" dirty="0" err="1">
                <a:effectLst/>
                <a:latin typeface="source-code-pro"/>
              </a:rPr>
              <a:t>clone</a:t>
            </a:r>
            <a:r>
              <a:rPr lang="sv-SE" b="0" i="0" dirty="0">
                <a:effectLst/>
                <a:latin typeface="source-code-pro"/>
              </a:rPr>
              <a:t> https://github.com/subha-devops-design/petclinic-app.git</a:t>
            </a:r>
          </a:p>
          <a:p>
            <a:r>
              <a:rPr lang="sv-SE" b="0" i="0" dirty="0" err="1">
                <a:effectLst/>
                <a:latin typeface="source-code-pro"/>
              </a:rPr>
              <a:t>Build</a:t>
            </a:r>
            <a:r>
              <a:rPr lang="sv-SE" b="0" i="0" dirty="0">
                <a:effectLst/>
                <a:latin typeface="source-code-pro"/>
              </a:rPr>
              <a:t> </a:t>
            </a:r>
            <a:r>
              <a:rPr lang="sv-SE" b="0" i="0" dirty="0" err="1">
                <a:effectLst/>
                <a:latin typeface="source-code-pro"/>
              </a:rPr>
              <a:t>docker</a:t>
            </a:r>
            <a:endParaRPr lang="sv-SE" b="0" i="0" dirty="0">
              <a:effectLst/>
              <a:latin typeface="source-code-pro"/>
            </a:endParaRPr>
          </a:p>
          <a:p>
            <a:pPr lvl="1"/>
            <a:r>
              <a:rPr lang="sv-SE" b="0" i="0" dirty="0" err="1">
                <a:effectLst/>
                <a:latin typeface="source-code-pro"/>
              </a:rPr>
              <a:t>Need</a:t>
            </a:r>
            <a:r>
              <a:rPr lang="sv-SE" dirty="0" err="1">
                <a:latin typeface="source-code-pro"/>
              </a:rPr>
              <a:t>s</a:t>
            </a:r>
            <a:r>
              <a:rPr lang="sv-SE" dirty="0">
                <a:latin typeface="source-code-pro"/>
              </a:rPr>
              <a:t> a </a:t>
            </a:r>
            <a:r>
              <a:rPr lang="sv-SE" dirty="0" err="1">
                <a:latin typeface="source-code-pro"/>
              </a:rPr>
              <a:t>Dockerfile</a:t>
            </a:r>
            <a:r>
              <a:rPr lang="sv-SE" dirty="0">
                <a:latin typeface="source-code-pro"/>
              </a:rPr>
              <a:t>!</a:t>
            </a:r>
            <a:endParaRPr lang="sv-SE" b="0" i="0" dirty="0">
              <a:effectLst/>
              <a:latin typeface="source-code-pro"/>
            </a:endParaRPr>
          </a:p>
          <a:p>
            <a:pPr lvl="1"/>
            <a:r>
              <a:rPr lang="sv-SE" b="0" i="0" dirty="0" err="1">
                <a:effectLst/>
                <a:latin typeface="source-code-pro"/>
              </a:rPr>
              <a:t>docker</a:t>
            </a:r>
            <a:r>
              <a:rPr lang="sv-SE" b="0" i="0" dirty="0">
                <a:effectLst/>
                <a:latin typeface="source-code-pro"/>
              </a:rPr>
              <a:t> </a:t>
            </a:r>
            <a:r>
              <a:rPr lang="sv-SE" b="0" i="0" dirty="0" err="1">
                <a:effectLst/>
                <a:latin typeface="source-code-pro"/>
              </a:rPr>
              <a:t>build</a:t>
            </a:r>
            <a:r>
              <a:rPr lang="sv-SE" b="0" i="0" dirty="0">
                <a:effectLst/>
                <a:latin typeface="source-code-pro"/>
              </a:rPr>
              <a:t> -t &lt;</a:t>
            </a:r>
            <a:r>
              <a:rPr lang="sv-SE" b="0" i="0" dirty="0" err="1">
                <a:effectLst/>
                <a:latin typeface="source-code-pro"/>
              </a:rPr>
              <a:t>repository</a:t>
            </a:r>
            <a:r>
              <a:rPr lang="sv-SE" b="0" i="0" dirty="0">
                <a:effectLst/>
                <a:latin typeface="source-code-pro"/>
              </a:rPr>
              <a:t>&gt;/&lt;image-</a:t>
            </a:r>
            <a:r>
              <a:rPr lang="sv-SE" b="0" i="0" dirty="0" err="1">
                <a:effectLst/>
                <a:latin typeface="source-code-pro"/>
              </a:rPr>
              <a:t>name</a:t>
            </a:r>
            <a:r>
              <a:rPr lang="sv-SE" b="0" i="0" dirty="0">
                <a:effectLst/>
                <a:latin typeface="source-code-pro"/>
              </a:rPr>
              <a:t>&gt;:&lt;tag&gt; &lt;</a:t>
            </a:r>
            <a:r>
              <a:rPr lang="sv-SE" b="0" i="0" dirty="0" err="1">
                <a:effectLst/>
                <a:latin typeface="source-code-pro"/>
              </a:rPr>
              <a:t>dockerfile</a:t>
            </a:r>
            <a:r>
              <a:rPr lang="sv-SE" b="0" i="0" dirty="0">
                <a:effectLst/>
                <a:latin typeface="source-code-pro"/>
              </a:rPr>
              <a:t> </a:t>
            </a:r>
            <a:r>
              <a:rPr lang="sv-SE" b="0" i="0" dirty="0" err="1">
                <a:effectLst/>
                <a:latin typeface="source-code-pro"/>
              </a:rPr>
              <a:t>path</a:t>
            </a:r>
            <a:r>
              <a:rPr lang="sv-SE" b="0" i="0" dirty="0">
                <a:effectLst/>
                <a:latin typeface="source-code-pro"/>
              </a:rPr>
              <a:t>&gt;</a:t>
            </a:r>
          </a:p>
          <a:p>
            <a:pPr lvl="1"/>
            <a:r>
              <a:rPr lang="sv-SE" dirty="0">
                <a:latin typeface="source-code-pro"/>
              </a:rPr>
              <a:t>Tag </a:t>
            </a:r>
            <a:r>
              <a:rPr lang="sv-SE" dirty="0" err="1">
                <a:latin typeface="source-code-pro"/>
              </a:rPr>
              <a:t>needs</a:t>
            </a:r>
            <a:r>
              <a:rPr lang="sv-SE" dirty="0">
                <a:latin typeface="source-code-pro"/>
              </a:rPr>
              <a:t> to be the same as </a:t>
            </a:r>
            <a:r>
              <a:rPr lang="sv-SE" dirty="0" err="1">
                <a:latin typeface="source-code-pro"/>
              </a:rPr>
              <a:t>external</a:t>
            </a:r>
            <a:r>
              <a:rPr lang="sv-SE" dirty="0">
                <a:latin typeface="source-code-pro"/>
              </a:rPr>
              <a:t> </a:t>
            </a:r>
            <a:r>
              <a:rPr lang="sv-SE" dirty="0" err="1">
                <a:latin typeface="source-code-pro"/>
              </a:rPr>
              <a:t>registry</a:t>
            </a:r>
            <a:endParaRPr lang="sv-SE" b="0" i="0" dirty="0">
              <a:effectLst/>
              <a:latin typeface="source-code-pro"/>
            </a:endParaRPr>
          </a:p>
          <a:p>
            <a:r>
              <a:rPr lang="sv-SE" dirty="0">
                <a:latin typeface="source-code-pro"/>
              </a:rPr>
              <a:t>Check images </a:t>
            </a:r>
            <a:r>
              <a:rPr lang="sv-SE" dirty="0" err="1">
                <a:latin typeface="source-code-pro"/>
              </a:rPr>
              <a:t>locally</a:t>
            </a:r>
            <a:endParaRPr lang="sv-SE" b="0" i="0" dirty="0">
              <a:effectLst/>
              <a:latin typeface="source-code-pro"/>
            </a:endParaRPr>
          </a:p>
          <a:p>
            <a:pPr lvl="1"/>
            <a:r>
              <a:rPr lang="sv-SE" b="0" i="0" dirty="0" err="1">
                <a:effectLst/>
                <a:latin typeface="source-code-pro"/>
              </a:rPr>
              <a:t>docker</a:t>
            </a:r>
            <a:r>
              <a:rPr lang="sv-SE" b="0" i="0" dirty="0">
                <a:effectLst/>
                <a:latin typeface="source-code-pro"/>
              </a:rPr>
              <a:t> images</a:t>
            </a:r>
          </a:p>
          <a:p>
            <a:r>
              <a:rPr lang="sv-SE" dirty="0">
                <a:latin typeface="source-code-pro"/>
              </a:rPr>
              <a:t>Login and push to </a:t>
            </a:r>
            <a:r>
              <a:rPr lang="sv-SE" dirty="0" err="1">
                <a:latin typeface="source-code-pro"/>
              </a:rPr>
              <a:t>external</a:t>
            </a:r>
            <a:r>
              <a:rPr lang="sv-SE" dirty="0">
                <a:latin typeface="source-code-pro"/>
              </a:rPr>
              <a:t> </a:t>
            </a:r>
            <a:r>
              <a:rPr lang="sv-SE" dirty="0" err="1">
                <a:latin typeface="source-code-pro"/>
              </a:rPr>
              <a:t>registry</a:t>
            </a:r>
            <a:endParaRPr lang="sv-SE" dirty="0">
              <a:latin typeface="source-code-pro"/>
            </a:endParaRPr>
          </a:p>
          <a:p>
            <a:pPr lvl="1"/>
            <a:r>
              <a:rPr lang="sv-SE" dirty="0" err="1">
                <a:latin typeface="source-code-pro"/>
              </a:rPr>
              <a:t>Docker</a:t>
            </a:r>
            <a:r>
              <a:rPr lang="sv-SE" dirty="0">
                <a:latin typeface="source-code-pro"/>
              </a:rPr>
              <a:t> login</a:t>
            </a:r>
          </a:p>
          <a:p>
            <a:pPr lvl="1"/>
            <a:r>
              <a:rPr lang="sv-SE" dirty="0" err="1">
                <a:latin typeface="source-code-pro"/>
              </a:rPr>
              <a:t>Docker</a:t>
            </a:r>
            <a:r>
              <a:rPr lang="sv-SE" dirty="0">
                <a:latin typeface="source-code-pro"/>
              </a:rPr>
              <a:t> push</a:t>
            </a:r>
            <a:endParaRPr lang="sv-SE" b="0" i="0" dirty="0">
              <a:effectLst/>
              <a:latin typeface="source-code-pro"/>
            </a:endParaRPr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830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3EB34D3-8A67-29A3-2141-815EFDC76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 </a:t>
            </a:r>
            <a:r>
              <a:rPr lang="sv-SE" dirty="0" err="1"/>
              <a:t>Dockerfile</a:t>
            </a:r>
            <a:r>
              <a:rPr lang="sv-SE" dirty="0"/>
              <a:t> in </a:t>
            </a:r>
            <a:r>
              <a:rPr lang="sv-SE" dirty="0" err="1"/>
              <a:t>petclinic</a:t>
            </a:r>
            <a:endParaRPr lang="sv-SE" dirty="0"/>
          </a:p>
        </p:txBody>
      </p:sp>
      <p:pic>
        <p:nvPicPr>
          <p:cNvPr id="5" name="Platshållare för innehåll 4" descr="En bild som visar text, skärmbild, programvara, Multimedieprogram&#10;&#10;AI-genererat innehåll kan vara felaktigt.">
            <a:extLst>
              <a:ext uri="{FF2B5EF4-FFF2-40B4-BE49-F238E27FC236}">
                <a16:creationId xmlns:a16="http://schemas.microsoft.com/office/drawing/2014/main" id="{4C9407E1-5B55-AA92-3C0C-24769C9A6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593" y="1690688"/>
            <a:ext cx="7162407" cy="4152363"/>
          </a:xfrm>
        </p:spPr>
      </p:pic>
    </p:spTree>
    <p:extLst>
      <p:ext uri="{BB962C8B-B14F-4D97-AF65-F5344CB8AC3E}">
        <p14:creationId xmlns:p14="http://schemas.microsoft.com/office/powerpoint/2010/main" val="916011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F85BA7-2FA0-B429-C000-027CBFE1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Push to ACR (</a:t>
            </a:r>
            <a:r>
              <a:rPr lang="sv-SE" dirty="0" err="1"/>
              <a:t>Azure</a:t>
            </a:r>
            <a:r>
              <a:rPr lang="sv-SE" dirty="0"/>
              <a:t> </a:t>
            </a:r>
            <a:r>
              <a:rPr lang="sv-SE" dirty="0" err="1"/>
              <a:t>Kubernete</a:t>
            </a:r>
            <a:r>
              <a:rPr lang="sv-SE" dirty="0"/>
              <a:t> </a:t>
            </a:r>
            <a:r>
              <a:rPr lang="sv-SE" dirty="0" err="1"/>
              <a:t>Registry</a:t>
            </a:r>
            <a:r>
              <a:rPr lang="sv-SE" dirty="0"/>
              <a:t>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84B7FC3-40E8-AC5F-BF4D-E1AE51B3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Needs</a:t>
            </a:r>
            <a:r>
              <a:rPr lang="sv-SE" dirty="0"/>
              <a:t> to </a:t>
            </a:r>
            <a:r>
              <a:rPr lang="sv-SE" dirty="0" err="1"/>
              <a:t>have</a:t>
            </a:r>
            <a:r>
              <a:rPr lang="sv-SE" dirty="0"/>
              <a:t> the </a:t>
            </a:r>
            <a:r>
              <a:rPr lang="sv-SE" dirty="0" err="1"/>
              <a:t>correct</a:t>
            </a:r>
            <a:r>
              <a:rPr lang="sv-SE" dirty="0"/>
              <a:t> permissions in </a:t>
            </a:r>
            <a:r>
              <a:rPr lang="sv-SE" dirty="0" err="1"/>
              <a:t>azure</a:t>
            </a:r>
            <a:r>
              <a:rPr lang="sv-SE" dirty="0"/>
              <a:t> </a:t>
            </a:r>
            <a:r>
              <a:rPr lang="sv-SE" dirty="0" err="1"/>
              <a:t>first</a:t>
            </a:r>
            <a:r>
              <a:rPr lang="sv-SE" dirty="0"/>
              <a:t>!</a:t>
            </a:r>
          </a:p>
          <a:p>
            <a:pPr lvl="1"/>
            <a:r>
              <a:rPr lang="sv-SE" dirty="0"/>
              <a:t>Login and </a:t>
            </a:r>
            <a:r>
              <a:rPr lang="sv-SE" dirty="0" err="1"/>
              <a:t>also</a:t>
            </a:r>
            <a:r>
              <a:rPr lang="sv-SE" dirty="0"/>
              <a:t> show </a:t>
            </a:r>
            <a:r>
              <a:rPr lang="sv-SE" dirty="0" err="1"/>
              <a:t>your</a:t>
            </a:r>
            <a:r>
              <a:rPr lang="sv-SE" dirty="0"/>
              <a:t> token:</a:t>
            </a:r>
          </a:p>
          <a:p>
            <a:pPr lvl="2"/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login --name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considdfd</a:t>
            </a:r>
            <a:endParaRPr lang="sv-SE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b="0" dirty="0">
                <a:effectLst/>
                <a:latin typeface="Consolas" panose="020B0609020204030204" pitchFamily="49" charset="0"/>
              </a:rPr>
              <a:t>Login to </a:t>
            </a:r>
            <a:r>
              <a:rPr lang="en-US" dirty="0" err="1">
                <a:latin typeface="Consolas" panose="020B0609020204030204" pitchFamily="49" charset="0"/>
              </a:rPr>
              <a:t>acr</a:t>
            </a:r>
            <a:r>
              <a:rPr lang="en-US" dirty="0">
                <a:latin typeface="Consolas" panose="020B0609020204030204" pitchFamily="49" charset="0"/>
              </a:rPr>
              <a:t> with default user</a:t>
            </a:r>
          </a:p>
          <a:p>
            <a:pPr lvl="2"/>
            <a:r>
              <a:rPr lang="sv-S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sv-S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login considdfd.azurecr</a:t>
            </a:r>
            <a:r>
              <a:rPr lang="sv-SE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.io</a:t>
            </a:r>
            <a:endParaRPr lang="sv-S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Push image to ACR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Image needs to be tagged with </a:t>
            </a:r>
            <a:r>
              <a:rPr lang="sv-SE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considdfd.azurecr.io/</a:t>
            </a:r>
            <a:r>
              <a:rPr lang="sv-SE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image-name:tag</a:t>
            </a:r>
            <a:endParaRPr lang="sv-SE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lvl="2"/>
            <a:r>
              <a:rPr lang="sv-SE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docker</a:t>
            </a:r>
            <a:r>
              <a:rPr lang="sv-SE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push </a:t>
            </a:r>
            <a:r>
              <a:rPr lang="sv-SE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considdfd.azurecr.io/</a:t>
            </a:r>
            <a:r>
              <a:rPr lang="sv-SE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image-name:tag</a:t>
            </a:r>
            <a:endParaRPr lang="sv-SE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lvl="2"/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You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can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now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use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the image in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your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deployment</a:t>
            </a:r>
            <a:endParaRPr lang="en-US" sz="20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56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77BD11-83BC-3047-56D2-DA4ABAAA3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compose</a:t>
            </a:r>
            <a:r>
              <a:rPr lang="sv-SE" dirty="0"/>
              <a:t> in </a:t>
            </a:r>
            <a:r>
              <a:rPr lang="sv-SE" dirty="0" err="1"/>
              <a:t>petclinic</a:t>
            </a:r>
            <a:r>
              <a:rPr lang="sv-SE" dirty="0"/>
              <a:t> </a:t>
            </a:r>
            <a:r>
              <a:rPr lang="sv-SE" dirty="0" err="1"/>
              <a:t>app</a:t>
            </a:r>
            <a:endParaRPr lang="sv-SE" dirty="0"/>
          </a:p>
        </p:txBody>
      </p:sp>
      <p:pic>
        <p:nvPicPr>
          <p:cNvPr id="13" name="Bildobjekt 12" descr="En bild som visar text, skärmbild, Teckensnitt, programvara&#10;&#10;AI-genererat innehåll kan vara felaktigt.">
            <a:extLst>
              <a:ext uri="{FF2B5EF4-FFF2-40B4-BE49-F238E27FC236}">
                <a16:creationId xmlns:a16="http://schemas.microsoft.com/office/drawing/2014/main" id="{57BA67BD-9B65-48AA-1DED-51631427F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05" y="1426988"/>
            <a:ext cx="5188017" cy="493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4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1DF8838-6078-D960-EF85-76A05ABE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Create</a:t>
            </a:r>
            <a:r>
              <a:rPr lang="sv-SE" dirty="0"/>
              <a:t> a </a:t>
            </a:r>
            <a:r>
              <a:rPr lang="sv-SE" dirty="0" err="1"/>
              <a:t>namespace</a:t>
            </a:r>
            <a:r>
              <a:rPr lang="sv-SE" dirty="0"/>
              <a:t> for the </a:t>
            </a:r>
            <a:r>
              <a:rPr lang="sv-SE" dirty="0" err="1"/>
              <a:t>app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A4A582A-8AC9-9E38-F661-343AB5AA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namespace</a:t>
            </a:r>
            <a:endParaRPr lang="sv-SE" dirty="0"/>
          </a:p>
          <a:p>
            <a:pPr lvl="1"/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ns</a:t>
            </a:r>
            <a:r>
              <a:rPr lang="sv-SE" dirty="0"/>
              <a:t> </a:t>
            </a:r>
            <a:r>
              <a:rPr lang="sv-SE" dirty="0" err="1"/>
              <a:t>dev</a:t>
            </a:r>
            <a:endParaRPr lang="sv-SE" dirty="0"/>
          </a:p>
          <a:p>
            <a:r>
              <a:rPr lang="sv-SE" dirty="0"/>
              <a:t>Get </a:t>
            </a:r>
            <a:r>
              <a:rPr lang="sv-SE" dirty="0" err="1"/>
              <a:t>namespace</a:t>
            </a:r>
            <a:endParaRPr lang="sv-SE" dirty="0"/>
          </a:p>
          <a:p>
            <a:pPr lvl="1"/>
            <a:r>
              <a:rPr lang="sv-SE" dirty="0" err="1"/>
              <a:t>kubectl</a:t>
            </a:r>
            <a:r>
              <a:rPr lang="sv-SE" dirty="0"/>
              <a:t> get </a:t>
            </a:r>
            <a:r>
              <a:rPr lang="sv-SE" dirty="0" err="1"/>
              <a:t>ns</a:t>
            </a:r>
            <a:r>
              <a:rPr lang="sv-SE" dirty="0"/>
              <a:t> </a:t>
            </a:r>
          </a:p>
          <a:p>
            <a:r>
              <a:rPr lang="en-US" i="0" dirty="0">
                <a:effectLst/>
                <a:latin typeface="source-code-pro"/>
              </a:rPr>
              <a:t>Switch Namespace</a:t>
            </a:r>
          </a:p>
          <a:p>
            <a:pPr lvl="1"/>
            <a:r>
              <a:rPr lang="en-US" i="0" dirty="0" err="1">
                <a:effectLst/>
                <a:latin typeface="source-code-pro"/>
              </a:rPr>
              <a:t>kubectl</a:t>
            </a:r>
            <a:r>
              <a:rPr lang="en-US" i="0" dirty="0">
                <a:effectLst/>
                <a:latin typeface="source-code-pro"/>
              </a:rPr>
              <a:t> config set-context --current --namespace=dev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9280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9520F9B-D948-A5BC-8CF3-00732299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Kubernetes</a:t>
            </a:r>
            <a:r>
              <a:rPr lang="sv-SE" dirty="0"/>
              <a:t> </a:t>
            </a:r>
            <a:r>
              <a:rPr lang="sv-SE" dirty="0" err="1"/>
              <a:t>objects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F440877-AB2F-E5A6-554B-509BD83CF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Create</a:t>
            </a:r>
            <a:r>
              <a:rPr lang="sv-SE" dirty="0"/>
              <a:t> from </a:t>
            </a:r>
            <a:r>
              <a:rPr lang="sv-SE" dirty="0" err="1"/>
              <a:t>kubectl</a:t>
            </a:r>
            <a:r>
              <a:rPr lang="sv-SE" dirty="0"/>
              <a:t> or </a:t>
            </a:r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file</a:t>
            </a:r>
            <a:endParaRPr lang="sv-SE" dirty="0"/>
          </a:p>
          <a:p>
            <a:pPr lvl="1"/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 &lt;</a:t>
            </a:r>
            <a:r>
              <a:rPr lang="sv-SE" dirty="0" err="1"/>
              <a:t>type</a:t>
            </a:r>
            <a:r>
              <a:rPr lang="sv-SE" dirty="0"/>
              <a:t>&gt;  &lt;</a:t>
            </a:r>
            <a:r>
              <a:rPr lang="sv-SE" dirty="0" err="1"/>
              <a:t>name</a:t>
            </a:r>
            <a:r>
              <a:rPr lang="sv-SE" dirty="0"/>
              <a:t>&gt;  &lt;</a:t>
            </a:r>
            <a:r>
              <a:rPr lang="sv-SE" dirty="0" err="1"/>
              <a:t>config</a:t>
            </a:r>
            <a:r>
              <a:rPr lang="sv-SE" dirty="0"/>
              <a:t> flags&gt;</a:t>
            </a:r>
          </a:p>
          <a:p>
            <a:pPr lvl="1"/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 –f &lt;</a:t>
            </a:r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&gt;</a:t>
            </a:r>
          </a:p>
          <a:p>
            <a:r>
              <a:rPr lang="sv-SE" dirty="0" err="1"/>
              <a:t>Generate</a:t>
            </a:r>
            <a:r>
              <a:rPr lang="sv-SE" dirty="0"/>
              <a:t> </a:t>
            </a:r>
            <a:r>
              <a:rPr lang="sv-SE" dirty="0" err="1"/>
              <a:t>yaml</a:t>
            </a:r>
            <a:r>
              <a:rPr lang="sv-SE" dirty="0"/>
              <a:t> from </a:t>
            </a:r>
            <a:r>
              <a:rPr lang="sv-SE" dirty="0" err="1"/>
              <a:t>command</a:t>
            </a:r>
            <a:endParaRPr lang="sv-SE" dirty="0"/>
          </a:p>
          <a:p>
            <a:pPr lvl="1"/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 &lt;</a:t>
            </a:r>
            <a:r>
              <a:rPr lang="sv-SE" dirty="0" err="1"/>
              <a:t>type</a:t>
            </a:r>
            <a:r>
              <a:rPr lang="sv-SE" dirty="0"/>
              <a:t>&gt;  &lt;</a:t>
            </a:r>
            <a:r>
              <a:rPr lang="sv-SE" dirty="0" err="1"/>
              <a:t>name</a:t>
            </a:r>
            <a:r>
              <a:rPr lang="sv-SE" dirty="0"/>
              <a:t>&gt;  &lt;</a:t>
            </a:r>
            <a:r>
              <a:rPr lang="sv-SE" dirty="0" err="1"/>
              <a:t>config</a:t>
            </a:r>
            <a:r>
              <a:rPr lang="sv-SE" dirty="0"/>
              <a:t> flags&gt;  --</a:t>
            </a:r>
            <a:r>
              <a:rPr lang="sv-SE" dirty="0" err="1"/>
              <a:t>dry-run</a:t>
            </a:r>
            <a:r>
              <a:rPr lang="sv-SE" dirty="0"/>
              <a:t>=</a:t>
            </a:r>
            <a:r>
              <a:rPr lang="sv-SE" dirty="0" err="1"/>
              <a:t>client</a:t>
            </a:r>
            <a:r>
              <a:rPr lang="sv-SE" dirty="0"/>
              <a:t> -o=</a:t>
            </a:r>
            <a:r>
              <a:rPr lang="sv-SE" dirty="0" err="1"/>
              <a:t>yaml</a:t>
            </a:r>
            <a:r>
              <a:rPr lang="sv-SE" dirty="0"/>
              <a:t> &gt; </a:t>
            </a:r>
            <a:r>
              <a:rPr lang="sv-SE" dirty="0" err="1"/>
              <a:t>myfile.yaml</a:t>
            </a:r>
            <a:endParaRPr lang="sv-SE" dirty="0"/>
          </a:p>
          <a:p>
            <a:pPr lvl="1"/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modify</a:t>
            </a:r>
            <a:r>
              <a:rPr lang="sv-SE" dirty="0"/>
              <a:t> </a:t>
            </a:r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</a:t>
            </a:r>
            <a:r>
              <a:rPr lang="sv-SE" dirty="0" err="1"/>
              <a:t>creating</a:t>
            </a:r>
            <a:r>
              <a:rPr lang="sv-SE" dirty="0"/>
              <a:t> it, like </a:t>
            </a:r>
            <a:r>
              <a:rPr lang="sv-SE" dirty="0" err="1"/>
              <a:t>adding</a:t>
            </a:r>
            <a:r>
              <a:rPr lang="sv-SE" dirty="0"/>
              <a:t> </a:t>
            </a:r>
            <a:r>
              <a:rPr lang="sv-SE" dirty="0" err="1"/>
              <a:t>env</a:t>
            </a:r>
            <a:r>
              <a:rPr lang="sv-SE" dirty="0"/>
              <a:t> </a:t>
            </a:r>
            <a:r>
              <a:rPr lang="sv-SE" dirty="0" err="1"/>
              <a:t>field</a:t>
            </a:r>
            <a:r>
              <a:rPr lang="sv-SE" dirty="0"/>
              <a:t> for </a:t>
            </a:r>
            <a:r>
              <a:rPr lang="sv-SE" dirty="0" err="1"/>
              <a:t>example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3770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C622DD9-9E22-8521-4D22-62A79669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Finding</a:t>
            </a:r>
            <a:r>
              <a:rPr lang="sv-SE" dirty="0"/>
              <a:t> </a:t>
            </a:r>
            <a:r>
              <a:rPr lang="sv-SE" dirty="0" err="1"/>
              <a:t>errors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9965ED8-2202-9529-EF63-2DC977127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/>
              <a:t>Checkings logs</a:t>
            </a:r>
          </a:p>
          <a:p>
            <a:pPr lvl="1"/>
            <a:r>
              <a:rPr lang="sv-SE" dirty="0" err="1"/>
              <a:t>kubectl</a:t>
            </a:r>
            <a:r>
              <a:rPr lang="sv-SE" dirty="0"/>
              <a:t> logs </a:t>
            </a:r>
            <a:r>
              <a:rPr lang="sv-SE" dirty="0" err="1"/>
              <a:t>pod</a:t>
            </a:r>
            <a:r>
              <a:rPr lang="sv-SE" dirty="0"/>
              <a:t>/&lt;</a:t>
            </a:r>
            <a:r>
              <a:rPr lang="sv-SE" dirty="0" err="1"/>
              <a:t>name</a:t>
            </a:r>
            <a:r>
              <a:rPr lang="sv-SE" dirty="0"/>
              <a:t>&gt; </a:t>
            </a:r>
          </a:p>
          <a:p>
            <a:r>
              <a:rPr lang="sv-SE" dirty="0" err="1"/>
              <a:t>Attaching</a:t>
            </a:r>
            <a:r>
              <a:rPr lang="sv-SE" dirty="0"/>
              <a:t> to a </a:t>
            </a:r>
            <a:r>
              <a:rPr lang="sv-SE" dirty="0" err="1"/>
              <a:t>pod</a:t>
            </a:r>
            <a:r>
              <a:rPr lang="sv-SE" dirty="0"/>
              <a:t>/container</a:t>
            </a:r>
          </a:p>
          <a:p>
            <a:pPr lvl="1"/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exec</a:t>
            </a:r>
            <a:r>
              <a:rPr lang="sv-SE" dirty="0"/>
              <a:t> –it -- bin/</a:t>
            </a:r>
            <a:r>
              <a:rPr lang="sv-SE" dirty="0" err="1"/>
              <a:t>sh</a:t>
            </a:r>
            <a:endParaRPr lang="sv-SE" dirty="0"/>
          </a:p>
          <a:p>
            <a:pPr lvl="1"/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look inside the </a:t>
            </a:r>
            <a:r>
              <a:rPr lang="sv-SE" dirty="0" err="1"/>
              <a:t>file</a:t>
            </a:r>
            <a:r>
              <a:rPr lang="sv-SE" dirty="0"/>
              <a:t> system </a:t>
            </a:r>
          </a:p>
          <a:p>
            <a:r>
              <a:rPr lang="sv-SE" dirty="0"/>
              <a:t>Show events for </a:t>
            </a:r>
            <a:r>
              <a:rPr lang="sv-SE" dirty="0" err="1"/>
              <a:t>resources</a:t>
            </a:r>
            <a:endParaRPr lang="sv-SE" dirty="0"/>
          </a:p>
          <a:p>
            <a:pPr lvl="1"/>
            <a:r>
              <a:rPr lang="en-US" dirty="0" err="1"/>
              <a:t>kubectl</a:t>
            </a:r>
            <a:r>
              <a:rPr lang="en-US" dirty="0"/>
              <a:t> events --types=</a:t>
            </a:r>
            <a:r>
              <a:rPr lang="en-US" dirty="0" err="1"/>
              <a:t>Warning,Normal</a:t>
            </a:r>
            <a:endParaRPr lang="en-US" dirty="0"/>
          </a:p>
          <a:p>
            <a:pPr lvl="1"/>
            <a:r>
              <a:rPr lang="en-US" dirty="0" err="1"/>
              <a:t>kubectl</a:t>
            </a:r>
            <a:r>
              <a:rPr lang="en-US" dirty="0"/>
              <a:t> events --for pod/pod-name --watch</a:t>
            </a:r>
            <a:endParaRPr lang="sv-SE" dirty="0"/>
          </a:p>
          <a:p>
            <a:r>
              <a:rPr lang="sv-SE" dirty="0"/>
              <a:t>Start a </a:t>
            </a:r>
            <a:r>
              <a:rPr lang="sv-SE" dirty="0" err="1"/>
              <a:t>debug</a:t>
            </a:r>
            <a:r>
              <a:rPr lang="sv-SE" dirty="0"/>
              <a:t> copy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keeps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running</a:t>
            </a:r>
            <a:r>
              <a:rPr lang="sv-SE" dirty="0"/>
              <a:t> </a:t>
            </a:r>
            <a:r>
              <a:rPr lang="sv-SE" dirty="0" err="1"/>
              <a:t>even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failed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, to look for </a:t>
            </a:r>
            <a:r>
              <a:rPr lang="sv-SE" dirty="0" err="1"/>
              <a:t>errors</a:t>
            </a:r>
            <a:endParaRPr lang="sv-SE" dirty="0"/>
          </a:p>
          <a:p>
            <a:pPr lvl="1"/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debug</a:t>
            </a:r>
            <a:r>
              <a:rPr lang="sv-SE" dirty="0"/>
              <a:t> </a:t>
            </a:r>
            <a:r>
              <a:rPr lang="sv-SE" dirty="0" err="1"/>
              <a:t>pod</a:t>
            </a:r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128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21405BA-ED79-4BED-8B95-707C3158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10 </a:t>
            </a:r>
            <a:r>
              <a:rPr lang="sv-SE" dirty="0" err="1"/>
              <a:t>minute</a:t>
            </a:r>
            <a:r>
              <a:rPr lang="sv-SE" dirty="0"/>
              <a:t> </a:t>
            </a:r>
            <a:r>
              <a:rPr lang="sv-SE" dirty="0" err="1"/>
              <a:t>challenge</a:t>
            </a:r>
            <a:r>
              <a:rPr lang="sv-SE" dirty="0"/>
              <a:t> : </a:t>
            </a:r>
            <a:r>
              <a:rPr lang="sv-SE" dirty="0" err="1"/>
              <a:t>Create</a:t>
            </a:r>
            <a:r>
              <a:rPr lang="sv-SE" dirty="0"/>
              <a:t> the </a:t>
            </a:r>
            <a:r>
              <a:rPr lang="sv-SE" dirty="0" err="1"/>
              <a:t>database</a:t>
            </a:r>
            <a:r>
              <a:rPr lang="sv-SE" dirty="0"/>
              <a:t> for </a:t>
            </a:r>
            <a:r>
              <a:rPr lang="sv-SE" dirty="0" err="1"/>
              <a:t>petclinic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27F70DE-EE45-FD29-2E38-43B7EB7C8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Requirements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9CFB4DB-4AE1-43D6-B02A-B022A2D3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4352925"/>
          </a:xfrm>
        </p:spPr>
        <p:txBody>
          <a:bodyPr>
            <a:normAutofit fontScale="92500" lnSpcReduction="20000"/>
          </a:bodyPr>
          <a:lstStyle/>
          <a:p>
            <a:r>
              <a:rPr lang="sv-SE" dirty="0" err="1"/>
              <a:t>Create</a:t>
            </a:r>
            <a:r>
              <a:rPr lang="sv-SE" dirty="0"/>
              <a:t> a </a:t>
            </a:r>
            <a:r>
              <a:rPr lang="sv-SE" dirty="0" err="1"/>
              <a:t>deployment</a:t>
            </a:r>
            <a:r>
              <a:rPr lang="sv-SE" dirty="0"/>
              <a:t> for the </a:t>
            </a:r>
            <a:r>
              <a:rPr lang="sv-SE" dirty="0" err="1"/>
              <a:t>database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app</a:t>
            </a:r>
            <a:r>
              <a:rPr lang="sv-SE" dirty="0"/>
              <a:t>:</a:t>
            </a:r>
          </a:p>
          <a:p>
            <a:r>
              <a:rPr lang="sv-SE" dirty="0"/>
              <a:t>Image=</a:t>
            </a:r>
            <a:r>
              <a:rPr lang="sv-S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mysql:8.4</a:t>
            </a:r>
            <a:endParaRPr lang="sv-S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sv-SE" dirty="0" err="1"/>
              <a:t>Name</a:t>
            </a:r>
            <a:r>
              <a:rPr lang="sv-SE" dirty="0"/>
              <a:t>=</a:t>
            </a:r>
            <a:r>
              <a:rPr lang="sv-SE" dirty="0" err="1"/>
              <a:t>mysql-db</a:t>
            </a:r>
            <a:endParaRPr lang="sv-SE" dirty="0"/>
          </a:p>
          <a:p>
            <a:r>
              <a:rPr lang="sv-SE" dirty="0"/>
              <a:t>Port=3306</a:t>
            </a:r>
          </a:p>
          <a:p>
            <a:r>
              <a:rPr lang="sv-SE" dirty="0" err="1"/>
              <a:t>Use</a:t>
            </a:r>
            <a:r>
              <a:rPr lang="sv-SE" dirty="0"/>
              <a:t> a </a:t>
            </a:r>
            <a:r>
              <a:rPr lang="sv-SE" dirty="0" err="1"/>
              <a:t>suitable</a:t>
            </a:r>
            <a:r>
              <a:rPr lang="sv-SE" dirty="0"/>
              <a:t> </a:t>
            </a:r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command</a:t>
            </a:r>
            <a:r>
              <a:rPr lang="sv-SE" dirty="0"/>
              <a:t> and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modify</a:t>
            </a:r>
            <a:r>
              <a:rPr lang="sv-SE" dirty="0"/>
              <a:t> the </a:t>
            </a:r>
            <a:r>
              <a:rPr lang="sv-SE" dirty="0" err="1"/>
              <a:t>yaml</a:t>
            </a:r>
            <a:r>
              <a:rPr lang="sv-SE" dirty="0"/>
              <a:t> to set the </a:t>
            </a:r>
            <a:r>
              <a:rPr lang="sv-SE" dirty="0" err="1"/>
              <a:t>env</a:t>
            </a:r>
            <a:r>
              <a:rPr lang="sv-SE" dirty="0"/>
              <a:t> </a:t>
            </a:r>
            <a:r>
              <a:rPr lang="sv-SE" dirty="0" err="1"/>
              <a:t>fields</a:t>
            </a:r>
            <a:r>
              <a:rPr lang="sv-SE" dirty="0"/>
              <a:t>.</a:t>
            </a:r>
          </a:p>
          <a:p>
            <a:r>
              <a:rPr lang="sv-SE" dirty="0">
                <a:hlinkClick r:id="rId2"/>
              </a:rPr>
              <a:t>https://kubernetes.io/docs/reference/generated/kubectl/kubectl-commands#-em-deployment-em-</a:t>
            </a:r>
            <a:endParaRPr lang="sv-SE" dirty="0"/>
          </a:p>
          <a:p>
            <a:endParaRPr lang="sv-SE" dirty="0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BA6D1975-0D62-974F-FBF0-C2FFE25D5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v-SE" dirty="0" err="1"/>
              <a:t>Env</a:t>
            </a:r>
            <a:r>
              <a:rPr lang="sv-SE" dirty="0"/>
              <a:t> inside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be</a:t>
            </a:r>
          </a:p>
        </p:txBody>
      </p:sp>
      <p:pic>
        <p:nvPicPr>
          <p:cNvPr id="9" name="Bildobjekt 8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5D3207E2-7758-4384-7779-EF5F947B9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233" y="2741406"/>
            <a:ext cx="4437988" cy="261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4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DE3C1B-B6AB-318C-A556-5F504D351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10 </a:t>
            </a:r>
            <a:r>
              <a:rPr lang="sv-SE" dirty="0" err="1"/>
              <a:t>minute</a:t>
            </a:r>
            <a:r>
              <a:rPr lang="sv-SE" dirty="0"/>
              <a:t> </a:t>
            </a:r>
            <a:r>
              <a:rPr lang="sv-SE" dirty="0" err="1"/>
              <a:t>challenge</a:t>
            </a:r>
            <a:r>
              <a:rPr lang="sv-SE" dirty="0"/>
              <a:t>: </a:t>
            </a:r>
            <a:r>
              <a:rPr lang="sv-SE" dirty="0" err="1"/>
              <a:t>Create</a:t>
            </a:r>
            <a:r>
              <a:rPr lang="sv-SE" dirty="0"/>
              <a:t> Cluster IP service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AA0DDD9-E11A-262E-8591-2556260BB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5" y="1681163"/>
            <a:ext cx="5157787" cy="823912"/>
          </a:xfrm>
        </p:spPr>
        <p:txBody>
          <a:bodyPr/>
          <a:lstStyle/>
          <a:p>
            <a:r>
              <a:rPr lang="sv-SE" dirty="0" err="1"/>
              <a:t>Requirements</a:t>
            </a:r>
            <a:endParaRPr lang="sv-SE" dirty="0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B6A566E4-D448-7006-743D-8D7258C33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7106" y="2505075"/>
            <a:ext cx="5157787" cy="3684588"/>
          </a:xfrm>
        </p:spPr>
        <p:txBody>
          <a:bodyPr/>
          <a:lstStyle/>
          <a:p>
            <a:r>
              <a:rPr lang="sv-SE" dirty="0" err="1"/>
              <a:t>Name</a:t>
            </a:r>
            <a:r>
              <a:rPr lang="sv-SE" dirty="0"/>
              <a:t>: </a:t>
            </a:r>
            <a:r>
              <a:rPr lang="sv-SE" dirty="0" err="1"/>
              <a:t>mysql</a:t>
            </a:r>
            <a:r>
              <a:rPr lang="sv-SE" dirty="0"/>
              <a:t>-service</a:t>
            </a:r>
          </a:p>
          <a:p>
            <a:r>
              <a:rPr lang="sv-SE" dirty="0"/>
              <a:t>Port: 3306</a:t>
            </a:r>
          </a:p>
          <a:p>
            <a:r>
              <a:rPr lang="sv-SE" dirty="0"/>
              <a:t>Target-Port: 3306</a:t>
            </a:r>
          </a:p>
          <a:p>
            <a:r>
              <a:rPr lang="sv-SE" dirty="0" err="1"/>
              <a:t>Type</a:t>
            </a:r>
            <a:r>
              <a:rPr lang="sv-SE" dirty="0"/>
              <a:t>: </a:t>
            </a:r>
            <a:r>
              <a:rPr lang="sv-SE" dirty="0" err="1"/>
              <a:t>ClusterIP</a:t>
            </a:r>
            <a:endParaRPr lang="sv-SE" dirty="0"/>
          </a:p>
          <a:p>
            <a:r>
              <a:rPr lang="sv-SE" dirty="0">
                <a:hlinkClick r:id="rId2"/>
              </a:rPr>
              <a:t>https://kubernetes.io/docs/reference/generated/kubectl/kubectl-commands#expose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6146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BC0D856E-DC7B-4131-EC3E-88129573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10 min </a:t>
            </a:r>
            <a:r>
              <a:rPr lang="sv-SE" dirty="0" err="1"/>
              <a:t>challenge</a:t>
            </a:r>
            <a:r>
              <a:rPr lang="sv-SE" dirty="0"/>
              <a:t> check status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db</a:t>
            </a:r>
            <a:endParaRPr lang="sv-SE" dirty="0"/>
          </a:p>
        </p:txBody>
      </p:sp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2C990AEA-0DD7-E9E8-F0C9-D11E8DCA3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Find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dirty="0" err="1">
                <a:solidFill>
                  <a:srgbClr val="242424"/>
                </a:solidFill>
                <a:latin typeface="source-code-pro"/>
              </a:rPr>
              <a:t>your</a:t>
            </a:r>
            <a:r>
              <a:rPr lang="sv-SE" dirty="0">
                <a:solidFill>
                  <a:srgbClr val="242424"/>
                </a:solidFill>
                <a:latin typeface="source-code-pro"/>
              </a:rPr>
              <a:t> </a:t>
            </a:r>
            <a:r>
              <a:rPr lang="sv-SE" dirty="0" err="1">
                <a:solidFill>
                  <a:srgbClr val="242424"/>
                </a:solidFill>
                <a:latin typeface="source-code-pro"/>
              </a:rPr>
              <a:t>pod</a:t>
            </a:r>
            <a:r>
              <a:rPr lang="sv-SE" dirty="0">
                <a:solidFill>
                  <a:srgbClr val="242424"/>
                </a:solidFill>
                <a:latin typeface="source-code-pro"/>
              </a:rPr>
              <a:t> </a:t>
            </a:r>
            <a:r>
              <a:rPr lang="sv-SE" dirty="0" err="1">
                <a:solidFill>
                  <a:srgbClr val="242424"/>
                </a:solidFill>
                <a:latin typeface="source-code-pro"/>
              </a:rPr>
              <a:t>name</a:t>
            </a:r>
            <a:r>
              <a:rPr lang="sv-SE" dirty="0">
                <a:solidFill>
                  <a:srgbClr val="242424"/>
                </a:solidFill>
                <a:latin typeface="source-code-pro"/>
              </a:rPr>
              <a:t> and </a:t>
            </a:r>
            <a:r>
              <a:rPr lang="sv-SE" dirty="0" err="1">
                <a:solidFill>
                  <a:srgbClr val="242424"/>
                </a:solidFill>
                <a:latin typeface="source-code-pro"/>
              </a:rPr>
              <a:t>then</a:t>
            </a:r>
            <a:r>
              <a:rPr lang="sv-SE" dirty="0">
                <a:solidFill>
                  <a:srgbClr val="242424"/>
                </a:solidFill>
                <a:latin typeface="source-code-pro"/>
              </a:rPr>
              <a:t> </a:t>
            </a:r>
            <a:r>
              <a:rPr lang="sv-SE" dirty="0" err="1">
                <a:solidFill>
                  <a:srgbClr val="242424"/>
                </a:solidFill>
                <a:latin typeface="source-code-pro"/>
              </a:rPr>
              <a:t>use</a:t>
            </a:r>
            <a:r>
              <a:rPr lang="sv-SE" dirty="0">
                <a:solidFill>
                  <a:srgbClr val="242424"/>
                </a:solidFill>
                <a:latin typeface="source-code-pro"/>
              </a:rPr>
              <a:t> the </a:t>
            </a:r>
            <a:r>
              <a:rPr lang="sv-SE" dirty="0" err="1">
                <a:solidFill>
                  <a:srgbClr val="242424"/>
                </a:solidFill>
                <a:latin typeface="source-code-pro"/>
              </a:rPr>
              <a:t>commands</a:t>
            </a:r>
            <a:r>
              <a:rPr lang="sv-SE" dirty="0">
                <a:solidFill>
                  <a:srgbClr val="242424"/>
                </a:solidFill>
                <a:latin typeface="source-code-pro"/>
              </a:rPr>
              <a:t> </a:t>
            </a:r>
            <a:r>
              <a:rPr lang="sv-SE" dirty="0" err="1">
                <a:solidFill>
                  <a:srgbClr val="242424"/>
                </a:solidFill>
                <a:latin typeface="source-code-pro"/>
              </a:rPr>
              <a:t>below</a:t>
            </a:r>
            <a:r>
              <a:rPr lang="sv-SE" dirty="0">
                <a:solidFill>
                  <a:srgbClr val="242424"/>
                </a:solidFill>
                <a:latin typeface="source-code-pro"/>
              </a:rPr>
              <a:t>!</a:t>
            </a:r>
            <a:endParaRPr lang="sv-SE" b="0" i="0" dirty="0">
              <a:solidFill>
                <a:srgbClr val="242424"/>
              </a:solidFill>
              <a:effectLst/>
              <a:latin typeface="source-code-pro"/>
            </a:endParaRPr>
          </a:p>
          <a:p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kubectl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AA0D91"/>
                </a:solidFill>
                <a:effectLst/>
                <a:latin typeface="source-code-pro"/>
              </a:rPr>
              <a:t>exec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-it mysql-db</a:t>
            </a:r>
            <a:r>
              <a:rPr lang="sv-SE" b="0" i="0" dirty="0">
                <a:solidFill>
                  <a:srgbClr val="1C00CF"/>
                </a:solidFill>
                <a:effectLst/>
                <a:latin typeface="source-code-pro"/>
              </a:rPr>
              <a:t>-7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d8cf944c-mcvnq </a:t>
            </a:r>
            <a:r>
              <a:rPr lang="sv-SE" b="0" i="0" dirty="0">
                <a:solidFill>
                  <a:srgbClr val="007400"/>
                </a:solidFill>
                <a:effectLst/>
                <a:latin typeface="source-code-pro"/>
              </a:rPr>
              <a:t>-- bin/</a:t>
            </a:r>
            <a:r>
              <a:rPr lang="sv-SE" b="0" i="0" dirty="0" err="1">
                <a:solidFill>
                  <a:srgbClr val="007400"/>
                </a:solidFill>
                <a:effectLst/>
                <a:latin typeface="source-code-pro"/>
              </a:rPr>
              <a:t>sh</a:t>
            </a:r>
            <a:br>
              <a:rPr lang="sv-SE" dirty="0"/>
            </a:b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sh</a:t>
            </a:r>
            <a:r>
              <a:rPr lang="sv-SE" b="0" i="0" dirty="0">
                <a:solidFill>
                  <a:srgbClr val="1C00CF"/>
                </a:solidFill>
                <a:effectLst/>
                <a:latin typeface="source-code-pro"/>
              </a:rPr>
              <a:t>-5.1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#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ls</a:t>
            </a:r>
            <a:br>
              <a:rPr lang="sv-SE" dirty="0"/>
            </a:b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afs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boot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docker-entrypoint-initdb.d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home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lib64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mnt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proc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run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srv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tmp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var</a:t>
            </a:r>
            <a:br>
              <a:rPr lang="sv-SE" dirty="0"/>
            </a:b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bin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dev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etc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lib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media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opt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root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sbin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sys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usr</a:t>
            </a:r>
            <a:br>
              <a:rPr lang="sv-SE" dirty="0"/>
            </a:b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sh</a:t>
            </a:r>
            <a:r>
              <a:rPr lang="sv-SE" b="0" i="0" dirty="0">
                <a:solidFill>
                  <a:srgbClr val="1C00CF"/>
                </a:solidFill>
                <a:effectLst/>
                <a:latin typeface="source-code-pro"/>
              </a:rPr>
              <a:t>-5.1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#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mysql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-u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root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-p</a:t>
            </a:r>
            <a:br>
              <a:rPr lang="sv-SE" dirty="0"/>
            </a:b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Enter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password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br>
              <a:rPr lang="sv-SE" dirty="0"/>
            </a:b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Welcome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>
                <a:solidFill>
                  <a:srgbClr val="AA0D91"/>
                </a:solidFill>
                <a:effectLst/>
                <a:latin typeface="source-code-pro"/>
              </a:rPr>
              <a:t>to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the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MySQL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monitor.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Commands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>
                <a:solidFill>
                  <a:srgbClr val="AA0D91"/>
                </a:solidFill>
                <a:effectLst/>
                <a:latin typeface="source-code-pro"/>
              </a:rPr>
              <a:t>end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AA0D91"/>
                </a:solidFill>
                <a:effectLst/>
                <a:latin typeface="source-code-pro"/>
              </a:rPr>
              <a:t>with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; </a:t>
            </a:r>
            <a:r>
              <a:rPr lang="sv-SE" b="0" i="0" dirty="0">
                <a:solidFill>
                  <a:srgbClr val="AA0D91"/>
                </a:solidFill>
                <a:effectLst/>
                <a:latin typeface="source-code-pro"/>
              </a:rPr>
              <a:t>or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\g.</a:t>
            </a:r>
            <a:br>
              <a:rPr lang="sv-SE" dirty="0"/>
            </a:b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Your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MySQL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connection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id </a:t>
            </a:r>
            <a:r>
              <a:rPr lang="sv-SE" b="0" i="0" dirty="0">
                <a:solidFill>
                  <a:srgbClr val="AA0D91"/>
                </a:solidFill>
                <a:effectLst/>
                <a:latin typeface="source-code-pro"/>
              </a:rPr>
              <a:t>is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sv-SE" b="0" i="0" dirty="0">
                <a:solidFill>
                  <a:srgbClr val="1C00CF"/>
                </a:solidFill>
                <a:effectLst/>
                <a:latin typeface="source-code-pro"/>
              </a:rPr>
              <a:t>28</a:t>
            </a:r>
            <a:br>
              <a:rPr lang="sv-SE" dirty="0"/>
            </a:br>
            <a:r>
              <a:rPr lang="sv-SE" b="0" i="0" dirty="0" err="1">
                <a:solidFill>
                  <a:srgbClr val="242424"/>
                </a:solidFill>
                <a:effectLst/>
                <a:latin typeface="source-code-pro"/>
              </a:rPr>
              <a:t>mysql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&gt; </a:t>
            </a:r>
            <a:r>
              <a:rPr lang="sv-SE" b="0" i="0" dirty="0">
                <a:solidFill>
                  <a:srgbClr val="AA0D91"/>
                </a:solidFill>
                <a:effectLst/>
                <a:latin typeface="source-code-pro"/>
              </a:rPr>
              <a:t>SHOW</a:t>
            </a:r>
            <a:r>
              <a:rPr lang="sv-SE" b="0" i="0" dirty="0">
                <a:solidFill>
                  <a:srgbClr val="242424"/>
                </a:solidFill>
                <a:effectLst/>
                <a:latin typeface="source-code-pro"/>
              </a:rPr>
              <a:t> DATABASES;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868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B955-87BD-9D75-8C7D-D89FEA2C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3B1CD5-403D-245A-4FB2-0A730F3D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10 </a:t>
            </a:r>
            <a:r>
              <a:rPr lang="sv-SE" dirty="0" err="1"/>
              <a:t>minute</a:t>
            </a:r>
            <a:r>
              <a:rPr lang="sv-SE" dirty="0"/>
              <a:t> </a:t>
            </a:r>
            <a:r>
              <a:rPr lang="sv-SE" dirty="0" err="1"/>
              <a:t>challenge</a:t>
            </a:r>
            <a:r>
              <a:rPr lang="sv-SE" dirty="0"/>
              <a:t> :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petclinic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!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2634A5B3-0AA7-0E2D-D69E-93F5B48CB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Requirements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69F706E-FF0C-CF6C-47C5-C6699D3DF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4352925"/>
          </a:xfrm>
        </p:spPr>
        <p:txBody>
          <a:bodyPr>
            <a:normAutofit fontScale="92500" lnSpcReduction="20000"/>
          </a:bodyPr>
          <a:lstStyle/>
          <a:p>
            <a:r>
              <a:rPr lang="sv-SE" dirty="0" err="1"/>
              <a:t>Create</a:t>
            </a:r>
            <a:r>
              <a:rPr lang="sv-SE" dirty="0"/>
              <a:t> a </a:t>
            </a:r>
            <a:r>
              <a:rPr lang="sv-SE" dirty="0" err="1"/>
              <a:t>deployment</a:t>
            </a:r>
            <a:r>
              <a:rPr lang="sv-SE" dirty="0"/>
              <a:t> for the </a:t>
            </a:r>
            <a:r>
              <a:rPr lang="sv-SE" dirty="0" err="1"/>
              <a:t>frontend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app</a:t>
            </a:r>
            <a:r>
              <a:rPr lang="sv-SE" dirty="0"/>
              <a:t>:</a:t>
            </a:r>
          </a:p>
          <a:p>
            <a:pPr>
              <a:lnSpc>
                <a:spcPts val="1650"/>
              </a:lnSpc>
            </a:pPr>
            <a:r>
              <a:rPr lang="sv-SE" dirty="0"/>
              <a:t>Image=</a:t>
            </a:r>
            <a:r>
              <a:rPr lang="sv-S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considdfd.azurecr.io/petclinic-spring-app:v1</a:t>
            </a:r>
            <a:endParaRPr lang="sv-S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sv-SE" dirty="0" err="1"/>
              <a:t>Name</a:t>
            </a:r>
            <a:r>
              <a:rPr lang="sv-SE" dirty="0"/>
              <a:t>=</a:t>
            </a:r>
            <a:r>
              <a:rPr lang="sv-SE" dirty="0" err="1"/>
              <a:t>petclinic-app</a:t>
            </a:r>
            <a:endParaRPr lang="sv-SE" dirty="0"/>
          </a:p>
          <a:p>
            <a:r>
              <a:rPr lang="sv-SE" dirty="0"/>
              <a:t>Port=8080</a:t>
            </a:r>
          </a:p>
          <a:p>
            <a:r>
              <a:rPr lang="sv-SE" dirty="0" err="1"/>
              <a:t>Use</a:t>
            </a:r>
            <a:r>
              <a:rPr lang="sv-SE" dirty="0"/>
              <a:t> a </a:t>
            </a:r>
            <a:r>
              <a:rPr lang="sv-SE" dirty="0" err="1"/>
              <a:t>suitable</a:t>
            </a:r>
            <a:r>
              <a:rPr lang="sv-SE" dirty="0"/>
              <a:t> </a:t>
            </a:r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command</a:t>
            </a:r>
            <a:r>
              <a:rPr lang="sv-SE" dirty="0"/>
              <a:t> and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modify</a:t>
            </a:r>
            <a:r>
              <a:rPr lang="sv-SE" dirty="0"/>
              <a:t> the </a:t>
            </a:r>
            <a:r>
              <a:rPr lang="sv-SE" dirty="0" err="1"/>
              <a:t>yaml</a:t>
            </a:r>
            <a:r>
              <a:rPr lang="sv-SE" dirty="0"/>
              <a:t> to set the </a:t>
            </a:r>
            <a:r>
              <a:rPr lang="sv-SE" dirty="0" err="1"/>
              <a:t>env</a:t>
            </a:r>
            <a:r>
              <a:rPr lang="sv-SE" dirty="0"/>
              <a:t> </a:t>
            </a:r>
            <a:r>
              <a:rPr lang="sv-SE" dirty="0" err="1"/>
              <a:t>fields</a:t>
            </a:r>
            <a:r>
              <a:rPr lang="sv-SE" dirty="0"/>
              <a:t>.</a:t>
            </a:r>
          </a:p>
          <a:p>
            <a:r>
              <a:rPr lang="sv-SE" dirty="0">
                <a:hlinkClick r:id="rId2"/>
              </a:rPr>
              <a:t>https://kubernetes.io/docs/reference/generated/kubectl/kubectl-commands#-em-deployment-em-</a:t>
            </a:r>
            <a:endParaRPr lang="sv-SE" dirty="0"/>
          </a:p>
          <a:p>
            <a:endParaRPr lang="sv-SE" dirty="0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08EF2AC5-C1FE-46FA-01FB-34877F9DC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sv-SE" dirty="0" err="1"/>
              <a:t>Env</a:t>
            </a:r>
            <a:r>
              <a:rPr lang="sv-SE" dirty="0"/>
              <a:t> inside </a:t>
            </a:r>
            <a:r>
              <a:rPr lang="sv-SE" dirty="0" err="1"/>
              <a:t>deployment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be</a:t>
            </a:r>
          </a:p>
        </p:txBody>
      </p:sp>
      <p:pic>
        <p:nvPicPr>
          <p:cNvPr id="7" name="Bildobjekt 6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9DD212C7-1101-4BF7-AB73-466EADE0C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354" y="3113145"/>
            <a:ext cx="5111300" cy="218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59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B63D-9D82-39DB-8362-8467B05E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369C0B6-9D58-8D38-33F1-058AD33A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10 </a:t>
            </a:r>
            <a:r>
              <a:rPr lang="sv-SE" dirty="0" err="1"/>
              <a:t>minute</a:t>
            </a:r>
            <a:r>
              <a:rPr lang="sv-SE" dirty="0"/>
              <a:t> </a:t>
            </a:r>
            <a:r>
              <a:rPr lang="sv-SE" dirty="0" err="1"/>
              <a:t>challenge</a:t>
            </a:r>
            <a:r>
              <a:rPr lang="sv-SE" dirty="0"/>
              <a:t>: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LoadBalancer</a:t>
            </a:r>
            <a:r>
              <a:rPr lang="sv-SE" dirty="0"/>
              <a:t> service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6F1A9289-C0D0-D7D3-4130-970A5FF18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5" y="1681163"/>
            <a:ext cx="5157787" cy="823912"/>
          </a:xfrm>
        </p:spPr>
        <p:txBody>
          <a:bodyPr/>
          <a:lstStyle/>
          <a:p>
            <a:r>
              <a:rPr lang="sv-SE" dirty="0" err="1"/>
              <a:t>Requirements</a:t>
            </a:r>
            <a:endParaRPr lang="sv-SE" dirty="0"/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2A6DE5C8-0201-14CA-3A9F-13560DAE0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7106" y="2505075"/>
            <a:ext cx="5157787" cy="3684588"/>
          </a:xfrm>
        </p:spPr>
        <p:txBody>
          <a:bodyPr/>
          <a:lstStyle/>
          <a:p>
            <a:r>
              <a:rPr lang="sv-SE" dirty="0" err="1"/>
              <a:t>Name</a:t>
            </a:r>
            <a:r>
              <a:rPr lang="sv-SE" dirty="0"/>
              <a:t>: </a:t>
            </a:r>
            <a:r>
              <a:rPr lang="sv-SE" dirty="0" err="1"/>
              <a:t>petclinic</a:t>
            </a:r>
            <a:r>
              <a:rPr lang="sv-SE" dirty="0"/>
              <a:t>-service</a:t>
            </a:r>
          </a:p>
          <a:p>
            <a:r>
              <a:rPr lang="sv-SE" dirty="0"/>
              <a:t>Port: 8080</a:t>
            </a:r>
          </a:p>
          <a:p>
            <a:r>
              <a:rPr lang="sv-SE" dirty="0"/>
              <a:t>Target-Port: 8080</a:t>
            </a:r>
          </a:p>
          <a:p>
            <a:r>
              <a:rPr lang="sv-SE" dirty="0" err="1"/>
              <a:t>Type</a:t>
            </a:r>
            <a:r>
              <a:rPr lang="sv-SE" dirty="0"/>
              <a:t>: </a:t>
            </a:r>
            <a:r>
              <a:rPr lang="sv-SE" dirty="0" err="1"/>
              <a:t>LoadBalancer</a:t>
            </a:r>
            <a:endParaRPr lang="sv-SE" dirty="0"/>
          </a:p>
          <a:p>
            <a:r>
              <a:rPr lang="sv-SE" dirty="0">
                <a:hlinkClick r:id="rId2"/>
              </a:rPr>
              <a:t>https://kubernetes.io/docs/reference/generated/kubectl/kubectl-commands#expose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2204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48C961C9-A14E-71F0-F52A-459A9BB4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20 </a:t>
            </a:r>
            <a:r>
              <a:rPr lang="sv-SE" dirty="0" err="1"/>
              <a:t>minute</a:t>
            </a:r>
            <a:r>
              <a:rPr lang="sv-SE" dirty="0"/>
              <a:t> </a:t>
            </a:r>
            <a:r>
              <a:rPr lang="sv-SE" dirty="0" err="1"/>
              <a:t>challenge</a:t>
            </a:r>
            <a:r>
              <a:rPr lang="sv-SE" dirty="0"/>
              <a:t>: Check status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Petclinic</a:t>
            </a:r>
            <a:r>
              <a:rPr lang="sv-SE" dirty="0"/>
              <a:t> </a:t>
            </a:r>
            <a:r>
              <a:rPr lang="sv-SE" dirty="0" err="1"/>
              <a:t>app</a:t>
            </a:r>
            <a:endParaRPr lang="sv-SE" dirty="0"/>
          </a:p>
        </p:txBody>
      </p:sp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659D0192-83D9-40E1-220B-392F9EC6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0652"/>
          </a:xfrm>
        </p:spPr>
        <p:txBody>
          <a:bodyPr/>
          <a:lstStyle/>
          <a:p>
            <a:r>
              <a:rPr lang="sv-SE" dirty="0"/>
              <a:t>Show the logs!</a:t>
            </a:r>
          </a:p>
          <a:p>
            <a:pPr lvl="1"/>
            <a:r>
              <a:rPr lang="sv-SE" dirty="0" err="1"/>
              <a:t>kubectl</a:t>
            </a:r>
            <a:r>
              <a:rPr lang="sv-SE" dirty="0"/>
              <a:t> logs </a:t>
            </a:r>
            <a:r>
              <a:rPr lang="sv-SE" dirty="0" err="1"/>
              <a:t>deploy</a:t>
            </a:r>
            <a:r>
              <a:rPr lang="sv-SE" dirty="0"/>
              <a:t>/</a:t>
            </a:r>
            <a:r>
              <a:rPr lang="sv-SE" dirty="0" err="1"/>
              <a:t>petlinic-app</a:t>
            </a:r>
            <a:endParaRPr lang="sv-SE" dirty="0"/>
          </a:p>
          <a:p>
            <a:r>
              <a:rPr lang="sv-SE" dirty="0"/>
              <a:t>Check the </a:t>
            </a:r>
            <a:r>
              <a:rPr lang="sv-SE" dirty="0" err="1"/>
              <a:t>Loadbalancer</a:t>
            </a:r>
            <a:r>
              <a:rPr lang="sv-SE" dirty="0"/>
              <a:t> service</a:t>
            </a:r>
          </a:p>
          <a:p>
            <a:pPr lvl="1"/>
            <a:r>
              <a:rPr lang="sv-SE" dirty="0"/>
              <a:t>Do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an </a:t>
            </a:r>
            <a:r>
              <a:rPr lang="sv-SE" dirty="0" err="1"/>
              <a:t>external</a:t>
            </a:r>
            <a:r>
              <a:rPr lang="sv-SE" dirty="0"/>
              <a:t> IP?</a:t>
            </a:r>
          </a:p>
          <a:p>
            <a:pPr lvl="1"/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describe</a:t>
            </a:r>
            <a:r>
              <a:rPr lang="sv-SE" dirty="0"/>
              <a:t> </a:t>
            </a:r>
            <a:r>
              <a:rPr lang="sv-SE" dirty="0" err="1"/>
              <a:t>svc</a:t>
            </a:r>
            <a:r>
              <a:rPr lang="sv-SE" dirty="0"/>
              <a:t> </a:t>
            </a:r>
            <a:r>
              <a:rPr lang="sv-SE" dirty="0" err="1"/>
              <a:t>petclinic</a:t>
            </a:r>
            <a:r>
              <a:rPr lang="sv-SE" dirty="0"/>
              <a:t>-service</a:t>
            </a:r>
          </a:p>
          <a:p>
            <a:pPr lvl="1"/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reach</a:t>
            </a:r>
            <a:r>
              <a:rPr lang="sv-SE" dirty="0"/>
              <a:t> the </a:t>
            </a:r>
            <a:r>
              <a:rPr lang="sv-SE" dirty="0" err="1"/>
              <a:t>app</a:t>
            </a:r>
            <a:r>
              <a:rPr lang="sv-SE" dirty="0"/>
              <a:t>?</a:t>
            </a:r>
          </a:p>
          <a:p>
            <a:r>
              <a:rPr lang="sv-SE" dirty="0" err="1"/>
              <a:t>Learn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to check status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here</a:t>
            </a:r>
            <a:r>
              <a:rPr lang="sv-SE" dirty="0"/>
              <a:t>: </a:t>
            </a:r>
            <a:r>
              <a:rPr lang="sv-SE" dirty="0">
                <a:hlinkClick r:id="rId2"/>
              </a:rPr>
              <a:t>https://medium.com/@subhasmitadas696/step-by-step-guide-to-deploying-the-spring-pet-clinic-app-in-kubernetes-0729f6322098</a:t>
            </a:r>
            <a:endParaRPr lang="sv-SE" dirty="0"/>
          </a:p>
          <a:p>
            <a:pPr lvl="1"/>
            <a:r>
              <a:rPr lang="sv-SE" dirty="0"/>
              <a:t>Start from </a:t>
            </a:r>
            <a:r>
              <a:rPr lang="sv-SE" dirty="0" err="1"/>
              <a:t>chapter</a:t>
            </a:r>
            <a:r>
              <a:rPr lang="sv-SE" dirty="0"/>
              <a:t>: </a:t>
            </a:r>
            <a:r>
              <a:rPr lang="sv-SE" b="1" i="1" dirty="0">
                <a:solidFill>
                  <a:srgbClr val="242424"/>
                </a:solidFill>
                <a:effectLst/>
                <a:latin typeface="source-serif-pro"/>
              </a:rPr>
              <a:t>Basic Checks to </a:t>
            </a:r>
            <a:r>
              <a:rPr lang="sv-SE" b="1" i="1" dirty="0" err="1">
                <a:solidFill>
                  <a:srgbClr val="242424"/>
                </a:solidFill>
                <a:effectLst/>
                <a:latin typeface="source-serif-pro"/>
              </a:rPr>
              <a:t>Perform</a:t>
            </a:r>
            <a:r>
              <a:rPr lang="sv-SE" b="1" i="1" dirty="0">
                <a:solidFill>
                  <a:srgbClr val="242424"/>
                </a:solidFill>
                <a:effectLst/>
                <a:latin typeface="source-serif-pro"/>
              </a:rPr>
              <a:t>:</a:t>
            </a:r>
            <a:endParaRPr lang="sv-SE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99579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77B1DC0-FDB9-E83A-3CA4-98444C0E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Note </a:t>
            </a:r>
            <a:r>
              <a:rPr lang="sv-SE" dirty="0" err="1"/>
              <a:t>about</a:t>
            </a:r>
            <a:r>
              <a:rPr lang="sv-SE" dirty="0"/>
              <a:t> </a:t>
            </a:r>
            <a:r>
              <a:rPr lang="sv-SE" dirty="0" err="1"/>
              <a:t>liveness</a:t>
            </a:r>
            <a:r>
              <a:rPr lang="sv-SE" dirty="0"/>
              <a:t> and </a:t>
            </a:r>
            <a:r>
              <a:rPr lang="sv-SE" dirty="0" err="1"/>
              <a:t>Readiness</a:t>
            </a:r>
            <a:r>
              <a:rPr lang="sv-SE" dirty="0"/>
              <a:t> </a:t>
            </a:r>
            <a:r>
              <a:rPr lang="sv-SE" dirty="0" err="1"/>
              <a:t>state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B3066D5-8951-C17C-A6FE-8C0E1A27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During</a:t>
            </a:r>
            <a:r>
              <a:rPr lang="sv-SE" dirty="0"/>
              <a:t> container startup a </a:t>
            </a:r>
            <a:r>
              <a:rPr lang="sv-SE" dirty="0" err="1"/>
              <a:t>pod</a:t>
            </a:r>
            <a:r>
              <a:rPr lang="sv-SE" dirty="0"/>
              <a:t> is </a:t>
            </a:r>
            <a:r>
              <a:rPr lang="sv-SE" dirty="0" err="1"/>
              <a:t>marked</a:t>
            </a:r>
            <a:r>
              <a:rPr lang="sv-SE" dirty="0"/>
              <a:t> as </a:t>
            </a:r>
            <a:r>
              <a:rPr lang="sv-SE" dirty="0" err="1"/>
              <a:t>running</a:t>
            </a:r>
            <a:r>
              <a:rPr lang="sv-SE" dirty="0"/>
              <a:t> and </a:t>
            </a:r>
            <a:r>
              <a:rPr lang="sv-SE" dirty="0" err="1"/>
              <a:t>healthy</a:t>
            </a:r>
            <a:r>
              <a:rPr lang="sv-SE" dirty="0"/>
              <a:t>, </a:t>
            </a:r>
            <a:r>
              <a:rPr lang="sv-SE" dirty="0" err="1"/>
              <a:t>this</a:t>
            </a:r>
            <a:r>
              <a:rPr lang="sv-SE" dirty="0"/>
              <a:t> is a problem </a:t>
            </a:r>
            <a:r>
              <a:rPr lang="sv-SE" dirty="0" err="1"/>
              <a:t>because</a:t>
            </a:r>
            <a:r>
              <a:rPr lang="sv-SE" dirty="0"/>
              <a:t>:</a:t>
            </a:r>
          </a:p>
          <a:p>
            <a:pPr lvl="1"/>
            <a:r>
              <a:rPr lang="sv-SE" dirty="0"/>
              <a:t>The </a:t>
            </a:r>
            <a:r>
              <a:rPr lang="sv-SE" dirty="0" err="1"/>
              <a:t>state</a:t>
            </a:r>
            <a:r>
              <a:rPr lang="sv-SE" dirty="0"/>
              <a:t> is </a:t>
            </a:r>
            <a:r>
              <a:rPr lang="sv-SE" dirty="0" err="1"/>
              <a:t>missleading</a:t>
            </a:r>
            <a:r>
              <a:rPr lang="sv-SE" dirty="0"/>
              <a:t>, the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might</a:t>
            </a:r>
            <a:r>
              <a:rPr lang="sv-SE" dirty="0"/>
              <a:t> still </a:t>
            </a:r>
            <a:r>
              <a:rPr lang="sv-SE" dirty="0" err="1"/>
              <a:t>fail</a:t>
            </a:r>
            <a:r>
              <a:rPr lang="sv-SE" dirty="0"/>
              <a:t> </a:t>
            </a:r>
            <a:r>
              <a:rPr lang="sv-SE" dirty="0" err="1"/>
              <a:t>during</a:t>
            </a:r>
            <a:r>
              <a:rPr lang="sv-SE" dirty="0"/>
              <a:t> startup….</a:t>
            </a:r>
          </a:p>
          <a:p>
            <a:pPr lvl="1"/>
            <a:r>
              <a:rPr lang="sv-SE" dirty="0" err="1"/>
              <a:t>Traffic</a:t>
            </a:r>
            <a:r>
              <a:rPr lang="sv-SE" dirty="0"/>
              <a:t> </a:t>
            </a:r>
            <a:r>
              <a:rPr lang="sv-SE" dirty="0" err="1"/>
              <a:t>might</a:t>
            </a:r>
            <a:r>
              <a:rPr lang="sv-SE" dirty="0"/>
              <a:t> be </a:t>
            </a:r>
            <a:r>
              <a:rPr lang="sv-SE" dirty="0" err="1"/>
              <a:t>routed</a:t>
            </a:r>
            <a:r>
              <a:rPr lang="sv-SE" dirty="0"/>
              <a:t> to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while</a:t>
            </a:r>
            <a:r>
              <a:rPr lang="sv-SE" dirty="0"/>
              <a:t> </a:t>
            </a:r>
            <a:r>
              <a:rPr lang="sv-SE" dirty="0" err="1"/>
              <a:t>its</a:t>
            </a:r>
            <a:r>
              <a:rPr lang="sv-SE" dirty="0"/>
              <a:t> not ready </a:t>
            </a:r>
            <a:r>
              <a:rPr lang="sv-SE" dirty="0" err="1"/>
              <a:t>yet</a:t>
            </a:r>
            <a:endParaRPr lang="sv-SE" dirty="0"/>
          </a:p>
          <a:p>
            <a:pPr lvl="2"/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</a:t>
            </a:r>
            <a:r>
              <a:rPr lang="sv-SE" dirty="0" err="1"/>
              <a:t>kubernetes</a:t>
            </a:r>
            <a:r>
              <a:rPr lang="sv-SE" dirty="0"/>
              <a:t> to mark the </a:t>
            </a:r>
            <a:r>
              <a:rPr lang="sv-SE" dirty="0" err="1"/>
              <a:t>app</a:t>
            </a:r>
            <a:r>
              <a:rPr lang="sv-SE" dirty="0"/>
              <a:t> as ”not ready” </a:t>
            </a: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 is </a:t>
            </a:r>
            <a:r>
              <a:rPr lang="sv-SE" dirty="0" err="1"/>
              <a:t>starting</a:t>
            </a:r>
            <a:endParaRPr lang="sv-SE" dirty="0"/>
          </a:p>
          <a:p>
            <a:pPr lvl="2"/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removed</a:t>
            </a:r>
            <a:r>
              <a:rPr lang="sv-SE" dirty="0"/>
              <a:t> </a:t>
            </a:r>
            <a:r>
              <a:rPr lang="sv-SE" dirty="0" err="1"/>
              <a:t>fom</a:t>
            </a:r>
            <a:r>
              <a:rPr lang="sv-SE" dirty="0"/>
              <a:t> service </a:t>
            </a:r>
            <a:r>
              <a:rPr lang="sv-SE" dirty="0" err="1"/>
              <a:t>endpoints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 is </a:t>
            </a:r>
            <a:r>
              <a:rPr lang="sv-SE" dirty="0" err="1"/>
              <a:t>marked</a:t>
            </a:r>
            <a:r>
              <a:rPr lang="sv-SE" dirty="0"/>
              <a:t> as not ready</a:t>
            </a:r>
          </a:p>
          <a:p>
            <a:pPr lvl="1"/>
            <a:r>
              <a:rPr lang="sv-SE" dirty="0"/>
              <a:t>The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might</a:t>
            </a:r>
            <a:r>
              <a:rPr lang="sv-SE" dirty="0"/>
              <a:t> be in a </a:t>
            </a:r>
            <a:r>
              <a:rPr lang="sv-SE" dirty="0" err="1"/>
              <a:t>running</a:t>
            </a:r>
            <a:r>
              <a:rPr lang="sv-SE" dirty="0"/>
              <a:t> </a:t>
            </a:r>
            <a:r>
              <a:rPr lang="sv-SE" dirty="0" err="1"/>
              <a:t>state</a:t>
            </a:r>
            <a:r>
              <a:rPr lang="sv-SE" dirty="0"/>
              <a:t> </a:t>
            </a:r>
            <a:r>
              <a:rPr lang="sv-SE" dirty="0" err="1"/>
              <a:t>but</a:t>
            </a:r>
            <a:r>
              <a:rPr lang="sv-SE" dirty="0"/>
              <a:t> is not </a:t>
            </a:r>
            <a:r>
              <a:rPr lang="sv-SE" dirty="0" err="1"/>
              <a:t>responding</a:t>
            </a:r>
            <a:r>
              <a:rPr lang="sv-SE" dirty="0"/>
              <a:t> to </a:t>
            </a:r>
            <a:r>
              <a:rPr lang="sv-SE" dirty="0" err="1"/>
              <a:t>request</a:t>
            </a:r>
            <a:endParaRPr lang="sv-SE" dirty="0"/>
          </a:p>
          <a:p>
            <a:pPr lvl="2"/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flag it as </a:t>
            </a:r>
            <a:r>
              <a:rPr lang="sv-SE" dirty="0" err="1"/>
              <a:t>unhealthy</a:t>
            </a:r>
            <a:r>
              <a:rPr lang="sv-SE" dirty="0"/>
              <a:t> and </a:t>
            </a:r>
            <a:r>
              <a:rPr lang="sv-SE" dirty="0" err="1"/>
              <a:t>restart</a:t>
            </a:r>
            <a:r>
              <a:rPr lang="sv-SE" dirty="0"/>
              <a:t> the </a:t>
            </a:r>
            <a:r>
              <a:rPr lang="sv-SE" dirty="0" err="1"/>
              <a:t>pods</a:t>
            </a:r>
            <a:endParaRPr lang="sv-SE" dirty="0"/>
          </a:p>
          <a:p>
            <a:pPr lvl="2"/>
            <a:r>
              <a:rPr lang="sv-SE" dirty="0" err="1"/>
              <a:t>We</a:t>
            </a:r>
            <a:r>
              <a:rPr lang="sv-SE" dirty="0"/>
              <a:t> do </a:t>
            </a:r>
            <a:r>
              <a:rPr lang="sv-SE" dirty="0" err="1"/>
              <a:t>this</a:t>
            </a:r>
            <a:r>
              <a:rPr lang="sv-SE" dirty="0"/>
              <a:t> check </a:t>
            </a:r>
            <a:r>
              <a:rPr lang="sv-SE" dirty="0" err="1"/>
              <a:t>continously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19138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ubrik 13">
            <a:extLst>
              <a:ext uri="{FF2B5EF4-FFF2-40B4-BE49-F238E27FC236}">
                <a16:creationId xmlns:a16="http://schemas.microsoft.com/office/drawing/2014/main" id="{87CDAFB3-91A7-0FC1-5C3F-58062E9B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liveness</a:t>
            </a:r>
            <a:r>
              <a:rPr lang="sv-SE" dirty="0"/>
              <a:t>/</a:t>
            </a:r>
            <a:r>
              <a:rPr lang="sv-SE" dirty="0" err="1"/>
              <a:t>readiness</a:t>
            </a:r>
            <a:endParaRPr lang="sv-SE" dirty="0"/>
          </a:p>
        </p:txBody>
      </p:sp>
      <p:pic>
        <p:nvPicPr>
          <p:cNvPr id="17" name="Platshållare för innehåll 16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C10AAE1B-1C2D-E310-352B-E08C43643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058" y="1690688"/>
            <a:ext cx="8663883" cy="4101389"/>
          </a:xfrm>
        </p:spPr>
      </p:pic>
      <p:cxnSp>
        <p:nvCxnSpPr>
          <p:cNvPr id="19" name="Rak pilkoppling 18">
            <a:extLst>
              <a:ext uri="{FF2B5EF4-FFF2-40B4-BE49-F238E27FC236}">
                <a16:creationId xmlns:a16="http://schemas.microsoft.com/office/drawing/2014/main" id="{BBFF0F2F-B40C-4C93-FC82-7A127679D039}"/>
              </a:ext>
            </a:extLst>
          </p:cNvPr>
          <p:cNvCxnSpPr>
            <a:cxnSpLocks/>
          </p:cNvCxnSpPr>
          <p:nvPr/>
        </p:nvCxnSpPr>
        <p:spPr>
          <a:xfrm flipH="1">
            <a:off x="4894289" y="2577503"/>
            <a:ext cx="2850495" cy="368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ruta 20">
            <a:extLst>
              <a:ext uri="{FF2B5EF4-FFF2-40B4-BE49-F238E27FC236}">
                <a16:creationId xmlns:a16="http://schemas.microsoft.com/office/drawing/2014/main" id="{A81940B7-B72A-76BD-E81A-AC803D6190C4}"/>
              </a:ext>
            </a:extLst>
          </p:cNvPr>
          <p:cNvSpPr txBox="1"/>
          <p:nvPr/>
        </p:nvSpPr>
        <p:spPr>
          <a:xfrm>
            <a:off x="7744784" y="3882246"/>
            <a:ext cx="38624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App</a:t>
            </a:r>
            <a:r>
              <a:rPr lang="sv-SE" dirty="0"/>
              <a:t> is no </a:t>
            </a:r>
            <a:r>
              <a:rPr lang="sv-SE" dirty="0" err="1"/>
              <a:t>marked</a:t>
            </a:r>
            <a:r>
              <a:rPr lang="sv-SE" dirty="0"/>
              <a:t> as ready </a:t>
            </a:r>
            <a:r>
              <a:rPr lang="sv-SE" dirty="0" err="1"/>
              <a:t>until</a:t>
            </a:r>
            <a:endParaRPr lang="sv-SE" dirty="0"/>
          </a:p>
          <a:p>
            <a:r>
              <a:rPr lang="sv-SE" dirty="0"/>
              <a:t>endpoint pass!</a:t>
            </a:r>
          </a:p>
          <a:p>
            <a:r>
              <a:rPr lang="sv-SE" dirty="0" err="1"/>
              <a:t>Runs</a:t>
            </a:r>
            <a:r>
              <a:rPr lang="sv-SE" dirty="0"/>
              <a:t> </a:t>
            </a:r>
            <a:r>
              <a:rPr lang="sv-SE" dirty="0" err="1"/>
              <a:t>only</a:t>
            </a:r>
            <a:r>
              <a:rPr lang="sv-SE" dirty="0"/>
              <a:t> </a:t>
            </a:r>
            <a:r>
              <a:rPr lang="sv-SE" dirty="0" err="1"/>
              <a:t>during</a:t>
            </a:r>
            <a:r>
              <a:rPr lang="sv-SE" dirty="0"/>
              <a:t> startup!</a:t>
            </a:r>
          </a:p>
          <a:p>
            <a:r>
              <a:rPr lang="sv-SE" dirty="0"/>
              <a:t>No </a:t>
            </a:r>
            <a:r>
              <a:rPr lang="sv-SE" dirty="0" err="1"/>
              <a:t>traffic</a:t>
            </a:r>
            <a:r>
              <a:rPr lang="sv-SE" dirty="0"/>
              <a:t> to </a:t>
            </a:r>
            <a:r>
              <a:rPr lang="sv-SE" dirty="0" err="1"/>
              <a:t>app</a:t>
            </a:r>
            <a:r>
              <a:rPr lang="sv-SE" dirty="0"/>
              <a:t>!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custom</a:t>
            </a:r>
            <a:r>
              <a:rPr lang="sv-SE" dirty="0"/>
              <a:t> checks to check </a:t>
            </a:r>
          </a:p>
          <a:p>
            <a:r>
              <a:rPr lang="sv-SE" dirty="0"/>
              <a:t>If </a:t>
            </a:r>
            <a:r>
              <a:rPr lang="sv-SE" dirty="0" err="1"/>
              <a:t>other</a:t>
            </a:r>
            <a:r>
              <a:rPr lang="sv-SE" dirty="0"/>
              <a:t> systems </a:t>
            </a:r>
            <a:r>
              <a:rPr lang="sv-SE" dirty="0" err="1"/>
              <a:t>are</a:t>
            </a:r>
            <a:r>
              <a:rPr lang="sv-SE" dirty="0"/>
              <a:t> ready </a:t>
            </a:r>
            <a:r>
              <a:rPr lang="sv-SE" dirty="0" err="1"/>
              <a:t>too</a:t>
            </a:r>
            <a:r>
              <a:rPr lang="sv-SE" dirty="0"/>
              <a:t>!</a:t>
            </a:r>
          </a:p>
        </p:txBody>
      </p:sp>
      <p:cxnSp>
        <p:nvCxnSpPr>
          <p:cNvPr id="22" name="Rak pilkoppling 21">
            <a:extLst>
              <a:ext uri="{FF2B5EF4-FFF2-40B4-BE49-F238E27FC236}">
                <a16:creationId xmlns:a16="http://schemas.microsoft.com/office/drawing/2014/main" id="{02632688-7422-7B59-58BD-0C3657E4BCA2}"/>
              </a:ext>
            </a:extLst>
          </p:cNvPr>
          <p:cNvCxnSpPr>
            <a:cxnSpLocks/>
          </p:cNvCxnSpPr>
          <p:nvPr/>
        </p:nvCxnSpPr>
        <p:spPr>
          <a:xfrm flipH="1">
            <a:off x="4894289" y="4343911"/>
            <a:ext cx="2850495" cy="368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ruta 22">
            <a:extLst>
              <a:ext uri="{FF2B5EF4-FFF2-40B4-BE49-F238E27FC236}">
                <a16:creationId xmlns:a16="http://schemas.microsoft.com/office/drawing/2014/main" id="{386EB34D-657E-63CB-FD98-29C35E85D5BB}"/>
              </a:ext>
            </a:extLst>
          </p:cNvPr>
          <p:cNvSpPr txBox="1"/>
          <p:nvPr/>
        </p:nvSpPr>
        <p:spPr>
          <a:xfrm>
            <a:off x="7744784" y="2165702"/>
            <a:ext cx="43295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restart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endpoint</a:t>
            </a:r>
          </a:p>
          <a:p>
            <a:r>
              <a:rPr lang="sv-SE" dirty="0"/>
              <a:t>stops </a:t>
            </a:r>
            <a:r>
              <a:rPr lang="sv-SE" dirty="0" err="1"/>
              <a:t>responding</a:t>
            </a:r>
            <a:r>
              <a:rPr lang="sv-SE" dirty="0"/>
              <a:t> in </a:t>
            </a:r>
            <a:r>
              <a:rPr lang="sv-SE" dirty="0" err="1"/>
              <a:t>runtime</a:t>
            </a:r>
            <a:r>
              <a:rPr lang="sv-SE" dirty="0"/>
              <a:t>!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a </a:t>
            </a:r>
            <a:r>
              <a:rPr lang="sv-SE" dirty="0" err="1"/>
              <a:t>custom</a:t>
            </a:r>
            <a:r>
              <a:rPr lang="sv-SE" dirty="0"/>
              <a:t> endpoint for </a:t>
            </a:r>
          </a:p>
          <a:p>
            <a:r>
              <a:rPr lang="sv-SE" dirty="0" err="1"/>
              <a:t>Better</a:t>
            </a:r>
            <a:r>
              <a:rPr lang="sv-SE" dirty="0"/>
              <a:t> checks, for </a:t>
            </a:r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ping</a:t>
            </a:r>
            <a:r>
              <a:rPr lang="sv-SE" dirty="0"/>
              <a:t> </a:t>
            </a:r>
            <a:r>
              <a:rPr lang="sv-SE" dirty="0" err="1"/>
              <a:t>database</a:t>
            </a:r>
            <a:r>
              <a:rPr lang="sv-SE" dirty="0"/>
              <a:t> </a:t>
            </a:r>
          </a:p>
          <a:p>
            <a:r>
              <a:rPr lang="sv-SE" dirty="0" err="1"/>
              <a:t>Contiously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5180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7462901-0AFD-4E4E-4AC2-E4E81E8E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Link to </a:t>
            </a:r>
            <a:r>
              <a:rPr lang="sv-SE" dirty="0" err="1"/>
              <a:t>examples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6471FD7-FD62-A2D9-A48A-40A387A3C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Petclinic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: </a:t>
            </a:r>
            <a:r>
              <a:rPr lang="sv-SE" dirty="0">
                <a:hlinkClick r:id="rId2"/>
              </a:rPr>
              <a:t>https://medium.com/@subhasmitadas696/step-by-step-guide-to-deploying-the-spring-pet-clinic-app-in-kubernetes-0729f6322098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19368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5130</TotalTime>
  <Words>913</Words>
  <Application>Microsoft Office PowerPoint</Application>
  <PresentationFormat>Widescreen</PresentationFormat>
  <Paragraphs>118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Office-tema</vt:lpstr>
      <vt:lpstr>Demo app: Spring Boot Petclinic in AKS</vt:lpstr>
      <vt:lpstr>Clone app and push to Image registry</vt:lpstr>
      <vt:lpstr> Dockerfile in petclinic</vt:lpstr>
      <vt:lpstr>Push to ACR (Azure Kubernete Registry)</vt:lpstr>
      <vt:lpstr>Docker compose in petclinic app</vt:lpstr>
      <vt:lpstr>Create a namespace for the app</vt:lpstr>
      <vt:lpstr>Create Kubernetes objects</vt:lpstr>
      <vt:lpstr>Finding errors</vt:lpstr>
      <vt:lpstr>10 minute challenge : Create the database for petclinic</vt:lpstr>
      <vt:lpstr>10 minute challenge: Create Cluster IP service</vt:lpstr>
      <vt:lpstr>10 min challenge check status of db</vt:lpstr>
      <vt:lpstr>10 minute challenge : Create petclinic app!</vt:lpstr>
      <vt:lpstr>10 minute challenge: Create LoadBalancer service</vt:lpstr>
      <vt:lpstr>20 minute challenge: Check status of Petclinic app</vt:lpstr>
      <vt:lpstr>Note about liveness and Readiness state</vt:lpstr>
      <vt:lpstr>Example liveness/readiness</vt:lpstr>
      <vt:lpstr>Link to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Bourghardt Nordell</dc:creator>
  <cp:lastModifiedBy>Mattias Bourghardt Nordell</cp:lastModifiedBy>
  <cp:revision>15</cp:revision>
  <dcterms:created xsi:type="dcterms:W3CDTF">2025-03-19T20:23:30Z</dcterms:created>
  <dcterms:modified xsi:type="dcterms:W3CDTF">2026-05-27T16:07:34Z</dcterms:modified>
</cp:coreProperties>
</file>