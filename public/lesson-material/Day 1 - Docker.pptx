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98" r:id="rId5"/>
    <p:sldId id="270" r:id="rId6"/>
    <p:sldId id="283" r:id="rId7"/>
    <p:sldId id="315" r:id="rId8"/>
    <p:sldId id="296" r:id="rId9"/>
    <p:sldId id="288" r:id="rId10"/>
    <p:sldId id="328" r:id="rId11"/>
    <p:sldId id="330" r:id="rId12"/>
    <p:sldId id="329" r:id="rId13"/>
    <p:sldId id="326" r:id="rId14"/>
    <p:sldId id="332" r:id="rId15"/>
    <p:sldId id="321" r:id="rId16"/>
    <p:sldId id="294" r:id="rId17"/>
    <p:sldId id="299" r:id="rId18"/>
    <p:sldId id="300" r:id="rId19"/>
    <p:sldId id="301" r:id="rId20"/>
    <p:sldId id="305" r:id="rId21"/>
    <p:sldId id="302" r:id="rId22"/>
    <p:sldId id="304" r:id="rId23"/>
    <p:sldId id="303" r:id="rId24"/>
    <p:sldId id="306" r:id="rId25"/>
    <p:sldId id="322" r:id="rId26"/>
    <p:sldId id="323" r:id="rId27"/>
    <p:sldId id="325" r:id="rId28"/>
    <p:sldId id="327" r:id="rId29"/>
    <p:sldId id="331" r:id="rId30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15"/>
  </p:normalViewPr>
  <p:slideViewPr>
    <p:cSldViewPr snapToGrid="0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ias Svensson Nordell" userId="4f546f3c-2f0b-4f46-aa0f-baeca45b2f48" providerId="ADAL" clId="{F058CD4B-ADAB-4DF6-9FBA-0B6BE644A59A}"/>
    <pc:docChg chg="undo custSel addSld delSld modSld">
      <pc:chgData name="Mattias Svensson Nordell" userId="4f546f3c-2f0b-4f46-aa0f-baeca45b2f48" providerId="ADAL" clId="{F058CD4B-ADAB-4DF6-9FBA-0B6BE644A59A}" dt="2022-08-29T11:50:46.430" v="433" actId="20577"/>
      <pc:docMkLst>
        <pc:docMk/>
      </pc:docMkLst>
      <pc:sldChg chg="del">
        <pc:chgData name="Mattias Svensson Nordell" userId="4f546f3c-2f0b-4f46-aa0f-baeca45b2f48" providerId="ADAL" clId="{F058CD4B-ADAB-4DF6-9FBA-0B6BE644A59A}" dt="2022-08-28T09:02:20.176" v="1" actId="47"/>
        <pc:sldMkLst>
          <pc:docMk/>
          <pc:sldMk cId="2877665410" sldId="289"/>
        </pc:sldMkLst>
      </pc:sldChg>
      <pc:sldChg chg="addSp modSp mod chgLayout">
        <pc:chgData name="Mattias Svensson Nordell" userId="4f546f3c-2f0b-4f46-aa0f-baeca45b2f48" providerId="ADAL" clId="{F058CD4B-ADAB-4DF6-9FBA-0B6BE644A59A}" dt="2022-08-29T11:50:46.430" v="433" actId="20577"/>
        <pc:sldMkLst>
          <pc:docMk/>
          <pc:sldMk cId="4274895723" sldId="303"/>
        </pc:sldMkLst>
        <pc:spChg chg="mod ord">
          <ac:chgData name="Mattias Svensson Nordell" userId="4f546f3c-2f0b-4f46-aa0f-baeca45b2f48" providerId="ADAL" clId="{F058CD4B-ADAB-4DF6-9FBA-0B6BE644A59A}" dt="2022-08-29T11:39:32.816" v="43" actId="700"/>
          <ac:spMkLst>
            <pc:docMk/>
            <pc:sldMk cId="4274895723" sldId="303"/>
            <ac:spMk id="2" creationId="{D61228A5-FC4D-D47A-6D68-7E6D56301216}"/>
          </ac:spMkLst>
        </pc:spChg>
        <pc:spChg chg="add mod ord">
          <ac:chgData name="Mattias Svensson Nordell" userId="4f546f3c-2f0b-4f46-aa0f-baeca45b2f48" providerId="ADAL" clId="{F058CD4B-ADAB-4DF6-9FBA-0B6BE644A59A}" dt="2022-08-29T11:50:46.430" v="433" actId="20577"/>
          <ac:spMkLst>
            <pc:docMk/>
            <pc:sldMk cId="4274895723" sldId="303"/>
            <ac:spMk id="3" creationId="{C9395141-FEAB-4D44-909C-810168288367}"/>
          </ac:spMkLst>
        </pc:spChg>
      </pc:sldChg>
      <pc:sldChg chg="addSp delSp modSp mod">
        <pc:chgData name="Mattias Svensson Nordell" userId="4f546f3c-2f0b-4f46-aa0f-baeca45b2f48" providerId="ADAL" clId="{F058CD4B-ADAB-4DF6-9FBA-0B6BE644A59A}" dt="2022-08-29T11:36:19.721" v="40" actId="14100"/>
        <pc:sldMkLst>
          <pc:docMk/>
          <pc:sldMk cId="4121000372" sldId="310"/>
        </pc:sldMkLst>
        <pc:spChg chg="mod">
          <ac:chgData name="Mattias Svensson Nordell" userId="4f546f3c-2f0b-4f46-aa0f-baeca45b2f48" providerId="ADAL" clId="{F058CD4B-ADAB-4DF6-9FBA-0B6BE644A59A}" dt="2022-08-29T11:35:12.675" v="38" actId="20577"/>
          <ac:spMkLst>
            <pc:docMk/>
            <pc:sldMk cId="4121000372" sldId="310"/>
            <ac:spMk id="2" creationId="{FA00F0DA-5941-1472-21AA-8BBC88F0984F}"/>
          </ac:spMkLst>
        </pc:spChg>
        <pc:spChg chg="del">
          <ac:chgData name="Mattias Svensson Nordell" userId="4f546f3c-2f0b-4f46-aa0f-baeca45b2f48" providerId="ADAL" clId="{F058CD4B-ADAB-4DF6-9FBA-0B6BE644A59A}" dt="2022-08-29T11:33:28.825" v="2" actId="478"/>
          <ac:spMkLst>
            <pc:docMk/>
            <pc:sldMk cId="4121000372" sldId="310"/>
            <ac:spMk id="3" creationId="{426E4170-07A5-012E-B266-824AD0923140}"/>
          </ac:spMkLst>
        </pc:spChg>
        <pc:spChg chg="add del">
          <ac:chgData name="Mattias Svensson Nordell" userId="4f546f3c-2f0b-4f46-aa0f-baeca45b2f48" providerId="ADAL" clId="{F058CD4B-ADAB-4DF6-9FBA-0B6BE644A59A}" dt="2022-08-29T11:33:32.608" v="4" actId="22"/>
          <ac:spMkLst>
            <pc:docMk/>
            <pc:sldMk cId="4121000372" sldId="310"/>
            <ac:spMk id="5" creationId="{C7CFE18F-C339-4358-A13D-1D791E0114E4}"/>
          </ac:spMkLst>
        </pc:spChg>
        <pc:spChg chg="add del">
          <ac:chgData name="Mattias Svensson Nordell" userId="4f546f3c-2f0b-4f46-aa0f-baeca45b2f48" providerId="ADAL" clId="{F058CD4B-ADAB-4DF6-9FBA-0B6BE644A59A}" dt="2022-08-29T11:33:41.926" v="6" actId="22"/>
          <ac:spMkLst>
            <pc:docMk/>
            <pc:sldMk cId="4121000372" sldId="310"/>
            <ac:spMk id="7" creationId="{9A8DF36D-0807-48D3-AEAD-F193BB601256}"/>
          </ac:spMkLst>
        </pc:spChg>
        <pc:spChg chg="add mod">
          <ac:chgData name="Mattias Svensson Nordell" userId="4f546f3c-2f0b-4f46-aa0f-baeca45b2f48" providerId="ADAL" clId="{F058CD4B-ADAB-4DF6-9FBA-0B6BE644A59A}" dt="2022-08-29T11:36:19.721" v="40" actId="14100"/>
          <ac:spMkLst>
            <pc:docMk/>
            <pc:sldMk cId="4121000372" sldId="310"/>
            <ac:spMk id="9" creationId="{B67CB9B4-1513-4A95-BAFB-E073B43A3188}"/>
          </ac:spMkLst>
        </pc:spChg>
      </pc:sldChg>
      <pc:sldChg chg="del">
        <pc:chgData name="Mattias Svensson Nordell" userId="4f546f3c-2f0b-4f46-aa0f-baeca45b2f48" providerId="ADAL" clId="{F058CD4B-ADAB-4DF6-9FBA-0B6BE644A59A}" dt="2022-08-25T11:22:16.856" v="0" actId="47"/>
        <pc:sldMkLst>
          <pc:docMk/>
          <pc:sldMk cId="2933676903" sldId="311"/>
        </pc:sldMkLst>
      </pc:sldChg>
      <pc:sldChg chg="new del">
        <pc:chgData name="Mattias Svensson Nordell" userId="4f546f3c-2f0b-4f46-aa0f-baeca45b2f48" providerId="ADAL" clId="{F058CD4B-ADAB-4DF6-9FBA-0B6BE644A59A}" dt="2022-08-29T11:38:58.793" v="42" actId="47"/>
        <pc:sldMkLst>
          <pc:docMk/>
          <pc:sldMk cId="99030653" sldId="32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DAE7DE-539F-410A-9BE9-18012944D491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D472AC-4429-4AC5-8BF0-80553957E5BA}">
      <dgm:prSet/>
      <dgm:spPr/>
      <dgm:t>
        <a:bodyPr/>
        <a:lstStyle/>
        <a:p>
          <a:r>
            <a:rPr lang="en-US" dirty="0"/>
            <a:t>Name</a:t>
          </a:r>
        </a:p>
      </dgm:t>
    </dgm:pt>
    <dgm:pt modelId="{DC596F7E-89C0-4DAB-8F1A-7BE396E9731B}" type="parTrans" cxnId="{79AEAC5E-C195-43DF-A6DD-72F950807CFA}">
      <dgm:prSet/>
      <dgm:spPr/>
      <dgm:t>
        <a:bodyPr/>
        <a:lstStyle/>
        <a:p>
          <a:endParaRPr lang="en-US"/>
        </a:p>
      </dgm:t>
    </dgm:pt>
    <dgm:pt modelId="{1A5CC133-EFEF-4631-AFDE-45B01CC46BF8}" type="sibTrans" cxnId="{79AEAC5E-C195-43DF-A6DD-72F950807CFA}">
      <dgm:prSet/>
      <dgm:spPr/>
      <dgm:t>
        <a:bodyPr/>
        <a:lstStyle/>
        <a:p>
          <a:endParaRPr lang="en-US"/>
        </a:p>
      </dgm:t>
    </dgm:pt>
    <dgm:pt modelId="{A1911DD9-010D-42EF-B8C7-C8C5860F5E19}">
      <dgm:prSet/>
      <dgm:spPr/>
      <dgm:t>
        <a:bodyPr/>
        <a:lstStyle/>
        <a:p>
          <a:r>
            <a:rPr lang="en-US" dirty="0"/>
            <a:t>Tech Stack</a:t>
          </a:r>
        </a:p>
      </dgm:t>
    </dgm:pt>
    <dgm:pt modelId="{BD360EA5-76A0-472B-82C4-D38B5C766A85}" type="parTrans" cxnId="{123E9D33-04F9-4717-A9E0-6EE1CAA220C1}">
      <dgm:prSet/>
      <dgm:spPr/>
      <dgm:t>
        <a:bodyPr/>
        <a:lstStyle/>
        <a:p>
          <a:endParaRPr lang="en-US"/>
        </a:p>
      </dgm:t>
    </dgm:pt>
    <dgm:pt modelId="{F77A6D5A-A0BA-422F-85EB-28C6D28E38DB}" type="sibTrans" cxnId="{123E9D33-04F9-4717-A9E0-6EE1CAA220C1}">
      <dgm:prSet/>
      <dgm:spPr/>
      <dgm:t>
        <a:bodyPr/>
        <a:lstStyle/>
        <a:p>
          <a:endParaRPr lang="en-US"/>
        </a:p>
      </dgm:t>
    </dgm:pt>
    <dgm:pt modelId="{0B29C6BF-0CB0-43EF-81AA-FE1A33CE901C}">
      <dgm:prSet/>
      <dgm:spPr/>
      <dgm:t>
        <a:bodyPr/>
        <a:lstStyle/>
        <a:p>
          <a:r>
            <a:rPr lang="en-US" dirty="0"/>
            <a:t>Team/Role</a:t>
          </a:r>
        </a:p>
      </dgm:t>
    </dgm:pt>
    <dgm:pt modelId="{7B0D015A-C823-439A-ACF7-B71FB9DD22B4}" type="parTrans" cxnId="{E265FC57-63E3-40DD-BE51-3635C5A6E1FD}">
      <dgm:prSet/>
      <dgm:spPr/>
      <dgm:t>
        <a:bodyPr/>
        <a:lstStyle/>
        <a:p>
          <a:endParaRPr lang="en-US"/>
        </a:p>
      </dgm:t>
    </dgm:pt>
    <dgm:pt modelId="{D0A0D9A8-C482-4304-B663-EB6DB75F1EC5}" type="sibTrans" cxnId="{E265FC57-63E3-40DD-BE51-3635C5A6E1FD}">
      <dgm:prSet/>
      <dgm:spPr/>
      <dgm:t>
        <a:bodyPr/>
        <a:lstStyle/>
        <a:p>
          <a:endParaRPr lang="en-US"/>
        </a:p>
      </dgm:t>
    </dgm:pt>
    <dgm:pt modelId="{BE22BCD0-D537-4CFC-80A4-97095F4C0758}">
      <dgm:prSet/>
      <dgm:spPr/>
      <dgm:t>
        <a:bodyPr/>
        <a:lstStyle/>
        <a:p>
          <a:r>
            <a:rPr lang="en-US" dirty="0"/>
            <a:t>About yourself</a:t>
          </a:r>
        </a:p>
      </dgm:t>
    </dgm:pt>
    <dgm:pt modelId="{17111B80-8404-4EBD-8F53-A2FA4F5D8CAF}" type="parTrans" cxnId="{CA15B5A8-41C2-48EC-B366-5651BB854785}">
      <dgm:prSet/>
      <dgm:spPr/>
      <dgm:t>
        <a:bodyPr/>
        <a:lstStyle/>
        <a:p>
          <a:endParaRPr lang="en-US"/>
        </a:p>
      </dgm:t>
    </dgm:pt>
    <dgm:pt modelId="{40479EAB-CB69-40DE-8011-273F0B2A505B}" type="sibTrans" cxnId="{CA15B5A8-41C2-48EC-B366-5651BB854785}">
      <dgm:prSet/>
      <dgm:spPr/>
      <dgm:t>
        <a:bodyPr/>
        <a:lstStyle/>
        <a:p>
          <a:endParaRPr lang="en-US"/>
        </a:p>
      </dgm:t>
    </dgm:pt>
    <dgm:pt modelId="{A85053EE-ACB5-4A0E-8750-BCD1D69D903D}">
      <dgm:prSet/>
      <dgm:spPr/>
      <dgm:t>
        <a:bodyPr/>
        <a:lstStyle/>
        <a:p>
          <a:endParaRPr lang="en-US" dirty="0"/>
        </a:p>
      </dgm:t>
    </dgm:pt>
    <dgm:pt modelId="{2E1A7637-AFE8-4DD3-9AAB-38DFC772FE67}" type="parTrans" cxnId="{B93CF7BC-3E48-4EFB-9B80-4DD7D6307FED}">
      <dgm:prSet/>
      <dgm:spPr/>
      <dgm:t>
        <a:bodyPr/>
        <a:lstStyle/>
        <a:p>
          <a:endParaRPr lang="en-US"/>
        </a:p>
      </dgm:t>
    </dgm:pt>
    <dgm:pt modelId="{014F0B5D-16FF-4C62-8CC6-BC88D6826A55}" type="sibTrans" cxnId="{B93CF7BC-3E48-4EFB-9B80-4DD7D6307FED}">
      <dgm:prSet/>
      <dgm:spPr/>
      <dgm:t>
        <a:bodyPr/>
        <a:lstStyle/>
        <a:p>
          <a:endParaRPr lang="en-US"/>
        </a:p>
      </dgm:t>
    </dgm:pt>
    <dgm:pt modelId="{6B93A0D9-4F63-E247-B82A-C7B940624ADF}" type="pres">
      <dgm:prSet presAssocID="{50DAE7DE-539F-410A-9BE9-18012944D491}" presName="vert0" presStyleCnt="0">
        <dgm:presLayoutVars>
          <dgm:dir/>
          <dgm:animOne val="branch"/>
          <dgm:animLvl val="lvl"/>
        </dgm:presLayoutVars>
      </dgm:prSet>
      <dgm:spPr/>
    </dgm:pt>
    <dgm:pt modelId="{A7E2AADE-60BC-7E48-8A78-08E47EC564C6}" type="pres">
      <dgm:prSet presAssocID="{47D472AC-4429-4AC5-8BF0-80553957E5BA}" presName="thickLine" presStyleLbl="alignNode1" presStyleIdx="0" presStyleCnt="5"/>
      <dgm:spPr/>
    </dgm:pt>
    <dgm:pt modelId="{1E06A783-424C-2341-A711-87FB3352CE7F}" type="pres">
      <dgm:prSet presAssocID="{47D472AC-4429-4AC5-8BF0-80553957E5BA}" presName="horz1" presStyleCnt="0"/>
      <dgm:spPr/>
    </dgm:pt>
    <dgm:pt modelId="{A3054C53-BB9E-6B45-B40B-B0413DA1D980}" type="pres">
      <dgm:prSet presAssocID="{47D472AC-4429-4AC5-8BF0-80553957E5BA}" presName="tx1" presStyleLbl="revTx" presStyleIdx="0" presStyleCnt="5"/>
      <dgm:spPr/>
    </dgm:pt>
    <dgm:pt modelId="{639650D2-999B-BD41-B1F3-5277168EFD6B}" type="pres">
      <dgm:prSet presAssocID="{47D472AC-4429-4AC5-8BF0-80553957E5BA}" presName="vert1" presStyleCnt="0"/>
      <dgm:spPr/>
    </dgm:pt>
    <dgm:pt modelId="{FBB52C68-4AF2-C84E-8A09-EEF0ED558B1D}" type="pres">
      <dgm:prSet presAssocID="{A1911DD9-010D-42EF-B8C7-C8C5860F5E19}" presName="thickLine" presStyleLbl="alignNode1" presStyleIdx="1" presStyleCnt="5"/>
      <dgm:spPr/>
    </dgm:pt>
    <dgm:pt modelId="{648F5076-E0BF-1F41-84A5-E413522404D6}" type="pres">
      <dgm:prSet presAssocID="{A1911DD9-010D-42EF-B8C7-C8C5860F5E19}" presName="horz1" presStyleCnt="0"/>
      <dgm:spPr/>
    </dgm:pt>
    <dgm:pt modelId="{2C39B56A-22BE-374B-8B96-F611EA704042}" type="pres">
      <dgm:prSet presAssocID="{A1911DD9-010D-42EF-B8C7-C8C5860F5E19}" presName="tx1" presStyleLbl="revTx" presStyleIdx="1" presStyleCnt="5"/>
      <dgm:spPr/>
    </dgm:pt>
    <dgm:pt modelId="{313AB3AC-1B1A-0D42-8D00-A468FE82DD4E}" type="pres">
      <dgm:prSet presAssocID="{A1911DD9-010D-42EF-B8C7-C8C5860F5E19}" presName="vert1" presStyleCnt="0"/>
      <dgm:spPr/>
    </dgm:pt>
    <dgm:pt modelId="{5E1DCE59-74CA-D947-84A5-2A31A7963475}" type="pres">
      <dgm:prSet presAssocID="{0B29C6BF-0CB0-43EF-81AA-FE1A33CE901C}" presName="thickLine" presStyleLbl="alignNode1" presStyleIdx="2" presStyleCnt="5"/>
      <dgm:spPr/>
    </dgm:pt>
    <dgm:pt modelId="{94DCC105-CE0F-7848-9826-BE982D6837AA}" type="pres">
      <dgm:prSet presAssocID="{0B29C6BF-0CB0-43EF-81AA-FE1A33CE901C}" presName="horz1" presStyleCnt="0"/>
      <dgm:spPr/>
    </dgm:pt>
    <dgm:pt modelId="{25C9BA66-48B6-A047-8390-CC334C0A1A26}" type="pres">
      <dgm:prSet presAssocID="{0B29C6BF-0CB0-43EF-81AA-FE1A33CE901C}" presName="tx1" presStyleLbl="revTx" presStyleIdx="2" presStyleCnt="5"/>
      <dgm:spPr/>
    </dgm:pt>
    <dgm:pt modelId="{70EF0271-97F9-5843-8B20-CBEA9AC0D2ED}" type="pres">
      <dgm:prSet presAssocID="{0B29C6BF-0CB0-43EF-81AA-FE1A33CE901C}" presName="vert1" presStyleCnt="0"/>
      <dgm:spPr/>
    </dgm:pt>
    <dgm:pt modelId="{5B8CF8CA-6E6E-364F-B949-CDFE18AE2854}" type="pres">
      <dgm:prSet presAssocID="{BE22BCD0-D537-4CFC-80A4-97095F4C0758}" presName="thickLine" presStyleLbl="alignNode1" presStyleIdx="3" presStyleCnt="5"/>
      <dgm:spPr/>
    </dgm:pt>
    <dgm:pt modelId="{D15A0F1C-FF6A-D240-B91A-895A675C0E74}" type="pres">
      <dgm:prSet presAssocID="{BE22BCD0-D537-4CFC-80A4-97095F4C0758}" presName="horz1" presStyleCnt="0"/>
      <dgm:spPr/>
    </dgm:pt>
    <dgm:pt modelId="{A2B9134C-CD28-C844-BD93-DEAAA388D951}" type="pres">
      <dgm:prSet presAssocID="{BE22BCD0-D537-4CFC-80A4-97095F4C0758}" presName="tx1" presStyleLbl="revTx" presStyleIdx="3" presStyleCnt="5"/>
      <dgm:spPr/>
    </dgm:pt>
    <dgm:pt modelId="{41ACC9EB-9745-6C40-B29F-A8A03C60AECE}" type="pres">
      <dgm:prSet presAssocID="{BE22BCD0-D537-4CFC-80A4-97095F4C0758}" presName="vert1" presStyleCnt="0"/>
      <dgm:spPr/>
    </dgm:pt>
    <dgm:pt modelId="{4D138EE1-CD8B-E94E-A597-B3D388E6686B}" type="pres">
      <dgm:prSet presAssocID="{A85053EE-ACB5-4A0E-8750-BCD1D69D903D}" presName="thickLine" presStyleLbl="alignNode1" presStyleIdx="4" presStyleCnt="5"/>
      <dgm:spPr/>
    </dgm:pt>
    <dgm:pt modelId="{B7657EFC-3C0C-D543-8F70-1F3D8D39E909}" type="pres">
      <dgm:prSet presAssocID="{A85053EE-ACB5-4A0E-8750-BCD1D69D903D}" presName="horz1" presStyleCnt="0"/>
      <dgm:spPr/>
    </dgm:pt>
    <dgm:pt modelId="{04A0DDEB-FF04-AF4E-94D9-8EA603E07EA2}" type="pres">
      <dgm:prSet presAssocID="{A85053EE-ACB5-4A0E-8750-BCD1D69D903D}" presName="tx1" presStyleLbl="revTx" presStyleIdx="4" presStyleCnt="5" custLinFactX="46692" custLinFactNeighborX="100000" custLinFactNeighborY="10258"/>
      <dgm:spPr/>
    </dgm:pt>
    <dgm:pt modelId="{A4BC3F50-A46E-F040-B9DA-5163812FEF5D}" type="pres">
      <dgm:prSet presAssocID="{A85053EE-ACB5-4A0E-8750-BCD1D69D903D}" presName="vert1" presStyleCnt="0"/>
      <dgm:spPr/>
    </dgm:pt>
  </dgm:ptLst>
  <dgm:cxnLst>
    <dgm:cxn modelId="{F7035805-6B9A-E942-BFB1-F1090E168AEE}" type="presOf" srcId="{47D472AC-4429-4AC5-8BF0-80553957E5BA}" destId="{A3054C53-BB9E-6B45-B40B-B0413DA1D980}" srcOrd="0" destOrd="0" presId="urn:microsoft.com/office/officeart/2008/layout/LinedList"/>
    <dgm:cxn modelId="{B4C33F32-554D-AE47-9907-BB698DB4B987}" type="presOf" srcId="{A1911DD9-010D-42EF-B8C7-C8C5860F5E19}" destId="{2C39B56A-22BE-374B-8B96-F611EA704042}" srcOrd="0" destOrd="0" presId="urn:microsoft.com/office/officeart/2008/layout/LinedList"/>
    <dgm:cxn modelId="{123E9D33-04F9-4717-A9E0-6EE1CAA220C1}" srcId="{50DAE7DE-539F-410A-9BE9-18012944D491}" destId="{A1911DD9-010D-42EF-B8C7-C8C5860F5E19}" srcOrd="1" destOrd="0" parTransId="{BD360EA5-76A0-472B-82C4-D38B5C766A85}" sibTransId="{F77A6D5A-A0BA-422F-85EB-28C6D28E38DB}"/>
    <dgm:cxn modelId="{79AEAC5E-C195-43DF-A6DD-72F950807CFA}" srcId="{50DAE7DE-539F-410A-9BE9-18012944D491}" destId="{47D472AC-4429-4AC5-8BF0-80553957E5BA}" srcOrd="0" destOrd="0" parTransId="{DC596F7E-89C0-4DAB-8F1A-7BE396E9731B}" sibTransId="{1A5CC133-EFEF-4631-AFDE-45B01CC46BF8}"/>
    <dgm:cxn modelId="{E265FC57-63E3-40DD-BE51-3635C5A6E1FD}" srcId="{50DAE7DE-539F-410A-9BE9-18012944D491}" destId="{0B29C6BF-0CB0-43EF-81AA-FE1A33CE901C}" srcOrd="2" destOrd="0" parTransId="{7B0D015A-C823-439A-ACF7-B71FB9DD22B4}" sibTransId="{D0A0D9A8-C482-4304-B663-EB6DB75F1EC5}"/>
    <dgm:cxn modelId="{F09F4B9B-2902-0D45-9CDE-7623EAD0FEAD}" type="presOf" srcId="{0B29C6BF-0CB0-43EF-81AA-FE1A33CE901C}" destId="{25C9BA66-48B6-A047-8390-CC334C0A1A26}" srcOrd="0" destOrd="0" presId="urn:microsoft.com/office/officeart/2008/layout/LinedList"/>
    <dgm:cxn modelId="{CA15B5A8-41C2-48EC-B366-5651BB854785}" srcId="{50DAE7DE-539F-410A-9BE9-18012944D491}" destId="{BE22BCD0-D537-4CFC-80A4-97095F4C0758}" srcOrd="3" destOrd="0" parTransId="{17111B80-8404-4EBD-8F53-A2FA4F5D8CAF}" sibTransId="{40479EAB-CB69-40DE-8011-273F0B2A505B}"/>
    <dgm:cxn modelId="{255899AC-8907-EC45-816D-4A1BBB95351D}" type="presOf" srcId="{A85053EE-ACB5-4A0E-8750-BCD1D69D903D}" destId="{04A0DDEB-FF04-AF4E-94D9-8EA603E07EA2}" srcOrd="0" destOrd="0" presId="urn:microsoft.com/office/officeart/2008/layout/LinedList"/>
    <dgm:cxn modelId="{37A404B5-7A63-F247-B909-8990A01B7296}" type="presOf" srcId="{BE22BCD0-D537-4CFC-80A4-97095F4C0758}" destId="{A2B9134C-CD28-C844-BD93-DEAAA388D951}" srcOrd="0" destOrd="0" presId="urn:microsoft.com/office/officeart/2008/layout/LinedList"/>
    <dgm:cxn modelId="{B93CF7BC-3E48-4EFB-9B80-4DD7D6307FED}" srcId="{50DAE7DE-539F-410A-9BE9-18012944D491}" destId="{A85053EE-ACB5-4A0E-8750-BCD1D69D903D}" srcOrd="4" destOrd="0" parTransId="{2E1A7637-AFE8-4DD3-9AAB-38DFC772FE67}" sibTransId="{014F0B5D-16FF-4C62-8CC6-BC88D6826A55}"/>
    <dgm:cxn modelId="{A47257C3-6BFF-9C4C-8099-A317910078FB}" type="presOf" srcId="{50DAE7DE-539F-410A-9BE9-18012944D491}" destId="{6B93A0D9-4F63-E247-B82A-C7B940624ADF}" srcOrd="0" destOrd="0" presId="urn:microsoft.com/office/officeart/2008/layout/LinedList"/>
    <dgm:cxn modelId="{7F51E6C2-8893-DC48-8E33-267CB9ADFF6C}" type="presParOf" srcId="{6B93A0D9-4F63-E247-B82A-C7B940624ADF}" destId="{A7E2AADE-60BC-7E48-8A78-08E47EC564C6}" srcOrd="0" destOrd="0" presId="urn:microsoft.com/office/officeart/2008/layout/LinedList"/>
    <dgm:cxn modelId="{D60718D6-7A00-EC48-A12C-811056422CF1}" type="presParOf" srcId="{6B93A0D9-4F63-E247-B82A-C7B940624ADF}" destId="{1E06A783-424C-2341-A711-87FB3352CE7F}" srcOrd="1" destOrd="0" presId="urn:microsoft.com/office/officeart/2008/layout/LinedList"/>
    <dgm:cxn modelId="{AD73986E-88D3-434C-97F2-235AFB7A275E}" type="presParOf" srcId="{1E06A783-424C-2341-A711-87FB3352CE7F}" destId="{A3054C53-BB9E-6B45-B40B-B0413DA1D980}" srcOrd="0" destOrd="0" presId="urn:microsoft.com/office/officeart/2008/layout/LinedList"/>
    <dgm:cxn modelId="{6BCA0986-30E2-C242-B20E-CBFF4674C6E4}" type="presParOf" srcId="{1E06A783-424C-2341-A711-87FB3352CE7F}" destId="{639650D2-999B-BD41-B1F3-5277168EFD6B}" srcOrd="1" destOrd="0" presId="urn:microsoft.com/office/officeart/2008/layout/LinedList"/>
    <dgm:cxn modelId="{2EC737A6-AC8E-9443-9DC1-CFB7807A5BA7}" type="presParOf" srcId="{6B93A0D9-4F63-E247-B82A-C7B940624ADF}" destId="{FBB52C68-4AF2-C84E-8A09-EEF0ED558B1D}" srcOrd="2" destOrd="0" presId="urn:microsoft.com/office/officeart/2008/layout/LinedList"/>
    <dgm:cxn modelId="{E025CC0E-A940-C141-B785-52C0880986D0}" type="presParOf" srcId="{6B93A0D9-4F63-E247-B82A-C7B940624ADF}" destId="{648F5076-E0BF-1F41-84A5-E413522404D6}" srcOrd="3" destOrd="0" presId="urn:microsoft.com/office/officeart/2008/layout/LinedList"/>
    <dgm:cxn modelId="{8298A85E-25CF-CD43-A4CE-FD465CA37504}" type="presParOf" srcId="{648F5076-E0BF-1F41-84A5-E413522404D6}" destId="{2C39B56A-22BE-374B-8B96-F611EA704042}" srcOrd="0" destOrd="0" presId="urn:microsoft.com/office/officeart/2008/layout/LinedList"/>
    <dgm:cxn modelId="{36BCCC18-4ACE-F241-90E5-F4A55228C052}" type="presParOf" srcId="{648F5076-E0BF-1F41-84A5-E413522404D6}" destId="{313AB3AC-1B1A-0D42-8D00-A468FE82DD4E}" srcOrd="1" destOrd="0" presId="urn:microsoft.com/office/officeart/2008/layout/LinedList"/>
    <dgm:cxn modelId="{6631A16F-9CFD-F24B-8E83-20E374339FB3}" type="presParOf" srcId="{6B93A0D9-4F63-E247-B82A-C7B940624ADF}" destId="{5E1DCE59-74CA-D947-84A5-2A31A7963475}" srcOrd="4" destOrd="0" presId="urn:microsoft.com/office/officeart/2008/layout/LinedList"/>
    <dgm:cxn modelId="{615B085C-452D-1541-9254-780F117CE5FF}" type="presParOf" srcId="{6B93A0D9-4F63-E247-B82A-C7B940624ADF}" destId="{94DCC105-CE0F-7848-9826-BE982D6837AA}" srcOrd="5" destOrd="0" presId="urn:microsoft.com/office/officeart/2008/layout/LinedList"/>
    <dgm:cxn modelId="{4677115B-212C-A04B-AC18-2B4E87343638}" type="presParOf" srcId="{94DCC105-CE0F-7848-9826-BE982D6837AA}" destId="{25C9BA66-48B6-A047-8390-CC334C0A1A26}" srcOrd="0" destOrd="0" presId="urn:microsoft.com/office/officeart/2008/layout/LinedList"/>
    <dgm:cxn modelId="{7B4E0472-09C0-C040-A807-F7AB61474E86}" type="presParOf" srcId="{94DCC105-CE0F-7848-9826-BE982D6837AA}" destId="{70EF0271-97F9-5843-8B20-CBEA9AC0D2ED}" srcOrd="1" destOrd="0" presId="urn:microsoft.com/office/officeart/2008/layout/LinedList"/>
    <dgm:cxn modelId="{48E15327-8416-7943-BC72-BBE57E6A21DB}" type="presParOf" srcId="{6B93A0D9-4F63-E247-B82A-C7B940624ADF}" destId="{5B8CF8CA-6E6E-364F-B949-CDFE18AE2854}" srcOrd="6" destOrd="0" presId="urn:microsoft.com/office/officeart/2008/layout/LinedList"/>
    <dgm:cxn modelId="{CD92BB99-C5E6-3646-A046-3CCA7C48E490}" type="presParOf" srcId="{6B93A0D9-4F63-E247-B82A-C7B940624ADF}" destId="{D15A0F1C-FF6A-D240-B91A-895A675C0E74}" srcOrd="7" destOrd="0" presId="urn:microsoft.com/office/officeart/2008/layout/LinedList"/>
    <dgm:cxn modelId="{8062C1F7-13CF-214A-B75D-2C8AF709C978}" type="presParOf" srcId="{D15A0F1C-FF6A-D240-B91A-895A675C0E74}" destId="{A2B9134C-CD28-C844-BD93-DEAAA388D951}" srcOrd="0" destOrd="0" presId="urn:microsoft.com/office/officeart/2008/layout/LinedList"/>
    <dgm:cxn modelId="{A2962654-D00E-6B45-BED5-957226985324}" type="presParOf" srcId="{D15A0F1C-FF6A-D240-B91A-895A675C0E74}" destId="{41ACC9EB-9745-6C40-B29F-A8A03C60AECE}" srcOrd="1" destOrd="0" presId="urn:microsoft.com/office/officeart/2008/layout/LinedList"/>
    <dgm:cxn modelId="{7E92630E-0EC5-884C-9FEA-E4D3D49C2539}" type="presParOf" srcId="{6B93A0D9-4F63-E247-B82A-C7B940624ADF}" destId="{4D138EE1-CD8B-E94E-A597-B3D388E6686B}" srcOrd="8" destOrd="0" presId="urn:microsoft.com/office/officeart/2008/layout/LinedList"/>
    <dgm:cxn modelId="{DF0C4A38-0C23-FE41-84F5-A354003B9577}" type="presParOf" srcId="{6B93A0D9-4F63-E247-B82A-C7B940624ADF}" destId="{B7657EFC-3C0C-D543-8F70-1F3D8D39E909}" srcOrd="9" destOrd="0" presId="urn:microsoft.com/office/officeart/2008/layout/LinedList"/>
    <dgm:cxn modelId="{DB7FE810-23D6-8049-9DC0-2587169E144B}" type="presParOf" srcId="{B7657EFC-3C0C-D543-8F70-1F3D8D39E909}" destId="{04A0DDEB-FF04-AF4E-94D9-8EA603E07EA2}" srcOrd="0" destOrd="0" presId="urn:microsoft.com/office/officeart/2008/layout/LinedList"/>
    <dgm:cxn modelId="{CFB490ED-60E6-F941-881B-458316C79C2B}" type="presParOf" srcId="{B7657EFC-3C0C-D543-8F70-1F3D8D39E909}" destId="{A4BC3F50-A46E-F040-B9DA-5163812FEF5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2AADE-60BC-7E48-8A78-08E47EC564C6}">
      <dsp:nvSpPr>
        <dsp:cNvPr id="0" name=""/>
        <dsp:cNvSpPr/>
      </dsp:nvSpPr>
      <dsp:spPr>
        <a:xfrm>
          <a:off x="0" y="560"/>
          <a:ext cx="302530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54C53-BB9E-6B45-B40B-B0413DA1D980}">
      <dsp:nvSpPr>
        <dsp:cNvPr id="0" name=""/>
        <dsp:cNvSpPr/>
      </dsp:nvSpPr>
      <dsp:spPr>
        <a:xfrm>
          <a:off x="0" y="560"/>
          <a:ext cx="3025303" cy="918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Name</a:t>
          </a:r>
        </a:p>
      </dsp:txBody>
      <dsp:txXfrm>
        <a:off x="0" y="560"/>
        <a:ext cx="3025303" cy="918128"/>
      </dsp:txXfrm>
    </dsp:sp>
    <dsp:sp modelId="{FBB52C68-4AF2-C84E-8A09-EEF0ED558B1D}">
      <dsp:nvSpPr>
        <dsp:cNvPr id="0" name=""/>
        <dsp:cNvSpPr/>
      </dsp:nvSpPr>
      <dsp:spPr>
        <a:xfrm>
          <a:off x="0" y="918689"/>
          <a:ext cx="3025303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9B56A-22BE-374B-8B96-F611EA704042}">
      <dsp:nvSpPr>
        <dsp:cNvPr id="0" name=""/>
        <dsp:cNvSpPr/>
      </dsp:nvSpPr>
      <dsp:spPr>
        <a:xfrm>
          <a:off x="0" y="918689"/>
          <a:ext cx="3025303" cy="918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Tech Stack</a:t>
          </a:r>
        </a:p>
      </dsp:txBody>
      <dsp:txXfrm>
        <a:off x="0" y="918689"/>
        <a:ext cx="3025303" cy="918128"/>
      </dsp:txXfrm>
    </dsp:sp>
    <dsp:sp modelId="{5E1DCE59-74CA-D947-84A5-2A31A7963475}">
      <dsp:nvSpPr>
        <dsp:cNvPr id="0" name=""/>
        <dsp:cNvSpPr/>
      </dsp:nvSpPr>
      <dsp:spPr>
        <a:xfrm>
          <a:off x="0" y="1836818"/>
          <a:ext cx="3025303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9BA66-48B6-A047-8390-CC334C0A1A26}">
      <dsp:nvSpPr>
        <dsp:cNvPr id="0" name=""/>
        <dsp:cNvSpPr/>
      </dsp:nvSpPr>
      <dsp:spPr>
        <a:xfrm>
          <a:off x="0" y="1836818"/>
          <a:ext cx="3025303" cy="918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Team/Role</a:t>
          </a:r>
        </a:p>
      </dsp:txBody>
      <dsp:txXfrm>
        <a:off x="0" y="1836818"/>
        <a:ext cx="3025303" cy="918128"/>
      </dsp:txXfrm>
    </dsp:sp>
    <dsp:sp modelId="{5B8CF8CA-6E6E-364F-B949-CDFE18AE2854}">
      <dsp:nvSpPr>
        <dsp:cNvPr id="0" name=""/>
        <dsp:cNvSpPr/>
      </dsp:nvSpPr>
      <dsp:spPr>
        <a:xfrm>
          <a:off x="0" y="2754947"/>
          <a:ext cx="302530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9134C-CD28-C844-BD93-DEAAA388D951}">
      <dsp:nvSpPr>
        <dsp:cNvPr id="0" name=""/>
        <dsp:cNvSpPr/>
      </dsp:nvSpPr>
      <dsp:spPr>
        <a:xfrm>
          <a:off x="0" y="2754947"/>
          <a:ext cx="3025303" cy="918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About yourself</a:t>
          </a:r>
        </a:p>
      </dsp:txBody>
      <dsp:txXfrm>
        <a:off x="0" y="2754947"/>
        <a:ext cx="3025303" cy="918128"/>
      </dsp:txXfrm>
    </dsp:sp>
    <dsp:sp modelId="{4D138EE1-CD8B-E94E-A597-B3D388E6686B}">
      <dsp:nvSpPr>
        <dsp:cNvPr id="0" name=""/>
        <dsp:cNvSpPr/>
      </dsp:nvSpPr>
      <dsp:spPr>
        <a:xfrm>
          <a:off x="0" y="3673076"/>
          <a:ext cx="3025303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0DDEB-FF04-AF4E-94D9-8EA603E07EA2}">
      <dsp:nvSpPr>
        <dsp:cNvPr id="0" name=""/>
        <dsp:cNvSpPr/>
      </dsp:nvSpPr>
      <dsp:spPr>
        <a:xfrm>
          <a:off x="0" y="3673637"/>
          <a:ext cx="3025303" cy="9181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 dirty="0"/>
        </a:p>
      </dsp:txBody>
      <dsp:txXfrm>
        <a:off x="0" y="3673637"/>
        <a:ext cx="3025303" cy="9181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0FFA-16CB-CB6E-E518-AFC886BC6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0F23D-28B7-EC7D-3607-11A896BDA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064DD-F2E1-5B8D-EA6A-5FBEDEB4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1A7B9-0E4F-3D75-DA5C-21C8A30FC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5D9A-A362-A2F2-7E5C-F3F005F3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611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505F2-426C-629B-4A89-34F4458C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E3ED2-D3EA-7C93-1B2D-6EB39C259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3A192-F0DB-2527-0F47-70FC2AE5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9F326-7288-BE4B-9904-548B2253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47BFE-51B1-0EB5-1CDF-C4F82AF6D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F5CE1-35FA-3760-B740-2A95E748B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6E9B1-B998-2C21-1381-6C77FD2D5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28F7F-DC89-D05A-2062-D0D89C838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D37D8-975C-2B56-3365-2A99DE9E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FB310-DBD9-CA1F-90BC-C7185ADBA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625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1E6BE-CA0E-6CB4-3008-891890F8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B2AF6-2138-0E71-E17C-5374EE71F7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654304-A109-024A-BA3A-0042AA5CF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C7526-8DCA-2D3F-CB57-907A9318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2DC69-5A24-A5FF-03DC-88497D94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0DEF7-D0EC-98F8-DC43-1B052EAF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15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ACD3D-9E7F-B2D4-5982-977064D7F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81C53-B1FD-7144-B9B6-71EE618A9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59467-F512-95B2-9DAF-D9BE41966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BB79F8-244F-2CF0-5795-3DB502CDE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F558-698A-78D7-9ECC-18D57C3D8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A73FFB-B25D-1066-9DCF-D4CA50B5E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732D9-3D4C-4129-D51C-7FD36D83D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B8C797-B3FE-1761-5ED6-DCC74F7E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60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88DA3-6701-7739-D91D-497ADFC16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51CB1-AC36-9008-6D47-21B70955A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F3EF-AB11-B440-9906-BA55A779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A3A6E-3FF3-A8F3-14E8-1EDF2E5D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4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74D5A-3CC5-3C0F-5CA2-05B6944B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BA3AF2-EB33-E810-04C9-EF1234A3B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4A407-EE9E-1B5C-5AE4-7EBF4F7E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0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748BF-F893-653D-BA62-B7F19F76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2CD13-F365-ADCE-1BAB-3C4DD7287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53EF3-28A4-718F-0040-5782CD02D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43ED97-82CE-0D6F-064F-B97504679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119D9-7EE3-5305-14A3-C0AFC3DE5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83F70-93E8-4288-0D42-EA00717DD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8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41F4D-E894-583F-B849-329E3FFCE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11F717-0B0A-2B41-DE8E-A85A44044D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EB7C1-CBE1-641E-15F1-64F76CEB8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519DA-E7F6-3026-3574-29D28AEE5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49AE67-FD94-CD56-58F2-2F1E19C9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4C5968-0A1E-B46D-D7A4-3210C19D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8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D20AD-3182-4E09-2683-1E79BA30F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C393E1-82A9-8E92-D374-C58802007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9D475-067C-9E13-6776-A9EFF9B7F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38F-C0ED-8079-79A1-75A18ED1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632B7-B1AC-CC67-05B3-97274C468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8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D888F8-86B6-8223-9568-7E4993E84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AD2E7-D878-3E79-D198-0E2E6D7D13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87AC7-28F6-3115-CCB5-C25DD58E0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484E1-C408-1482-5C10-A8FB00012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FCCC0-8637-DF44-CB89-CFB654C7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9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9F2C1D-F6A2-653C-F4D0-1331E3835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11FCB8-C153-C098-D648-83B0E7646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F21FE-C7BB-1E73-758A-1971F6069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01588-0E33-364E-BD55-85C220FFA94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2E383-7D80-E38C-C5FE-27C2D5380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59426-0D2B-86AB-48F7-149A81C37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8A20E-A259-F049-BCE4-B6E6156AF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96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desktop/setup/install/windows-install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to/soutoigor/dockerfile-main-commands-and-instructions-2l2h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www.mankier.com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.to/soutoigor/dockerfile-main-commands-and-instructions-2l2h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ECE78-B2FB-F447-B02C-32B2EAB0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7097" y="1428750"/>
            <a:ext cx="9117807" cy="2105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Day 1: 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Docker Development</a:t>
            </a:r>
          </a:p>
        </p:txBody>
      </p:sp>
    </p:spTree>
    <p:extLst>
      <p:ext uri="{BB962C8B-B14F-4D97-AF65-F5344CB8AC3E}">
        <p14:creationId xmlns:p14="http://schemas.microsoft.com/office/powerpoint/2010/main" val="2639019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D11F-FCD3-E7EB-2E08-E87E0232A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Get to know </a:t>
            </a:r>
            <a:r>
              <a:rPr lang="en-US" sz="4000" dirty="0" err="1">
                <a:solidFill>
                  <a:srgbClr val="FFFFFF"/>
                </a:solidFill>
              </a:rPr>
              <a:t>eachoter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60692E6-6E09-0C14-BEEF-D6D5BDACE0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54" b="11336"/>
          <a:stretch/>
        </p:blipFill>
        <p:spPr>
          <a:xfrm>
            <a:off x="8109502" y="2417994"/>
            <a:ext cx="3615776" cy="203389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8E22B7-800F-FDC9-2C6A-C528A5BD4C5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4548" y="1678469"/>
          <a:ext cx="3025303" cy="4591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6387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A0331A-F2C1-8435-0067-343046E0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7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/>
              <a:t>Modern software development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Logo&#10;&#10;Description automatically generated with low confidence">
            <a:extLst>
              <a:ext uri="{FF2B5EF4-FFF2-40B4-BE49-F238E27FC236}">
                <a16:creationId xmlns:a16="http://schemas.microsoft.com/office/drawing/2014/main" id="{2FE204E5-731E-8346-9094-8693F86FC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761" y="1366503"/>
            <a:ext cx="9110473" cy="520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1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8BAB60D-C5AC-406E-B1F1-59D1CC81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sv-SE" dirty="0" err="1"/>
              <a:t>Physical</a:t>
            </a:r>
            <a:r>
              <a:rPr lang="sv-SE" dirty="0"/>
              <a:t> Servers</a:t>
            </a:r>
            <a:endParaRPr lang="en-SE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226DEC9D-1505-40ED-9A8F-5FCEE7E0D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 lnSpcReduction="10000"/>
          </a:bodyPr>
          <a:lstStyle/>
          <a:p>
            <a:r>
              <a:rPr lang="en-GB" sz="1700" dirty="0"/>
              <a:t>A physical server refers to a hardware server with the motherboard, CPU, memory and IO-controllers. It's considered a bare-metal server because its hardware is used directly by an OS instead of a virtualization platform.</a:t>
            </a:r>
          </a:p>
          <a:p>
            <a:r>
              <a:rPr lang="en-GB" sz="1700" dirty="0"/>
              <a:t>A physical server is used to run a single instance of an OS. It runs Windows, Linux or another OS and, very often, it's used to run single or multiple applications.</a:t>
            </a:r>
          </a:p>
          <a:p>
            <a:r>
              <a:rPr lang="en-GB" sz="1700" dirty="0"/>
              <a:t>Apps on same machine becomes tightly coupled</a:t>
            </a:r>
          </a:p>
          <a:p>
            <a:r>
              <a:rPr lang="en-GB" sz="1700" dirty="0"/>
              <a:t>Common problems are</a:t>
            </a:r>
          </a:p>
          <a:p>
            <a:pPr lvl="1"/>
            <a:r>
              <a:rPr lang="en-GB" sz="1700" dirty="0"/>
              <a:t>One app needs to run another type of OS.</a:t>
            </a:r>
          </a:p>
          <a:p>
            <a:pPr lvl="1"/>
            <a:r>
              <a:rPr lang="en-GB" sz="1700" dirty="0"/>
              <a:t>One app needs a specific java version to be installed</a:t>
            </a:r>
          </a:p>
          <a:p>
            <a:pPr lvl="1"/>
            <a:r>
              <a:rPr lang="en-GB" sz="1700" dirty="0"/>
              <a:t>One app uses storage on the physical </a:t>
            </a:r>
            <a:r>
              <a:rPr lang="en-GB" sz="1700" dirty="0" err="1"/>
              <a:t>harddrive</a:t>
            </a:r>
            <a:endParaRPr lang="en-GB" sz="1700" dirty="0"/>
          </a:p>
          <a:p>
            <a:r>
              <a:rPr lang="en-GB" sz="1700" dirty="0"/>
              <a:t>It is very hard to manage physical machines for multiple apps. New hardware for each app is expensive and slow to install.</a:t>
            </a:r>
          </a:p>
          <a:p>
            <a:pPr marL="0" indent="0">
              <a:buNone/>
            </a:pPr>
            <a:endParaRPr lang="en-GB" sz="1700" dirty="0"/>
          </a:p>
          <a:p>
            <a:pPr lvl="1"/>
            <a:endParaRPr lang="en-GB" sz="1700" dirty="0"/>
          </a:p>
          <a:p>
            <a:endParaRPr lang="en-SE" sz="1700" dirty="0"/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29B75736-A0BB-CDB6-EAF9-BEADE9037E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356" r="11524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68501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1C1D2E18-AC46-F3DE-44EB-7826D9A2E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75471"/>
            <a:ext cx="10905066" cy="550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925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5E0D6DC-1BB8-F17A-C425-EEC203A7B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337" b="27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DE7D14-1665-7331-099D-5A897CE2EDA3}"/>
              </a:ext>
            </a:extLst>
          </p:cNvPr>
          <p:cNvSpPr txBox="1"/>
          <p:nvPr/>
        </p:nvSpPr>
        <p:spPr>
          <a:xfrm>
            <a:off x="9929945" y="1862253"/>
            <a:ext cx="1507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Public registry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91DEB7-3547-A256-0D8B-C73C1D69C90B}"/>
              </a:ext>
            </a:extLst>
          </p:cNvPr>
          <p:cNvSpPr txBox="1"/>
          <p:nvPr/>
        </p:nvSpPr>
        <p:spPr>
          <a:xfrm>
            <a:off x="9865536" y="5709424"/>
            <a:ext cx="1636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Private Registry</a:t>
            </a:r>
          </a:p>
        </p:txBody>
      </p:sp>
    </p:spTree>
    <p:extLst>
      <p:ext uri="{BB962C8B-B14F-4D97-AF65-F5344CB8AC3E}">
        <p14:creationId xmlns:p14="http://schemas.microsoft.com/office/powerpoint/2010/main" val="107131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030577B-26CD-57F0-24E9-82412DA68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Docker</a:t>
            </a:r>
            <a:r>
              <a:rPr lang="sv-SE" dirty="0"/>
              <a:t> desktop is a </a:t>
            </a:r>
            <a:r>
              <a:rPr lang="sv-SE" dirty="0" err="1"/>
              <a:t>good</a:t>
            </a:r>
            <a:r>
              <a:rPr lang="sv-SE" dirty="0"/>
              <a:t> start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7E7F3C-3700-DA85-5DED-387138BC7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Download</a:t>
            </a:r>
            <a:r>
              <a:rPr lang="sv-SE" dirty="0"/>
              <a:t> </a:t>
            </a:r>
            <a:r>
              <a:rPr lang="sv-SE" dirty="0" err="1"/>
              <a:t>docker</a:t>
            </a:r>
            <a:r>
              <a:rPr lang="sv-SE" dirty="0"/>
              <a:t> desktop: </a:t>
            </a:r>
            <a:r>
              <a:rPr lang="sv-SE" dirty="0">
                <a:hlinkClick r:id="rId2"/>
              </a:rPr>
              <a:t>https://docs.docker.com/desktop/setup/install/windows-install/</a:t>
            </a:r>
            <a:endParaRPr lang="sv-SE" dirty="0"/>
          </a:p>
          <a:p>
            <a:r>
              <a:rPr lang="sv-SE" dirty="0"/>
              <a:t>It </a:t>
            </a:r>
            <a:r>
              <a:rPr lang="sv-SE" dirty="0" err="1"/>
              <a:t>contains</a:t>
            </a:r>
            <a:r>
              <a:rPr lang="sv-SE" dirty="0"/>
              <a:t> a </a:t>
            </a:r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registry</a:t>
            </a:r>
            <a:r>
              <a:rPr lang="sv-SE" dirty="0"/>
              <a:t>, the </a:t>
            </a:r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daemon</a:t>
            </a:r>
            <a:r>
              <a:rPr lang="sv-SE" dirty="0"/>
              <a:t> and the CLI </a:t>
            </a:r>
            <a:r>
              <a:rPr lang="sv-SE" dirty="0" err="1"/>
              <a:t>client</a:t>
            </a:r>
            <a:r>
              <a:rPr lang="sv-SE" dirty="0"/>
              <a:t>.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docker</a:t>
            </a:r>
            <a:r>
              <a:rPr lang="sv-SE" dirty="0"/>
              <a:t> desktop as a start in </a:t>
            </a:r>
            <a:r>
              <a:rPr lang="sv-SE" dirty="0" err="1"/>
              <a:t>this</a:t>
            </a:r>
            <a:r>
              <a:rPr lang="sv-SE" dirty="0"/>
              <a:t> </a:t>
            </a:r>
            <a:r>
              <a:rPr lang="sv-SE" dirty="0" err="1"/>
              <a:t>course</a:t>
            </a:r>
            <a:r>
              <a:rPr lang="sv-S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8173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25F9B-D644-EC03-F6F9-C7D2DCBDA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5210B34-0E94-84CC-5C6E-1674C4612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Dockerfile</a:t>
            </a:r>
            <a:r>
              <a:rPr lang="sv-SE" dirty="0"/>
              <a:t> </a:t>
            </a:r>
            <a:r>
              <a:rPr lang="sv-SE" dirty="0" err="1"/>
              <a:t>Instructions</a:t>
            </a:r>
            <a:r>
              <a:rPr lang="sv-SE" dirty="0"/>
              <a:t>: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D89CFCA-A720-3237-BA75-FA376E3DE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 </a:t>
            </a:r>
            <a:r>
              <a:rPr lang="sv-SE" dirty="0" err="1"/>
              <a:t>Dockerfile</a:t>
            </a:r>
            <a:r>
              <a:rPr lang="sv-SE" dirty="0"/>
              <a:t> is </a:t>
            </a:r>
            <a:r>
              <a:rPr lang="sv-SE" dirty="0" err="1"/>
              <a:t>recipe</a:t>
            </a:r>
            <a:r>
              <a:rPr lang="sv-SE" dirty="0"/>
              <a:t> for </a:t>
            </a:r>
            <a:r>
              <a:rPr lang="sv-SE" dirty="0" err="1"/>
              <a:t>creating</a:t>
            </a:r>
            <a:r>
              <a:rPr lang="sv-SE" dirty="0"/>
              <a:t> images</a:t>
            </a:r>
          </a:p>
          <a:p>
            <a:r>
              <a:rPr lang="sv-SE" dirty="0"/>
              <a:t>A container is a </a:t>
            </a:r>
            <a:r>
              <a:rPr lang="sv-SE" dirty="0" err="1"/>
              <a:t>running</a:t>
            </a:r>
            <a:r>
              <a:rPr lang="sv-SE" dirty="0"/>
              <a:t> </a:t>
            </a:r>
            <a:r>
              <a:rPr lang="sv-SE" dirty="0" err="1"/>
              <a:t>instance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an images</a:t>
            </a:r>
          </a:p>
          <a:p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recipe</a:t>
            </a:r>
            <a:r>
              <a:rPr lang="sv-SE" dirty="0"/>
              <a:t> </a:t>
            </a:r>
            <a:r>
              <a:rPr lang="sv-SE" dirty="0" err="1"/>
              <a:t>contains</a:t>
            </a:r>
            <a:r>
              <a:rPr lang="sv-SE" dirty="0"/>
              <a:t> a </a:t>
            </a:r>
            <a:r>
              <a:rPr lang="sv-SE" dirty="0" err="1"/>
              <a:t>base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a snapshot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specific</a:t>
            </a:r>
            <a:r>
              <a:rPr lang="sv-SE" dirty="0"/>
              <a:t> os </a:t>
            </a:r>
            <a:r>
              <a:rPr lang="sv-SE" dirty="0" err="1"/>
              <a:t>configuration</a:t>
            </a:r>
            <a:r>
              <a:rPr lang="sv-SE" dirty="0"/>
              <a:t>.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modify</a:t>
            </a:r>
            <a:r>
              <a:rPr lang="sv-SE" dirty="0"/>
              <a:t> the </a:t>
            </a:r>
            <a:r>
              <a:rPr lang="sv-SE" dirty="0" err="1"/>
              <a:t>base</a:t>
            </a:r>
            <a:r>
              <a:rPr lang="sv-SE" dirty="0"/>
              <a:t> by </a:t>
            </a:r>
            <a:r>
              <a:rPr lang="sv-SE" dirty="0" err="1"/>
              <a:t>adding</a:t>
            </a:r>
            <a:r>
              <a:rPr lang="sv-SE" dirty="0"/>
              <a:t>/</a:t>
            </a:r>
            <a:r>
              <a:rPr lang="sv-SE" dirty="0" err="1"/>
              <a:t>removing</a:t>
            </a:r>
            <a:r>
              <a:rPr lang="sv-SE" dirty="0"/>
              <a:t> and </a:t>
            </a:r>
            <a:r>
              <a:rPr lang="sv-SE" dirty="0" err="1"/>
              <a:t>modifying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inside it. </a:t>
            </a:r>
          </a:p>
          <a:p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a look at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basic</a:t>
            </a:r>
            <a:r>
              <a:rPr lang="sv-SE" dirty="0"/>
              <a:t> </a:t>
            </a:r>
            <a:r>
              <a:rPr lang="sv-SE" dirty="0" err="1"/>
              <a:t>commands</a:t>
            </a:r>
            <a:r>
              <a:rPr lang="sv-SE" dirty="0"/>
              <a:t>:</a:t>
            </a:r>
          </a:p>
          <a:p>
            <a:pPr lvl="1"/>
            <a:r>
              <a:rPr lang="sv-SE" dirty="0">
                <a:hlinkClick r:id="rId2"/>
              </a:rPr>
              <a:t>https://dev.to/soutoigor/dockerfile-main-commands-and-instructions-2l2h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79771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73271-FD37-7C98-8555-D4E60162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9F047300-8029-EE16-DC09-5192F3100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How</a:t>
            </a:r>
            <a:r>
              <a:rPr lang="sv-SE" dirty="0"/>
              <a:t> is an image </a:t>
            </a:r>
            <a:r>
              <a:rPr lang="sv-SE" dirty="0" err="1"/>
              <a:t>created</a:t>
            </a:r>
            <a:r>
              <a:rPr lang="sv-SE" dirty="0"/>
              <a:t>?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D9597A5B-688D-1679-9019-7B4E1E6FF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Dockerfiles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used</a:t>
            </a:r>
            <a:r>
              <a:rPr lang="sv-SE" dirty="0"/>
              <a:t> to </a:t>
            </a:r>
            <a:r>
              <a:rPr lang="sv-SE" dirty="0" err="1"/>
              <a:t>create</a:t>
            </a:r>
            <a:r>
              <a:rPr lang="sv-SE" dirty="0"/>
              <a:t> images</a:t>
            </a:r>
          </a:p>
          <a:p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build</a:t>
            </a:r>
            <a:r>
              <a:rPr lang="sv-SE" dirty="0"/>
              <a:t> and tag </a:t>
            </a:r>
            <a:r>
              <a:rPr lang="sv-SE" dirty="0" err="1"/>
              <a:t>your</a:t>
            </a:r>
            <a:r>
              <a:rPr lang="sv-SE" dirty="0"/>
              <a:t> images and store </a:t>
            </a:r>
            <a:r>
              <a:rPr lang="sv-SE" dirty="0" err="1"/>
              <a:t>them</a:t>
            </a:r>
            <a:r>
              <a:rPr lang="sv-SE" dirty="0"/>
              <a:t> </a:t>
            </a:r>
            <a:r>
              <a:rPr lang="sv-SE" dirty="0" err="1"/>
              <a:t>somewhere</a:t>
            </a:r>
            <a:endParaRPr lang="sv-SE" dirty="0"/>
          </a:p>
          <a:p>
            <a:pPr lvl="1"/>
            <a:r>
              <a:rPr lang="sv-SE" dirty="0"/>
              <a:t>Private </a:t>
            </a:r>
            <a:r>
              <a:rPr lang="sv-SE" dirty="0" err="1"/>
              <a:t>registry</a:t>
            </a:r>
            <a:endParaRPr lang="sv-SE" dirty="0"/>
          </a:p>
          <a:p>
            <a:pPr lvl="1"/>
            <a:r>
              <a:rPr lang="sv-SE" dirty="0" err="1"/>
              <a:t>External</a:t>
            </a:r>
            <a:r>
              <a:rPr lang="sv-SE" dirty="0"/>
              <a:t> </a:t>
            </a:r>
            <a:r>
              <a:rPr lang="sv-SE" dirty="0" err="1"/>
              <a:t>registry</a:t>
            </a:r>
            <a:endParaRPr lang="sv-SE" dirty="0"/>
          </a:p>
          <a:p>
            <a:pPr lvl="1"/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registry</a:t>
            </a:r>
            <a:endParaRPr lang="sv-SE" dirty="0"/>
          </a:p>
          <a:p>
            <a:r>
              <a:rPr lang="sv-SE" dirty="0"/>
              <a:t>Common workflow:</a:t>
            </a:r>
          </a:p>
          <a:p>
            <a:pPr lvl="1"/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build</a:t>
            </a:r>
            <a:r>
              <a:rPr lang="sv-SE" dirty="0"/>
              <a:t> -t </a:t>
            </a:r>
            <a:r>
              <a:rPr lang="sv-SE" dirty="0" err="1"/>
              <a:t>mygimage:tag</a:t>
            </a:r>
            <a:r>
              <a:rPr lang="sv-SE" dirty="0"/>
              <a:t> .</a:t>
            </a:r>
          </a:p>
          <a:p>
            <a:pPr lvl="1"/>
            <a:r>
              <a:rPr lang="sv-SE" dirty="0" err="1"/>
              <a:t>docker</a:t>
            </a:r>
            <a:r>
              <a:rPr lang="sv-SE" dirty="0"/>
              <a:t> tag </a:t>
            </a:r>
            <a:r>
              <a:rPr lang="sv-SE" dirty="0" err="1"/>
              <a:t>myimages:tag</a:t>
            </a:r>
            <a:r>
              <a:rPr lang="sv-SE" dirty="0"/>
              <a:t> </a:t>
            </a:r>
            <a:r>
              <a:rPr lang="sv-SE" dirty="0" err="1"/>
              <a:t>repository</a:t>
            </a:r>
            <a:r>
              <a:rPr lang="sv-SE" dirty="0"/>
              <a:t>/</a:t>
            </a:r>
            <a:r>
              <a:rPr lang="sv-SE" dirty="0" err="1"/>
              <a:t>myimage:tag</a:t>
            </a:r>
            <a:endParaRPr lang="sv-SE" dirty="0"/>
          </a:p>
          <a:p>
            <a:pPr lvl="1"/>
            <a:r>
              <a:rPr lang="sv-SE" dirty="0" err="1"/>
              <a:t>docker</a:t>
            </a:r>
            <a:r>
              <a:rPr lang="sv-SE" dirty="0"/>
              <a:t> push </a:t>
            </a:r>
            <a:r>
              <a:rPr lang="sv-SE" dirty="0" err="1"/>
              <a:t>repository</a:t>
            </a:r>
            <a:r>
              <a:rPr lang="sv-SE" dirty="0"/>
              <a:t>/</a:t>
            </a:r>
            <a:r>
              <a:rPr lang="sv-SE" dirty="0" err="1"/>
              <a:t>myimage:tag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728110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3EEA12E-C98F-4676-8B75-0857DF179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Docker</a:t>
            </a:r>
            <a:r>
              <a:rPr lang="sv-SE" dirty="0"/>
              <a:t> is </a:t>
            </a:r>
            <a:r>
              <a:rPr lang="sv-SE" dirty="0" err="1"/>
              <a:t>Layered</a:t>
            </a:r>
            <a:endParaRPr lang="en-SE" dirty="0"/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4C6D47C9-E099-48C6-B1AB-651C3532F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825624"/>
            <a:ext cx="9264091" cy="4504837"/>
          </a:xfrm>
        </p:spPr>
      </p:pic>
    </p:spTree>
    <p:extLst>
      <p:ext uri="{BB962C8B-B14F-4D97-AF65-F5344CB8AC3E}">
        <p14:creationId xmlns:p14="http://schemas.microsoft.com/office/powerpoint/2010/main" val="2315562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8C57F27-9CD1-E09A-C21E-C1C3ACD7E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Lets</a:t>
            </a:r>
            <a:r>
              <a:rPr lang="sv-SE" dirty="0"/>
              <a:t> look at an </a:t>
            </a:r>
            <a:r>
              <a:rPr lang="sv-SE" dirty="0" err="1"/>
              <a:t>example</a:t>
            </a:r>
            <a:endParaRPr lang="sv-SE" dirty="0"/>
          </a:p>
        </p:txBody>
      </p:sp>
      <p:pic>
        <p:nvPicPr>
          <p:cNvPr id="5" name="Platshållare för innehåll 4">
            <a:extLst>
              <a:ext uri="{FF2B5EF4-FFF2-40B4-BE49-F238E27FC236}">
                <a16:creationId xmlns:a16="http://schemas.microsoft.com/office/drawing/2014/main" id="{AF39DC19-39BB-D541-F239-EB8E62EC6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029" y="1912036"/>
            <a:ext cx="9569942" cy="41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239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A68D-C1B3-6174-BAB4-C9BA92FA8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5216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Mankier documentation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B3CCF-610F-E4E8-E53A-DC690F21E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560" y="2278717"/>
            <a:ext cx="3937943" cy="4042977"/>
          </a:xfrm>
        </p:spPr>
        <p:txBody>
          <a:bodyPr anchor="ctr">
            <a:normAutofit/>
          </a:bodyPr>
          <a:lstStyle/>
          <a:p>
            <a:r>
              <a:rPr lang="en-US" sz="2200" dirty="0"/>
              <a:t>Using </a:t>
            </a:r>
            <a:r>
              <a:rPr lang="en-US" sz="2200" dirty="0">
                <a:hlinkClick r:id="rId2"/>
              </a:rPr>
              <a:t>www.mankier.com</a:t>
            </a:r>
            <a:endParaRPr lang="en-US" sz="2200" dirty="0"/>
          </a:p>
          <a:p>
            <a:pPr lvl="1"/>
            <a:r>
              <a:rPr lang="en-US" sz="2200" dirty="0"/>
              <a:t>You can search for almost any command in </a:t>
            </a:r>
            <a:r>
              <a:rPr lang="en-US" sz="2200" dirty="0" err="1"/>
              <a:t>linux</a:t>
            </a:r>
            <a:r>
              <a:rPr lang="en-US" sz="2200" dirty="0"/>
              <a:t> and get examples</a:t>
            </a:r>
          </a:p>
          <a:p>
            <a:pPr lvl="1"/>
            <a:r>
              <a:rPr lang="en-US" sz="2200" dirty="0"/>
              <a:t>Documentation is translated from man pages to readable html5</a:t>
            </a:r>
          </a:p>
          <a:p>
            <a:pPr lvl="1"/>
            <a:r>
              <a:rPr lang="en-US" sz="2200" dirty="0"/>
              <a:t>You can even use it for docker, </a:t>
            </a:r>
            <a:r>
              <a:rPr lang="en-US" sz="2200" dirty="0" err="1"/>
              <a:t>openshift</a:t>
            </a:r>
            <a:r>
              <a:rPr lang="en-US" sz="2200" dirty="0"/>
              <a:t> and many other tools</a:t>
            </a:r>
          </a:p>
          <a:p>
            <a:endParaRPr lang="en-US" sz="2200" dirty="0"/>
          </a:p>
        </p:txBody>
      </p:sp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AD358B4-CBAF-F604-0A65-05AD9E2BB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607" y="2278717"/>
            <a:ext cx="7260974" cy="426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378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0BA2-5D2B-943C-F560-34D472B43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/>
              <a:t>Pulling </a:t>
            </a:r>
            <a:r>
              <a:rPr lang="sv-SE" dirty="0" err="1"/>
              <a:t>docker</a:t>
            </a:r>
            <a:r>
              <a:rPr lang="sv-SE" dirty="0"/>
              <a:t> images from </a:t>
            </a:r>
            <a:r>
              <a:rPr lang="sv-SE" dirty="0" err="1"/>
              <a:t>dockerhub</a:t>
            </a:r>
            <a:endParaRPr lang="sv-S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E6FF51-0F05-4BCA-D234-D7198434DFF9}"/>
              </a:ext>
            </a:extLst>
          </p:cNvPr>
          <p:cNvSpPr txBox="1"/>
          <p:nvPr/>
        </p:nvSpPr>
        <p:spPr>
          <a:xfrm>
            <a:off x="838199" y="1506022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are multiple available public registries, default for Docker is </a:t>
            </a:r>
            <a:r>
              <a:rPr lang="en-US" dirty="0" err="1"/>
              <a:t>dockerhub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images is a snapshot of a filesystem at a given moment in time (Operating System)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doing a docker pull, the image will end up in your local registry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will later look at the registry hosted in </a:t>
            </a:r>
            <a:r>
              <a:rPr lang="en-US" dirty="0" err="1"/>
              <a:t>Openshift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7F05E4-DE4F-A3C6-05E1-32929DC12854}"/>
              </a:ext>
            </a:extLst>
          </p:cNvPr>
          <p:cNvSpPr/>
          <p:nvPr/>
        </p:nvSpPr>
        <p:spPr>
          <a:xfrm>
            <a:off x="1024245" y="2831585"/>
            <a:ext cx="10329553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pull </a:t>
            </a:r>
            <a:r>
              <a:rPr lang="en-GB" dirty="0" err="1">
                <a:solidFill>
                  <a:srgbClr val="2FFF12"/>
                </a:solidFill>
                <a:latin typeface="Andale Mono" panose="020B0509000000000004" pitchFamily="49" charset="0"/>
              </a:rPr>
              <a:t>httpd:latest</a:t>
            </a:r>
            <a:endParaRPr lang="en-GB" dirty="0">
              <a:solidFill>
                <a:srgbClr val="2FFF12"/>
              </a:solidFill>
              <a:latin typeface="Andale Mono" panose="020B0509000000000004" pitchFamily="49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0638FC4-329F-B545-73C8-FB1682495F9C}"/>
              </a:ext>
            </a:extLst>
          </p:cNvPr>
          <p:cNvSpPr/>
          <p:nvPr/>
        </p:nvSpPr>
        <p:spPr>
          <a:xfrm>
            <a:off x="1024245" y="4794926"/>
            <a:ext cx="10329553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images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89F0BD-2E6F-7BE9-093F-1528D5A4FE86}"/>
              </a:ext>
            </a:extLst>
          </p:cNvPr>
          <p:cNvSpPr txBox="1"/>
          <p:nvPr/>
        </p:nvSpPr>
        <p:spPr>
          <a:xfrm>
            <a:off x="838198" y="3781481"/>
            <a:ext cx="103295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list all images in the private (local) registry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You can see image id,  tag and repository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879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AE26C-6485-2324-819C-6165C7C51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Running our first container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A0B73D-497B-6E80-680B-58F877FD47A0}"/>
              </a:ext>
            </a:extLst>
          </p:cNvPr>
          <p:cNvSpPr txBox="1"/>
          <p:nvPr/>
        </p:nvSpPr>
        <p:spPr>
          <a:xfrm>
            <a:off x="838200" y="1690688"/>
            <a:ext cx="720947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 the </a:t>
            </a:r>
            <a:r>
              <a:rPr lang="en-US" dirty="0" err="1"/>
              <a:t>busybox</a:t>
            </a:r>
            <a:r>
              <a:rPr lang="en-US" dirty="0"/>
              <a:t> container will give no result….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 can name the container so that we can easier find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container needs to have a process connected, or it will shutdown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F4ACBA-8905-7FF0-B1D3-2F73CC05A467}"/>
              </a:ext>
            </a:extLst>
          </p:cNvPr>
          <p:cNvSpPr txBox="1"/>
          <p:nvPr/>
        </p:nvSpPr>
        <p:spPr>
          <a:xfrm>
            <a:off x="838200" y="3429000"/>
            <a:ext cx="79224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Let’s connect a terminal and se what happens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Attaching a terminal (or any other process) will keep the container running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Exiting the terminal will terminate the container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1B90CC2-324B-BF8C-F58B-00842AE40625}"/>
              </a:ext>
            </a:extLst>
          </p:cNvPr>
          <p:cNvSpPr/>
          <p:nvPr/>
        </p:nvSpPr>
        <p:spPr>
          <a:xfrm>
            <a:off x="838200" y="2679057"/>
            <a:ext cx="10515600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--name b1 httpd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984688A-0CBD-EE66-733B-15C37AAA77D7}"/>
              </a:ext>
            </a:extLst>
          </p:cNvPr>
          <p:cNvSpPr/>
          <p:nvPr/>
        </p:nvSpPr>
        <p:spPr>
          <a:xfrm>
            <a:off x="838199" y="4459184"/>
            <a:ext cx="10515600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-it --name b2 httpd </a:t>
            </a:r>
            <a:r>
              <a:rPr lang="en-GB" dirty="0" err="1">
                <a:solidFill>
                  <a:srgbClr val="2FFF12"/>
                </a:solidFill>
                <a:latin typeface="Andale Mono" panose="020B0509000000000004" pitchFamily="49" charset="0"/>
              </a:rPr>
              <a:t>sh</a:t>
            </a:r>
            <a:endParaRPr lang="en-GB" dirty="0">
              <a:solidFill>
                <a:srgbClr val="2FFF12"/>
              </a:solidFill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473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C4A96-E275-E5E6-31C7-B319A3085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Running a Container in detached mode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110BD-A212-3B8A-0148-38AC78131A92}"/>
              </a:ext>
            </a:extLst>
          </p:cNvPr>
          <p:cNvSpPr txBox="1"/>
          <p:nvPr/>
        </p:nvSpPr>
        <p:spPr>
          <a:xfrm>
            <a:off x="1210293" y="1690688"/>
            <a:ext cx="60217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of the time we want to run in detached mode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When in detached mode, the container keeps running in the background.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Detached mode will make it easier to manage multiple containers.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BABA46-A38B-BF36-E44D-DF78C011E4CE}"/>
              </a:ext>
            </a:extLst>
          </p:cNvPr>
          <p:cNvSpPr/>
          <p:nvPr/>
        </p:nvSpPr>
        <p:spPr>
          <a:xfrm>
            <a:off x="1210294" y="3532909"/>
            <a:ext cx="10143506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-it -d --name b3 httpd</a:t>
            </a:r>
          </a:p>
        </p:txBody>
      </p:sp>
    </p:spTree>
    <p:extLst>
      <p:ext uri="{BB962C8B-B14F-4D97-AF65-F5344CB8AC3E}">
        <p14:creationId xmlns:p14="http://schemas.microsoft.com/office/powerpoint/2010/main" val="1180829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72E0-DC7B-E29A-66FD-391D9F18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Listing containers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FF743A-DA81-D8AD-D180-72EB062C7BFA}"/>
              </a:ext>
            </a:extLst>
          </p:cNvPr>
          <p:cNvSpPr txBox="1"/>
          <p:nvPr/>
        </p:nvSpPr>
        <p:spPr>
          <a:xfrm>
            <a:off x="1210293" y="1690688"/>
            <a:ext cx="6021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list all running containers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Stopped containers will not show 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2CCAE4E-09FF-3F32-83FB-FCC285D07AC1}"/>
              </a:ext>
            </a:extLst>
          </p:cNvPr>
          <p:cNvSpPr/>
          <p:nvPr/>
        </p:nvSpPr>
        <p:spPr>
          <a:xfrm>
            <a:off x="1210293" y="2495847"/>
            <a:ext cx="10143506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</a:t>
            </a:r>
            <a:r>
              <a:rPr lang="en-GB" dirty="0" err="1">
                <a:solidFill>
                  <a:srgbClr val="2FFF12"/>
                </a:solidFill>
                <a:latin typeface="Andale Mono" panose="020B0509000000000004" pitchFamily="49" charset="0"/>
              </a:rPr>
              <a:t>ps</a:t>
            </a:r>
            <a:endParaRPr lang="en-GB" dirty="0">
              <a:solidFill>
                <a:srgbClr val="2FFF12"/>
              </a:solidFill>
              <a:latin typeface="Andale Mono" panose="020B0509000000000004" pitchFamily="49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FE0682-5109-51A7-4E63-DEBDC91DCDE8}"/>
              </a:ext>
            </a:extLst>
          </p:cNvPr>
          <p:cNvSpPr/>
          <p:nvPr/>
        </p:nvSpPr>
        <p:spPr>
          <a:xfrm>
            <a:off x="1115954" y="4195971"/>
            <a:ext cx="10143506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</a:t>
            </a:r>
            <a:r>
              <a:rPr lang="en-GB" dirty="0" err="1">
                <a:solidFill>
                  <a:srgbClr val="2FFF12"/>
                </a:solidFill>
                <a:latin typeface="Andale Mono" panose="020B0509000000000004" pitchFamily="49" charset="0"/>
              </a:rPr>
              <a:t>ps</a:t>
            </a:r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 -a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99732-BFEE-162C-B9FD-750303D98319}"/>
              </a:ext>
            </a:extLst>
          </p:cNvPr>
          <p:cNvSpPr txBox="1"/>
          <p:nvPr/>
        </p:nvSpPr>
        <p:spPr>
          <a:xfrm>
            <a:off x="932540" y="3441355"/>
            <a:ext cx="6021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list all running + non running containers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Both stopped and running containers will how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115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426A7-99EB-2FC8-A26A-C8BF8D46C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Stopping and starting containers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D78B53C-BA1A-153F-5C65-2BAEF2C048F8}"/>
              </a:ext>
            </a:extLst>
          </p:cNvPr>
          <p:cNvSpPr/>
          <p:nvPr/>
        </p:nvSpPr>
        <p:spPr>
          <a:xfrm>
            <a:off x="1024247" y="4543323"/>
            <a:ext cx="10143506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start b2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55CD66-49F4-7E5E-62E7-D08932B0395F}"/>
              </a:ext>
            </a:extLst>
          </p:cNvPr>
          <p:cNvSpPr/>
          <p:nvPr/>
        </p:nvSpPr>
        <p:spPr>
          <a:xfrm>
            <a:off x="1024247" y="2508201"/>
            <a:ext cx="10143506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stop b1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2FF83-88D4-5A78-02E9-25580EB85A0D}"/>
              </a:ext>
            </a:extLst>
          </p:cNvPr>
          <p:cNvSpPr txBox="1"/>
          <p:nvPr/>
        </p:nvSpPr>
        <p:spPr>
          <a:xfrm>
            <a:off x="1024247" y="1861870"/>
            <a:ext cx="6021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Stopping a container</a:t>
            </a:r>
          </a:p>
          <a:p>
            <a:pPr lvl="1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1D2760-D731-731E-BFD9-CC2D0392D990}"/>
              </a:ext>
            </a:extLst>
          </p:cNvPr>
          <p:cNvSpPr txBox="1"/>
          <p:nvPr/>
        </p:nvSpPr>
        <p:spPr>
          <a:xfrm>
            <a:off x="1024247" y="3899523"/>
            <a:ext cx="6021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 a container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55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ED928-AAE9-0F8C-118C-FFC02F89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Deleting containers and images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EE6AF7-94FE-599F-FBFA-6CCEB8876819}"/>
              </a:ext>
            </a:extLst>
          </p:cNvPr>
          <p:cNvSpPr/>
          <p:nvPr/>
        </p:nvSpPr>
        <p:spPr>
          <a:xfrm>
            <a:off x="838201" y="2391589"/>
            <a:ext cx="10515599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rm b1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62988-D4BA-3015-24F8-E8BB319090B2}"/>
              </a:ext>
            </a:extLst>
          </p:cNvPr>
          <p:cNvSpPr txBox="1"/>
          <p:nvPr/>
        </p:nvSpPr>
        <p:spPr>
          <a:xfrm>
            <a:off x="838200" y="1690688"/>
            <a:ext cx="6021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delete a non running container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Running containers need to be stopped before deleted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r>
              <a:rPr lang="en-US" dirty="0"/>
              <a:t>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C8E85A0-31BE-D7E0-5095-89901BD6E82D}"/>
              </a:ext>
            </a:extLst>
          </p:cNvPr>
          <p:cNvSpPr/>
          <p:nvPr/>
        </p:nvSpPr>
        <p:spPr>
          <a:xfrm>
            <a:off x="739755" y="4222336"/>
            <a:ext cx="10515599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rm b1 --force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0FAA1-800A-C863-F617-1CEC0D93E498}"/>
              </a:ext>
            </a:extLst>
          </p:cNvPr>
          <p:cNvSpPr txBox="1"/>
          <p:nvPr/>
        </p:nvSpPr>
        <p:spPr>
          <a:xfrm>
            <a:off x="739755" y="3342641"/>
            <a:ext cx="6021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also delete a running container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Force deleting will not terminate containers gracefully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710DFE-D4E0-0B30-8FE7-FB63FB48BEAB}"/>
              </a:ext>
            </a:extLst>
          </p:cNvPr>
          <p:cNvSpPr/>
          <p:nvPr/>
        </p:nvSpPr>
        <p:spPr>
          <a:xfrm>
            <a:off x="739755" y="5874289"/>
            <a:ext cx="10515599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</a:t>
            </a:r>
            <a:r>
              <a:rPr lang="en-GB" dirty="0" err="1">
                <a:solidFill>
                  <a:srgbClr val="2FFF12"/>
                </a:solidFill>
                <a:latin typeface="Andale Mono" panose="020B0509000000000004" pitchFamily="49" charset="0"/>
              </a:rPr>
              <a:t>rmi</a:t>
            </a:r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 </a:t>
            </a:r>
            <a:r>
              <a:rPr lang="en-GB" dirty="0" err="1">
                <a:solidFill>
                  <a:srgbClr val="2FFF12"/>
                </a:solidFill>
                <a:latin typeface="Andale Mono" panose="020B0509000000000004" pitchFamily="49" charset="0"/>
              </a:rPr>
              <a:t>busybox:latest</a:t>
            </a:r>
            <a:endParaRPr lang="en-GB" dirty="0">
              <a:solidFill>
                <a:srgbClr val="2FFF12"/>
              </a:solidFill>
              <a:latin typeface="Andale Mono" panose="020B05090000000000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01B45-3806-BCD1-8286-AB5C1C14E205}"/>
              </a:ext>
            </a:extLst>
          </p:cNvPr>
          <p:cNvSpPr txBox="1"/>
          <p:nvPr/>
        </p:nvSpPr>
        <p:spPr>
          <a:xfrm>
            <a:off x="699046" y="5168163"/>
            <a:ext cx="6021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delete 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Images will be deleted from local registry only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140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1142-ECC6-B2B3-8A8E-73F99BFA5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Pruning docker containers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4B53F7-D67E-C2F0-705C-838FA51645DC}"/>
              </a:ext>
            </a:extLst>
          </p:cNvPr>
          <p:cNvSpPr/>
          <p:nvPr/>
        </p:nvSpPr>
        <p:spPr>
          <a:xfrm>
            <a:off x="838201" y="2157788"/>
            <a:ext cx="10515599" cy="320634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container prune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56F378-3156-5A21-B6DF-9B1D71472455}"/>
              </a:ext>
            </a:extLst>
          </p:cNvPr>
          <p:cNvSpPr txBox="1"/>
          <p:nvPr/>
        </p:nvSpPr>
        <p:spPr>
          <a:xfrm>
            <a:off x="838200" y="1690688"/>
            <a:ext cx="6021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 can delete all stopped containers with prune</a:t>
            </a:r>
          </a:p>
        </p:txBody>
      </p:sp>
    </p:spTree>
    <p:extLst>
      <p:ext uri="{BB962C8B-B14F-4D97-AF65-F5344CB8AC3E}">
        <p14:creationId xmlns:p14="http://schemas.microsoft.com/office/powerpoint/2010/main" val="7081508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28A5-FC4D-D47A-6D68-7E6D56301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Command and </a:t>
            </a:r>
            <a:r>
              <a:rPr lang="en-US" dirty="0" err="1"/>
              <a:t>Entrypoint</a:t>
            </a:r>
            <a:endParaRPr lang="en-US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C9395141-FEAB-4D44-909C-810168288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Entrypoint</a:t>
            </a:r>
            <a:r>
              <a:rPr lang="sv-SE" dirty="0"/>
              <a:t>: Will </a:t>
            </a:r>
            <a:r>
              <a:rPr lang="sv-SE" dirty="0" err="1"/>
              <a:t>run</a:t>
            </a:r>
            <a:r>
              <a:rPr lang="sv-SE" dirty="0"/>
              <a:t> </a:t>
            </a:r>
            <a:r>
              <a:rPr lang="sv-SE" dirty="0" err="1"/>
              <a:t>automatically</a:t>
            </a:r>
            <a:r>
              <a:rPr lang="sv-SE" dirty="0"/>
              <a:t> </a:t>
            </a:r>
            <a:r>
              <a:rPr lang="sv-SE" dirty="0" err="1"/>
              <a:t>once</a:t>
            </a:r>
            <a:r>
              <a:rPr lang="sv-SE" dirty="0"/>
              <a:t> the container is </a:t>
            </a:r>
            <a:r>
              <a:rPr lang="sv-SE" dirty="0" err="1"/>
              <a:t>started</a:t>
            </a:r>
            <a:r>
              <a:rPr lang="sv-SE" dirty="0"/>
              <a:t>,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insert</a:t>
            </a:r>
            <a:r>
              <a:rPr lang="sv-SE" dirty="0"/>
              <a:t> arguments </a:t>
            </a:r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starting</a:t>
            </a:r>
            <a:r>
              <a:rPr lang="sv-SE" dirty="0"/>
              <a:t> container </a:t>
            </a:r>
            <a:r>
              <a:rPr lang="sv-SE" dirty="0" err="1"/>
              <a:t>through</a:t>
            </a:r>
            <a:r>
              <a:rPr lang="sv-SE" dirty="0"/>
              <a:t> </a:t>
            </a:r>
            <a:r>
              <a:rPr lang="sv-SE" dirty="0" err="1"/>
              <a:t>commands</a:t>
            </a:r>
            <a:r>
              <a:rPr lang="sv-SE" dirty="0"/>
              <a:t> (CMD). </a:t>
            </a:r>
            <a:r>
              <a:rPr lang="sv-SE" dirty="0" err="1"/>
              <a:t>Entrypoint</a:t>
            </a:r>
            <a:r>
              <a:rPr lang="sv-SE" dirty="0"/>
              <a:t> for a </a:t>
            </a:r>
            <a:r>
              <a:rPr lang="sv-SE" dirty="0" err="1"/>
              <a:t>busybox</a:t>
            </a:r>
            <a:r>
              <a:rPr lang="sv-SE" dirty="0"/>
              <a:t> image is ”/bin/</a:t>
            </a:r>
            <a:r>
              <a:rPr lang="sv-SE" dirty="0" err="1"/>
              <a:t>sh</a:t>
            </a:r>
            <a:r>
              <a:rPr lang="sv-SE" dirty="0"/>
              <a:t>”</a:t>
            </a:r>
          </a:p>
          <a:p>
            <a:r>
              <a:rPr lang="sv-SE" dirty="0"/>
              <a:t>CMD: </a:t>
            </a:r>
            <a:r>
              <a:rPr lang="sv-SE" dirty="0" err="1"/>
              <a:t>commands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be </a:t>
            </a:r>
            <a:r>
              <a:rPr lang="sv-SE" dirty="0" err="1"/>
              <a:t>overridden</a:t>
            </a:r>
            <a:r>
              <a:rPr lang="sv-SE" dirty="0"/>
              <a:t> by </a:t>
            </a:r>
            <a:r>
              <a:rPr lang="sv-SE" dirty="0" err="1"/>
              <a:t>passing</a:t>
            </a:r>
            <a:r>
              <a:rPr lang="sv-SE" dirty="0"/>
              <a:t> new arguments.</a:t>
            </a:r>
          </a:p>
          <a:p>
            <a:pPr lvl="1"/>
            <a:r>
              <a:rPr lang="sv-SE" dirty="0"/>
              <a:t>For a </a:t>
            </a:r>
            <a:r>
              <a:rPr lang="sv-SE" dirty="0" err="1"/>
              <a:t>busybox</a:t>
            </a:r>
            <a:r>
              <a:rPr lang="sv-SE" dirty="0"/>
              <a:t> container </a:t>
            </a:r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pass an argument to the /bin/</a:t>
            </a:r>
            <a:r>
              <a:rPr lang="sv-SE" dirty="0" err="1"/>
              <a:t>sh</a:t>
            </a:r>
            <a:r>
              <a:rPr lang="sv-SE" dirty="0"/>
              <a:t> </a:t>
            </a:r>
            <a:r>
              <a:rPr lang="sv-SE" dirty="0" err="1"/>
              <a:t>command</a:t>
            </a:r>
            <a:endParaRPr lang="sv-SE" dirty="0"/>
          </a:p>
          <a:p>
            <a:r>
              <a:rPr lang="sv-SE" dirty="0" err="1"/>
              <a:t>Busybox</a:t>
            </a:r>
            <a:r>
              <a:rPr lang="sv-SE" dirty="0"/>
              <a:t> </a:t>
            </a:r>
            <a:r>
              <a:rPr lang="sv-SE" dirty="0" err="1"/>
              <a:t>doesnt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</a:t>
            </a:r>
            <a:r>
              <a:rPr lang="sv-SE" dirty="0" err="1"/>
              <a:t>any</a:t>
            </a:r>
            <a:r>
              <a:rPr lang="sv-SE" dirty="0"/>
              <a:t> </a:t>
            </a:r>
            <a:r>
              <a:rPr lang="sv-SE" dirty="0" err="1"/>
              <a:t>proccess</a:t>
            </a:r>
            <a:r>
              <a:rPr lang="sv-SE" dirty="0"/>
              <a:t> </a:t>
            </a:r>
            <a:r>
              <a:rPr lang="sv-SE" dirty="0" err="1"/>
              <a:t>running</a:t>
            </a:r>
            <a:r>
              <a:rPr lang="sv-SE" dirty="0"/>
              <a:t> inside it, so it </a:t>
            </a:r>
            <a:r>
              <a:rPr lang="sv-SE" dirty="0" err="1"/>
              <a:t>will</a:t>
            </a:r>
            <a:r>
              <a:rPr lang="sv-SE" dirty="0"/>
              <a:t> </a:t>
            </a:r>
            <a:r>
              <a:rPr lang="sv-SE" dirty="0" err="1"/>
              <a:t>quit</a:t>
            </a:r>
            <a:r>
              <a:rPr lang="sv-SE" dirty="0"/>
              <a:t> </a:t>
            </a:r>
            <a:r>
              <a:rPr lang="sv-SE" dirty="0" err="1"/>
              <a:t>automatically</a:t>
            </a:r>
            <a:r>
              <a:rPr lang="sv-SE" dirty="0"/>
              <a:t> </a:t>
            </a:r>
            <a:r>
              <a:rPr lang="sv-SE" dirty="0" err="1"/>
              <a:t>when</a:t>
            </a:r>
            <a:r>
              <a:rPr lang="sv-SE" dirty="0"/>
              <a:t> </a:t>
            </a:r>
            <a:r>
              <a:rPr lang="sv-SE" dirty="0" err="1"/>
              <a:t>started</a:t>
            </a:r>
            <a:r>
              <a:rPr lang="sv-SE" dirty="0"/>
              <a:t>. </a:t>
            </a:r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run</a:t>
            </a:r>
            <a:r>
              <a:rPr lang="sv-SE" dirty="0"/>
              <a:t> a </a:t>
            </a:r>
            <a:r>
              <a:rPr lang="sv-SE" dirty="0" err="1"/>
              <a:t>sleep</a:t>
            </a:r>
            <a:r>
              <a:rPr lang="sv-SE" dirty="0"/>
              <a:t> </a:t>
            </a:r>
            <a:r>
              <a:rPr lang="sv-SE" dirty="0" err="1"/>
              <a:t>proccess</a:t>
            </a:r>
            <a:r>
              <a:rPr lang="sv-SE" dirty="0"/>
              <a:t> to make it </a:t>
            </a:r>
            <a:r>
              <a:rPr lang="sv-SE" dirty="0" err="1"/>
              <a:t>stay</a:t>
            </a:r>
            <a:r>
              <a:rPr lang="sv-SE" dirty="0"/>
              <a:t> </a:t>
            </a:r>
            <a:r>
              <a:rPr lang="sv-SE" dirty="0" err="1"/>
              <a:t>alive</a:t>
            </a:r>
            <a:r>
              <a:rPr lang="sv-SE" dirty="0"/>
              <a:t>.</a:t>
            </a:r>
          </a:p>
          <a:p>
            <a:pPr marL="457200" lvl="1" indent="0">
              <a:buNone/>
            </a:pPr>
            <a:endParaRPr lang="sv-SE" dirty="0"/>
          </a:p>
          <a:p>
            <a:pPr marL="0" indent="0">
              <a:buNone/>
            </a:pPr>
            <a:endParaRPr lang="sv-SE" dirty="0"/>
          </a:p>
          <a:p>
            <a:endParaRPr lang="en-SE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8A1911F-72A9-4C90-BFFC-B4FCABD8B6B8}"/>
              </a:ext>
            </a:extLst>
          </p:cNvPr>
          <p:cNvSpPr/>
          <p:nvPr/>
        </p:nvSpPr>
        <p:spPr>
          <a:xfrm>
            <a:off x="838201" y="5258795"/>
            <a:ext cx="10783956" cy="572162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-it --name=b7 -d </a:t>
            </a:r>
            <a:r>
              <a:rPr lang="en-GB" dirty="0" err="1">
                <a:solidFill>
                  <a:srgbClr val="2FFF12"/>
                </a:solidFill>
                <a:latin typeface="Andale Mono" panose="020B0509000000000004" pitchFamily="49" charset="0"/>
              </a:rPr>
              <a:t>busybox:latest</a:t>
            </a:r>
            <a:r>
              <a:rPr lang="en-GB" dirty="0">
                <a:solidFill>
                  <a:srgbClr val="2FFF12"/>
                </a:solidFill>
                <a:latin typeface="Andale Mono" panose="020B0509000000000004" pitchFamily="49" charset="0"/>
              </a:rPr>
              <a:t> sleep 3600</a:t>
            </a:r>
          </a:p>
        </p:txBody>
      </p:sp>
    </p:spTree>
    <p:extLst>
      <p:ext uri="{BB962C8B-B14F-4D97-AF65-F5344CB8AC3E}">
        <p14:creationId xmlns:p14="http://schemas.microsoft.com/office/powerpoint/2010/main" val="4274895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627D-1AF6-6FEA-38FE-5235B1E50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Some more container examples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6B0F72-265D-4371-9D63-6DB0F3FF4171}"/>
              </a:ext>
            </a:extLst>
          </p:cNvPr>
          <p:cNvSpPr/>
          <p:nvPr/>
        </p:nvSpPr>
        <p:spPr>
          <a:xfrm>
            <a:off x="838200" y="1804532"/>
            <a:ext cx="10783956" cy="4688343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Run command in a new container from a tagged image:</a:t>
            </a: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</a:t>
            </a:r>
            <a:r>
              <a:rPr lang="en-GB" sz="1400" dirty="0" err="1">
                <a:solidFill>
                  <a:srgbClr val="2FFF12"/>
                </a:solidFill>
                <a:latin typeface="Andale Mono" panose="020B0509000000000004" pitchFamily="49" charset="0"/>
              </a:rPr>
              <a:t>image:tag</a:t>
            </a:r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 command</a:t>
            </a:r>
          </a:p>
          <a:p>
            <a:endParaRPr lang="en-GB" sz="1400" dirty="0">
              <a:solidFill>
                <a:srgbClr val="2FFF12"/>
              </a:solidFill>
              <a:latin typeface="Andale Mono" panose="020B0509000000000004" pitchFamily="49" charset="0"/>
            </a:endParaRP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Run command in a new container in background and display its ID:</a:t>
            </a: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-d image command</a:t>
            </a:r>
          </a:p>
          <a:p>
            <a:endParaRPr lang="en-GB" sz="1400" dirty="0">
              <a:solidFill>
                <a:srgbClr val="2FFF12"/>
              </a:solidFill>
              <a:latin typeface="Andale Mono" panose="020B0509000000000004" pitchFamily="49" charset="0"/>
            </a:endParaRP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Run command in a one-off container in interactive mode and pseudo-TTY:</a:t>
            </a: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--rm -it image command</a:t>
            </a:r>
          </a:p>
          <a:p>
            <a:endParaRPr lang="en-GB" sz="1400" dirty="0">
              <a:solidFill>
                <a:srgbClr val="2FFF12"/>
              </a:solidFill>
              <a:latin typeface="Andale Mono" panose="020B0509000000000004" pitchFamily="49" charset="0"/>
            </a:endParaRP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Run command in a new container with passed environment variables:</a:t>
            </a: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-e 'variable=value' -e variable image command</a:t>
            </a:r>
          </a:p>
          <a:p>
            <a:endParaRPr lang="en-GB" sz="1400" dirty="0">
              <a:solidFill>
                <a:srgbClr val="2FFF12"/>
              </a:solidFill>
              <a:latin typeface="Andale Mono" panose="020B0509000000000004" pitchFamily="49" charset="0"/>
            </a:endParaRP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Run command in a new container with bind mounted volumes:</a:t>
            </a: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-v /path/to/</a:t>
            </a:r>
            <a:r>
              <a:rPr lang="en-GB" sz="1400" dirty="0" err="1">
                <a:solidFill>
                  <a:srgbClr val="2FFF12"/>
                </a:solidFill>
                <a:latin typeface="Andale Mono" panose="020B0509000000000004" pitchFamily="49" charset="0"/>
              </a:rPr>
              <a:t>host_path</a:t>
            </a:r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:/path/to/</a:t>
            </a:r>
            <a:r>
              <a:rPr lang="en-GB" sz="1400" dirty="0" err="1">
                <a:solidFill>
                  <a:srgbClr val="2FFF12"/>
                </a:solidFill>
                <a:latin typeface="Andale Mono" panose="020B0509000000000004" pitchFamily="49" charset="0"/>
              </a:rPr>
              <a:t>container_path</a:t>
            </a:r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 image command</a:t>
            </a:r>
          </a:p>
          <a:p>
            <a:endParaRPr lang="en-GB" sz="1400" dirty="0">
              <a:solidFill>
                <a:srgbClr val="2FFF12"/>
              </a:solidFill>
              <a:latin typeface="Andale Mono" panose="020B0509000000000004" pitchFamily="49" charset="0"/>
            </a:endParaRP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Run command in a new container with published ports:</a:t>
            </a: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-p </a:t>
            </a:r>
            <a:r>
              <a:rPr lang="en-GB" sz="1400" dirty="0" err="1">
                <a:solidFill>
                  <a:srgbClr val="2FFF12"/>
                </a:solidFill>
                <a:latin typeface="Andale Mono" panose="020B0509000000000004" pitchFamily="49" charset="0"/>
              </a:rPr>
              <a:t>host_port:container_port</a:t>
            </a:r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 image command</a:t>
            </a:r>
          </a:p>
          <a:p>
            <a:endParaRPr lang="en-GB" sz="1400" dirty="0">
              <a:solidFill>
                <a:srgbClr val="2FFF12"/>
              </a:solidFill>
              <a:latin typeface="Andale Mono" panose="020B0509000000000004" pitchFamily="49" charset="0"/>
            </a:endParaRP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Run command in a new container overwriting the </a:t>
            </a:r>
            <a:r>
              <a:rPr lang="en-GB" sz="1400" dirty="0" err="1">
                <a:solidFill>
                  <a:srgbClr val="2FFF12"/>
                </a:solidFill>
                <a:latin typeface="Andale Mono" panose="020B0509000000000004" pitchFamily="49" charset="0"/>
              </a:rPr>
              <a:t>entrypoint</a:t>
            </a:r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 of the image:</a:t>
            </a:r>
          </a:p>
          <a:p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docker run --</a:t>
            </a:r>
            <a:r>
              <a:rPr lang="en-GB" sz="1400" dirty="0" err="1">
                <a:solidFill>
                  <a:srgbClr val="2FFF12"/>
                </a:solidFill>
                <a:latin typeface="Andale Mono" panose="020B0509000000000004" pitchFamily="49" charset="0"/>
              </a:rPr>
              <a:t>entrypoint</a:t>
            </a:r>
            <a:r>
              <a:rPr lang="en-GB" sz="1400" dirty="0">
                <a:solidFill>
                  <a:srgbClr val="2FFF12"/>
                </a:solidFill>
                <a:latin typeface="Andale Mono" panose="020B0509000000000004" pitchFamily="49" charset="0"/>
              </a:rPr>
              <a:t> command image</a:t>
            </a:r>
          </a:p>
        </p:txBody>
      </p:sp>
    </p:spTree>
    <p:extLst>
      <p:ext uri="{BB962C8B-B14F-4D97-AF65-F5344CB8AC3E}">
        <p14:creationId xmlns:p14="http://schemas.microsoft.com/office/powerpoint/2010/main" val="3379781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B5DC396-A613-449B-92E2-F9C48FE60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How</a:t>
            </a:r>
            <a:r>
              <a:rPr lang="sv-SE" dirty="0"/>
              <a:t> is an image </a:t>
            </a:r>
            <a:r>
              <a:rPr lang="sv-SE" dirty="0" err="1"/>
              <a:t>created</a:t>
            </a:r>
            <a:r>
              <a:rPr lang="sv-SE" dirty="0"/>
              <a:t>?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9093A4BA-B4C6-4892-B55D-9D166E8B6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Dockerfiles</a:t>
            </a:r>
            <a:r>
              <a:rPr lang="sv-SE" dirty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used</a:t>
            </a:r>
            <a:r>
              <a:rPr lang="sv-SE" dirty="0"/>
              <a:t> to </a:t>
            </a:r>
            <a:r>
              <a:rPr lang="sv-SE" dirty="0" err="1"/>
              <a:t>create</a:t>
            </a:r>
            <a:r>
              <a:rPr lang="sv-SE" dirty="0"/>
              <a:t> images</a:t>
            </a:r>
          </a:p>
          <a:p>
            <a:r>
              <a:rPr lang="sv-SE" dirty="0" err="1"/>
              <a:t>You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build</a:t>
            </a:r>
            <a:r>
              <a:rPr lang="sv-SE" dirty="0"/>
              <a:t> and tag </a:t>
            </a:r>
            <a:r>
              <a:rPr lang="sv-SE" dirty="0" err="1"/>
              <a:t>your</a:t>
            </a:r>
            <a:r>
              <a:rPr lang="sv-SE" dirty="0"/>
              <a:t> images and store </a:t>
            </a:r>
            <a:r>
              <a:rPr lang="sv-SE" dirty="0" err="1"/>
              <a:t>them</a:t>
            </a:r>
            <a:r>
              <a:rPr lang="sv-SE" dirty="0"/>
              <a:t> </a:t>
            </a:r>
            <a:r>
              <a:rPr lang="sv-SE" dirty="0" err="1"/>
              <a:t>somewhere</a:t>
            </a:r>
            <a:endParaRPr lang="sv-SE" dirty="0"/>
          </a:p>
          <a:p>
            <a:pPr lvl="1"/>
            <a:r>
              <a:rPr lang="sv-SE" dirty="0"/>
              <a:t>Private </a:t>
            </a:r>
            <a:r>
              <a:rPr lang="sv-SE" dirty="0" err="1"/>
              <a:t>registry</a:t>
            </a:r>
            <a:endParaRPr lang="sv-SE" dirty="0"/>
          </a:p>
          <a:p>
            <a:pPr lvl="1"/>
            <a:r>
              <a:rPr lang="sv-SE" dirty="0" err="1"/>
              <a:t>External</a:t>
            </a:r>
            <a:r>
              <a:rPr lang="sv-SE" dirty="0"/>
              <a:t> </a:t>
            </a:r>
            <a:r>
              <a:rPr lang="sv-SE" dirty="0" err="1"/>
              <a:t>registry</a:t>
            </a:r>
            <a:endParaRPr lang="sv-SE" dirty="0"/>
          </a:p>
          <a:p>
            <a:pPr lvl="1"/>
            <a:r>
              <a:rPr lang="sv-SE" dirty="0" err="1"/>
              <a:t>Local</a:t>
            </a:r>
            <a:r>
              <a:rPr lang="sv-SE" dirty="0"/>
              <a:t> </a:t>
            </a:r>
            <a:r>
              <a:rPr lang="sv-SE" dirty="0" err="1"/>
              <a:t>registry</a:t>
            </a:r>
            <a:endParaRPr lang="sv-SE" dirty="0"/>
          </a:p>
          <a:p>
            <a:r>
              <a:rPr lang="sv-SE" dirty="0"/>
              <a:t>Common workflow:</a:t>
            </a:r>
          </a:p>
          <a:p>
            <a:pPr lvl="1"/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build</a:t>
            </a:r>
            <a:r>
              <a:rPr lang="sv-SE" dirty="0"/>
              <a:t> -t </a:t>
            </a:r>
            <a:r>
              <a:rPr lang="sv-SE" dirty="0" err="1"/>
              <a:t>mygimage:tag</a:t>
            </a:r>
            <a:r>
              <a:rPr lang="sv-SE" dirty="0"/>
              <a:t> .</a:t>
            </a:r>
          </a:p>
          <a:p>
            <a:pPr lvl="1"/>
            <a:r>
              <a:rPr lang="sv-SE" dirty="0" err="1"/>
              <a:t>docker</a:t>
            </a:r>
            <a:r>
              <a:rPr lang="sv-SE" dirty="0"/>
              <a:t> tag </a:t>
            </a:r>
            <a:r>
              <a:rPr lang="sv-SE" dirty="0" err="1"/>
              <a:t>myimages:tag</a:t>
            </a:r>
            <a:r>
              <a:rPr lang="sv-SE" dirty="0"/>
              <a:t> </a:t>
            </a:r>
            <a:r>
              <a:rPr lang="sv-SE" dirty="0" err="1"/>
              <a:t>repository</a:t>
            </a:r>
            <a:r>
              <a:rPr lang="sv-SE" dirty="0"/>
              <a:t>/</a:t>
            </a:r>
            <a:r>
              <a:rPr lang="sv-SE" dirty="0" err="1"/>
              <a:t>myimage:tag</a:t>
            </a:r>
            <a:endParaRPr lang="sv-SE" dirty="0"/>
          </a:p>
          <a:p>
            <a:pPr lvl="1"/>
            <a:r>
              <a:rPr lang="sv-SE" dirty="0" err="1"/>
              <a:t>docker</a:t>
            </a:r>
            <a:r>
              <a:rPr lang="sv-SE" dirty="0"/>
              <a:t> push </a:t>
            </a:r>
            <a:r>
              <a:rPr lang="sv-SE" dirty="0" err="1"/>
              <a:t>repository</a:t>
            </a:r>
            <a:r>
              <a:rPr lang="sv-SE" dirty="0"/>
              <a:t>/</a:t>
            </a:r>
            <a:r>
              <a:rPr lang="sv-SE" dirty="0" err="1"/>
              <a:t>myimage:tag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97290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82DDD54-EBF0-4CD8-9A78-079EA97BA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Dockerfile</a:t>
            </a:r>
            <a:r>
              <a:rPr lang="sv-SE" dirty="0"/>
              <a:t> </a:t>
            </a:r>
            <a:r>
              <a:rPr lang="sv-SE" dirty="0" err="1"/>
              <a:t>Instructions</a:t>
            </a:r>
            <a:r>
              <a:rPr lang="sv-SE" dirty="0"/>
              <a:t>: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91C1E93-3363-4010-B396-1CE2E8F71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A </a:t>
            </a:r>
            <a:r>
              <a:rPr lang="sv-SE" dirty="0" err="1"/>
              <a:t>Dockerfile</a:t>
            </a:r>
            <a:r>
              <a:rPr lang="sv-SE" dirty="0"/>
              <a:t> is </a:t>
            </a:r>
            <a:r>
              <a:rPr lang="sv-SE" dirty="0" err="1"/>
              <a:t>recipe</a:t>
            </a:r>
            <a:r>
              <a:rPr lang="sv-SE" dirty="0"/>
              <a:t> for </a:t>
            </a:r>
            <a:r>
              <a:rPr lang="sv-SE" dirty="0" err="1"/>
              <a:t>creating</a:t>
            </a:r>
            <a:r>
              <a:rPr lang="sv-SE" dirty="0"/>
              <a:t> images</a:t>
            </a:r>
          </a:p>
          <a:p>
            <a:r>
              <a:rPr lang="sv-SE" dirty="0"/>
              <a:t>A container is a </a:t>
            </a:r>
            <a:r>
              <a:rPr lang="sv-SE" dirty="0" err="1"/>
              <a:t>running</a:t>
            </a:r>
            <a:r>
              <a:rPr lang="sv-SE" dirty="0"/>
              <a:t> </a:t>
            </a:r>
            <a:r>
              <a:rPr lang="sv-SE" dirty="0" err="1"/>
              <a:t>instance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an images</a:t>
            </a:r>
          </a:p>
          <a:p>
            <a:r>
              <a:rPr lang="sv-SE" dirty="0" err="1"/>
              <a:t>Each</a:t>
            </a:r>
            <a:r>
              <a:rPr lang="sv-SE" dirty="0"/>
              <a:t> </a:t>
            </a:r>
            <a:r>
              <a:rPr lang="sv-SE" dirty="0" err="1"/>
              <a:t>recipe</a:t>
            </a:r>
            <a:r>
              <a:rPr lang="sv-SE" dirty="0"/>
              <a:t> </a:t>
            </a:r>
            <a:r>
              <a:rPr lang="sv-SE" dirty="0" err="1"/>
              <a:t>contains</a:t>
            </a:r>
            <a:r>
              <a:rPr lang="sv-SE" dirty="0"/>
              <a:t> a </a:t>
            </a:r>
            <a:r>
              <a:rPr lang="sv-SE" dirty="0" err="1"/>
              <a:t>base</a:t>
            </a:r>
            <a:r>
              <a:rPr lang="sv-SE" dirty="0"/>
              <a:t> </a:t>
            </a:r>
            <a:r>
              <a:rPr lang="sv-SE" dirty="0" err="1"/>
              <a:t>with</a:t>
            </a:r>
            <a:r>
              <a:rPr lang="sv-SE" dirty="0"/>
              <a:t> a snapshot </a:t>
            </a:r>
            <a:r>
              <a:rPr lang="sv-SE" dirty="0" err="1"/>
              <a:t>of</a:t>
            </a:r>
            <a:r>
              <a:rPr lang="sv-SE" dirty="0"/>
              <a:t> a </a:t>
            </a:r>
            <a:r>
              <a:rPr lang="sv-SE" dirty="0" err="1"/>
              <a:t>specific</a:t>
            </a:r>
            <a:r>
              <a:rPr lang="sv-SE" dirty="0"/>
              <a:t> os </a:t>
            </a:r>
            <a:r>
              <a:rPr lang="sv-SE" dirty="0" err="1"/>
              <a:t>configuration</a:t>
            </a:r>
            <a:r>
              <a:rPr lang="sv-SE" dirty="0"/>
              <a:t>.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modify</a:t>
            </a:r>
            <a:r>
              <a:rPr lang="sv-SE" dirty="0"/>
              <a:t> the </a:t>
            </a:r>
            <a:r>
              <a:rPr lang="sv-SE" dirty="0" err="1"/>
              <a:t>base</a:t>
            </a:r>
            <a:r>
              <a:rPr lang="sv-SE" dirty="0"/>
              <a:t> by </a:t>
            </a:r>
            <a:r>
              <a:rPr lang="sv-SE" dirty="0" err="1"/>
              <a:t>adding</a:t>
            </a:r>
            <a:r>
              <a:rPr lang="sv-SE" dirty="0"/>
              <a:t>/</a:t>
            </a:r>
            <a:r>
              <a:rPr lang="sv-SE" dirty="0" err="1"/>
              <a:t>removing</a:t>
            </a:r>
            <a:r>
              <a:rPr lang="sv-SE" dirty="0"/>
              <a:t> and </a:t>
            </a:r>
            <a:r>
              <a:rPr lang="sv-SE" dirty="0" err="1"/>
              <a:t>modifying</a:t>
            </a:r>
            <a:r>
              <a:rPr lang="sv-SE" dirty="0"/>
              <a:t> </a:t>
            </a:r>
            <a:r>
              <a:rPr lang="sv-SE" dirty="0" err="1"/>
              <a:t>files</a:t>
            </a:r>
            <a:r>
              <a:rPr lang="sv-SE" dirty="0"/>
              <a:t> inside it. </a:t>
            </a:r>
          </a:p>
          <a:p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a look at </a:t>
            </a:r>
            <a:r>
              <a:rPr lang="sv-SE" dirty="0" err="1"/>
              <a:t>some</a:t>
            </a:r>
            <a:r>
              <a:rPr lang="sv-SE" dirty="0"/>
              <a:t> </a:t>
            </a:r>
            <a:r>
              <a:rPr lang="sv-SE" dirty="0" err="1"/>
              <a:t>basic</a:t>
            </a:r>
            <a:r>
              <a:rPr lang="sv-SE" dirty="0"/>
              <a:t> </a:t>
            </a:r>
            <a:r>
              <a:rPr lang="sv-SE" dirty="0" err="1"/>
              <a:t>commands</a:t>
            </a:r>
            <a:r>
              <a:rPr lang="sv-SE" dirty="0"/>
              <a:t>:</a:t>
            </a:r>
          </a:p>
          <a:p>
            <a:pPr lvl="1"/>
            <a:r>
              <a:rPr lang="sv-SE" dirty="0">
                <a:hlinkClick r:id="rId2"/>
              </a:rPr>
              <a:t>https://dev.to/soutoigor/dockerfile-main-commands-and-instructions-2l2h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22208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82D3D1B-792F-4076-83B8-9FF5279CB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mankier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B56F3A2-0BC4-4494-91C8-52461A3A8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see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knowledge</a:t>
            </a:r>
            <a:r>
              <a:rPr lang="sv-SE" dirty="0"/>
              <a:t> in </a:t>
            </a:r>
            <a:r>
              <a:rPr lang="sv-SE" dirty="0" err="1"/>
              <a:t>docker</a:t>
            </a:r>
            <a:r>
              <a:rPr lang="sv-SE" dirty="0"/>
              <a:t> to spin </a:t>
            </a:r>
            <a:r>
              <a:rPr lang="sv-SE" dirty="0" err="1"/>
              <a:t>up</a:t>
            </a:r>
            <a:r>
              <a:rPr lang="sv-SE" dirty="0"/>
              <a:t> a container in </a:t>
            </a:r>
            <a:r>
              <a:rPr lang="sv-SE" dirty="0" err="1"/>
              <a:t>kubernetes</a:t>
            </a:r>
            <a:r>
              <a:rPr lang="sv-SE" dirty="0"/>
              <a:t> </a:t>
            </a:r>
            <a:r>
              <a:rPr lang="sv-SE" dirty="0" err="1"/>
              <a:t>through</a:t>
            </a:r>
            <a:r>
              <a:rPr lang="sv-SE" dirty="0"/>
              <a:t> </a:t>
            </a:r>
            <a:r>
              <a:rPr lang="sv-SE" dirty="0" err="1"/>
              <a:t>command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.</a:t>
            </a:r>
          </a:p>
          <a:p>
            <a:pPr lvl="1"/>
            <a:r>
              <a:rPr lang="sv-SE" dirty="0" err="1"/>
              <a:t>Search</a:t>
            </a:r>
            <a:r>
              <a:rPr lang="sv-SE" dirty="0"/>
              <a:t> </a:t>
            </a:r>
            <a:r>
              <a:rPr lang="sv-SE" dirty="0" err="1"/>
              <a:t>mankier</a:t>
            </a:r>
            <a:r>
              <a:rPr lang="sv-SE" dirty="0"/>
              <a:t> for </a:t>
            </a:r>
            <a:r>
              <a:rPr lang="sv-SE" dirty="0" err="1"/>
              <a:t>kubectl-run</a:t>
            </a:r>
            <a:r>
              <a:rPr lang="sv-SE" dirty="0"/>
              <a:t> and </a:t>
            </a:r>
            <a:r>
              <a:rPr lang="sv-SE" dirty="0" err="1"/>
              <a:t>see</a:t>
            </a:r>
            <a:r>
              <a:rPr lang="sv-SE" dirty="0"/>
              <a:t> the </a:t>
            </a:r>
            <a:r>
              <a:rPr lang="sv-SE" dirty="0" err="1"/>
              <a:t>example</a:t>
            </a:r>
            <a:r>
              <a:rPr lang="sv-SE" dirty="0"/>
              <a:t> to </a:t>
            </a:r>
            <a:r>
              <a:rPr lang="sv-SE" dirty="0" err="1"/>
              <a:t>create</a:t>
            </a:r>
            <a:r>
              <a:rPr lang="sv-SE" dirty="0"/>
              <a:t> a </a:t>
            </a:r>
            <a:r>
              <a:rPr lang="sv-SE" dirty="0" err="1"/>
              <a:t>pod</a:t>
            </a:r>
            <a:r>
              <a:rPr lang="sv-SE" dirty="0"/>
              <a:t>.</a:t>
            </a:r>
          </a:p>
          <a:p>
            <a:pPr lvl="1"/>
            <a:r>
              <a:rPr lang="sv-SE" dirty="0" err="1"/>
              <a:t>Did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knowlede</a:t>
            </a:r>
            <a:r>
              <a:rPr lang="sv-SE" dirty="0"/>
              <a:t> in </a:t>
            </a:r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help</a:t>
            </a:r>
            <a:r>
              <a:rPr lang="sv-SE" dirty="0"/>
              <a:t> </a:t>
            </a:r>
            <a:r>
              <a:rPr lang="sv-SE" dirty="0" err="1"/>
              <a:t>us</a:t>
            </a:r>
            <a:r>
              <a:rPr lang="sv-SE" dirty="0"/>
              <a:t> understand </a:t>
            </a:r>
            <a:r>
              <a:rPr lang="sv-SE" dirty="0" err="1"/>
              <a:t>kubernetes</a:t>
            </a:r>
            <a:r>
              <a:rPr lang="sv-SE" dirty="0"/>
              <a:t>?</a:t>
            </a:r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543014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26398E8-B093-3AA5-31AD-5FC57BFC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Petclinic</a:t>
            </a:r>
            <a:r>
              <a:rPr lang="sv-SE" dirty="0"/>
              <a:t> </a:t>
            </a:r>
            <a:r>
              <a:rPr lang="sv-SE" dirty="0" err="1"/>
              <a:t>example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5962A96-3FC2-4B11-482B-E52D99147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spring </a:t>
            </a:r>
            <a:r>
              <a:rPr lang="sv-SE" dirty="0" err="1"/>
              <a:t>boot</a:t>
            </a:r>
            <a:r>
              <a:rPr lang="sv-SE" dirty="0"/>
              <a:t> </a:t>
            </a:r>
            <a:r>
              <a:rPr lang="sv-SE" dirty="0" err="1"/>
              <a:t>petclinic</a:t>
            </a:r>
            <a:r>
              <a:rPr lang="sv-SE" dirty="0"/>
              <a:t> to experiment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docker</a:t>
            </a:r>
            <a:r>
              <a:rPr lang="sv-SE" dirty="0"/>
              <a:t>!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run</a:t>
            </a:r>
            <a:r>
              <a:rPr lang="sv-SE" dirty="0"/>
              <a:t> the </a:t>
            </a:r>
            <a:r>
              <a:rPr lang="sv-SE" dirty="0" err="1"/>
              <a:t>dockerfile</a:t>
            </a:r>
            <a:r>
              <a:rPr lang="sv-SE" dirty="0"/>
              <a:t> to </a:t>
            </a:r>
            <a:r>
              <a:rPr lang="sv-SE" dirty="0" err="1"/>
              <a:t>produce</a:t>
            </a:r>
            <a:r>
              <a:rPr lang="sv-SE" dirty="0"/>
              <a:t> an image </a:t>
            </a:r>
            <a:r>
              <a:rPr lang="sv-SE" dirty="0" err="1"/>
              <a:t>locally</a:t>
            </a:r>
            <a:endParaRPr lang="sv-SE" dirty="0"/>
          </a:p>
          <a:p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wait</a:t>
            </a:r>
            <a:r>
              <a:rPr lang="sv-SE" dirty="0"/>
              <a:t> the </a:t>
            </a:r>
            <a:r>
              <a:rPr lang="sv-SE" dirty="0" err="1"/>
              <a:t>database</a:t>
            </a:r>
            <a:r>
              <a:rPr lang="sv-SE" dirty="0"/>
              <a:t> is </a:t>
            </a:r>
            <a:r>
              <a:rPr lang="sv-SE" dirty="0" err="1"/>
              <a:t>missing</a:t>
            </a:r>
            <a:r>
              <a:rPr lang="sv-SE" dirty="0"/>
              <a:t>….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need</a:t>
            </a:r>
            <a:r>
              <a:rPr lang="sv-SE" dirty="0"/>
              <a:t> to </a:t>
            </a:r>
            <a:r>
              <a:rPr lang="sv-SE" dirty="0" err="1"/>
              <a:t>build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too</a:t>
            </a:r>
            <a:r>
              <a:rPr lang="sv-SE" dirty="0"/>
              <a:t>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reuse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image from </a:t>
            </a:r>
            <a:r>
              <a:rPr lang="sv-SE" dirty="0" err="1"/>
              <a:t>dockerhub</a:t>
            </a:r>
            <a:r>
              <a:rPr lang="sv-SE" dirty="0"/>
              <a:t>, </a:t>
            </a:r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dont</a:t>
            </a:r>
            <a:r>
              <a:rPr lang="sv-SE" dirty="0"/>
              <a:t> </a:t>
            </a:r>
            <a:r>
              <a:rPr lang="sv-SE" dirty="0" err="1"/>
              <a:t>have</a:t>
            </a:r>
            <a:r>
              <a:rPr lang="sv-SE" dirty="0"/>
              <a:t> a </a:t>
            </a:r>
            <a:r>
              <a:rPr lang="sv-SE" dirty="0" err="1"/>
              <a:t>dockerfile</a:t>
            </a:r>
            <a:r>
              <a:rPr lang="sv-SE" dirty="0"/>
              <a:t> </a:t>
            </a:r>
            <a:r>
              <a:rPr lang="sv-SE" dirty="0" err="1"/>
              <a:t>locally</a:t>
            </a:r>
            <a:r>
              <a:rPr lang="sv-SE" dirty="0"/>
              <a:t>?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know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pull</a:t>
            </a:r>
            <a:r>
              <a:rPr lang="sv-SE" dirty="0"/>
              <a:t> images from a </a:t>
            </a:r>
            <a:r>
              <a:rPr lang="sv-SE" dirty="0" err="1"/>
              <a:t>registry</a:t>
            </a:r>
            <a:r>
              <a:rPr lang="sv-SE" dirty="0"/>
              <a:t> so </a:t>
            </a:r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pull</a:t>
            </a:r>
            <a:r>
              <a:rPr lang="sv-SE" dirty="0"/>
              <a:t> it down and se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start it.</a:t>
            </a:r>
          </a:p>
          <a:p>
            <a:r>
              <a:rPr lang="sv-SE" dirty="0" err="1"/>
              <a:t>Now</a:t>
            </a:r>
            <a:r>
              <a:rPr lang="sv-SE" dirty="0"/>
              <a:t> the </a:t>
            </a:r>
            <a:r>
              <a:rPr lang="sv-SE" dirty="0" err="1"/>
              <a:t>app</a:t>
            </a:r>
            <a:r>
              <a:rPr lang="sv-SE" dirty="0"/>
              <a:t> and </a:t>
            </a:r>
            <a:r>
              <a:rPr lang="sv-SE" dirty="0" err="1"/>
              <a:t>database</a:t>
            </a:r>
            <a:r>
              <a:rPr lang="sv-SE" dirty="0"/>
              <a:t> </a:t>
            </a:r>
            <a:r>
              <a:rPr lang="sv-SE" dirty="0" err="1"/>
              <a:t>belongs</a:t>
            </a:r>
            <a:r>
              <a:rPr lang="sv-SE" dirty="0"/>
              <a:t> </a:t>
            </a:r>
            <a:r>
              <a:rPr lang="sv-SE" dirty="0" err="1"/>
              <a:t>together</a:t>
            </a:r>
            <a:r>
              <a:rPr lang="sv-SE" dirty="0"/>
              <a:t>,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something</a:t>
            </a:r>
            <a:r>
              <a:rPr lang="sv-SE" dirty="0"/>
              <a:t> </a:t>
            </a:r>
            <a:r>
              <a:rPr lang="sv-SE" dirty="0" err="1"/>
              <a:t>called</a:t>
            </a:r>
            <a:r>
              <a:rPr lang="sv-SE" dirty="0"/>
              <a:t> </a:t>
            </a:r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compose</a:t>
            </a:r>
            <a:r>
              <a:rPr lang="sv-SE" dirty="0"/>
              <a:t> to start </a:t>
            </a:r>
            <a:r>
              <a:rPr lang="sv-SE" dirty="0" err="1"/>
              <a:t>both</a:t>
            </a:r>
            <a:r>
              <a:rPr lang="sv-SE" dirty="0"/>
              <a:t> services </a:t>
            </a:r>
            <a:r>
              <a:rPr lang="sv-SE" dirty="0" err="1"/>
              <a:t>together</a:t>
            </a:r>
            <a:r>
              <a:rPr lang="sv-SE" dirty="0"/>
              <a:t> as a </a:t>
            </a:r>
            <a:r>
              <a:rPr lang="sv-SE" dirty="0" err="1"/>
              <a:t>unit</a:t>
            </a:r>
            <a:r>
              <a:rPr lang="sv-SE" dirty="0"/>
              <a:t>.</a:t>
            </a:r>
          </a:p>
          <a:p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put</a:t>
            </a:r>
            <a:r>
              <a:rPr lang="sv-SE" dirty="0"/>
              <a:t> </a:t>
            </a:r>
            <a:r>
              <a:rPr lang="sv-SE" dirty="0" err="1"/>
              <a:t>everything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belongs</a:t>
            </a:r>
            <a:r>
              <a:rPr lang="sv-SE" dirty="0"/>
              <a:t> to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app</a:t>
            </a:r>
            <a:r>
              <a:rPr lang="sv-SE" dirty="0"/>
              <a:t> in a </a:t>
            </a:r>
            <a:r>
              <a:rPr lang="sv-SE" dirty="0" err="1"/>
              <a:t>file</a:t>
            </a:r>
            <a:r>
              <a:rPr lang="sv-SE" dirty="0"/>
              <a:t> </a:t>
            </a:r>
            <a:r>
              <a:rPr lang="sv-SE" dirty="0" err="1"/>
              <a:t>docker-compose.yaml</a:t>
            </a:r>
            <a:r>
              <a:rPr lang="sv-SE" dirty="0"/>
              <a:t> to </a:t>
            </a:r>
            <a:r>
              <a:rPr lang="sv-SE" dirty="0" err="1"/>
              <a:t>run</a:t>
            </a:r>
            <a:r>
              <a:rPr lang="sv-SE" dirty="0"/>
              <a:t> containers in a </a:t>
            </a:r>
            <a:r>
              <a:rPr lang="sv-SE" dirty="0" err="1"/>
              <a:t>more</a:t>
            </a:r>
            <a:r>
              <a:rPr lang="sv-SE" dirty="0"/>
              <a:t> </a:t>
            </a:r>
            <a:r>
              <a:rPr lang="sv-SE" dirty="0" err="1"/>
              <a:t>declarative</a:t>
            </a:r>
            <a:r>
              <a:rPr lang="sv-SE" dirty="0"/>
              <a:t> </a:t>
            </a:r>
            <a:r>
              <a:rPr lang="sv-SE" dirty="0" err="1"/>
              <a:t>way</a:t>
            </a:r>
            <a:r>
              <a:rPr lang="sv-SE" dirty="0"/>
              <a:t>.</a:t>
            </a:r>
          </a:p>
          <a:p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37745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40E7D-57C9-CA57-915A-A111AEBCE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CB6F2C17-1CAD-BEE7-A6E1-FD62DC926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sv-SE" dirty="0" err="1"/>
              <a:t>Using</a:t>
            </a:r>
            <a:r>
              <a:rPr lang="sv-SE" dirty="0"/>
              <a:t> </a:t>
            </a:r>
            <a:r>
              <a:rPr lang="sv-SE" dirty="0" err="1"/>
              <a:t>mankier</a:t>
            </a:r>
            <a:endParaRPr lang="en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62D477CE-DB41-1E7A-24E5-A050230DE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 err="1"/>
              <a:t>Lets</a:t>
            </a:r>
            <a:r>
              <a:rPr lang="sv-SE" dirty="0"/>
              <a:t> </a:t>
            </a:r>
            <a:r>
              <a:rPr lang="sv-SE" dirty="0" err="1"/>
              <a:t>see</a:t>
            </a:r>
            <a:r>
              <a:rPr lang="sv-SE" dirty="0"/>
              <a:t>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use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knowledge</a:t>
            </a:r>
            <a:r>
              <a:rPr lang="sv-SE" dirty="0"/>
              <a:t> in </a:t>
            </a:r>
            <a:r>
              <a:rPr lang="sv-SE" dirty="0" err="1"/>
              <a:t>docker</a:t>
            </a:r>
            <a:r>
              <a:rPr lang="sv-SE" dirty="0"/>
              <a:t> to spin </a:t>
            </a:r>
            <a:r>
              <a:rPr lang="sv-SE" dirty="0" err="1"/>
              <a:t>up</a:t>
            </a:r>
            <a:r>
              <a:rPr lang="sv-SE" dirty="0"/>
              <a:t> a container in </a:t>
            </a:r>
            <a:r>
              <a:rPr lang="sv-SE" dirty="0" err="1"/>
              <a:t>kubernetes</a:t>
            </a:r>
            <a:r>
              <a:rPr lang="sv-SE" dirty="0"/>
              <a:t> </a:t>
            </a:r>
            <a:r>
              <a:rPr lang="sv-SE" dirty="0" err="1"/>
              <a:t>through</a:t>
            </a:r>
            <a:r>
              <a:rPr lang="sv-SE" dirty="0"/>
              <a:t> </a:t>
            </a:r>
            <a:r>
              <a:rPr lang="sv-SE" dirty="0" err="1"/>
              <a:t>command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.</a:t>
            </a:r>
          </a:p>
          <a:p>
            <a:pPr lvl="1"/>
            <a:r>
              <a:rPr lang="sv-SE" dirty="0" err="1"/>
              <a:t>Search</a:t>
            </a:r>
            <a:r>
              <a:rPr lang="sv-SE" dirty="0"/>
              <a:t> </a:t>
            </a:r>
            <a:r>
              <a:rPr lang="sv-SE" dirty="0" err="1"/>
              <a:t>mankier</a:t>
            </a:r>
            <a:r>
              <a:rPr lang="sv-SE" dirty="0"/>
              <a:t> for </a:t>
            </a:r>
            <a:r>
              <a:rPr lang="sv-SE" dirty="0" err="1"/>
              <a:t>kubectl-run</a:t>
            </a:r>
            <a:r>
              <a:rPr lang="sv-SE" dirty="0"/>
              <a:t> and </a:t>
            </a:r>
            <a:r>
              <a:rPr lang="sv-SE" dirty="0" err="1"/>
              <a:t>see</a:t>
            </a:r>
            <a:r>
              <a:rPr lang="sv-SE" dirty="0"/>
              <a:t> the </a:t>
            </a:r>
            <a:r>
              <a:rPr lang="sv-SE" dirty="0" err="1"/>
              <a:t>example</a:t>
            </a:r>
            <a:r>
              <a:rPr lang="sv-SE" dirty="0"/>
              <a:t> to </a:t>
            </a:r>
            <a:r>
              <a:rPr lang="sv-SE" dirty="0" err="1"/>
              <a:t>create</a:t>
            </a:r>
            <a:r>
              <a:rPr lang="sv-SE" dirty="0"/>
              <a:t> a </a:t>
            </a:r>
            <a:r>
              <a:rPr lang="sv-SE" dirty="0" err="1"/>
              <a:t>pod</a:t>
            </a:r>
            <a:r>
              <a:rPr lang="sv-SE" dirty="0"/>
              <a:t>.</a:t>
            </a:r>
          </a:p>
          <a:p>
            <a:pPr lvl="1"/>
            <a:r>
              <a:rPr lang="sv-SE" dirty="0" err="1"/>
              <a:t>Did</a:t>
            </a:r>
            <a:r>
              <a:rPr lang="sv-SE" dirty="0"/>
              <a:t> </a:t>
            </a:r>
            <a:r>
              <a:rPr lang="sv-SE" dirty="0" err="1"/>
              <a:t>our</a:t>
            </a:r>
            <a:r>
              <a:rPr lang="sv-SE" dirty="0"/>
              <a:t> </a:t>
            </a:r>
            <a:r>
              <a:rPr lang="sv-SE" dirty="0" err="1"/>
              <a:t>knowlede</a:t>
            </a:r>
            <a:r>
              <a:rPr lang="sv-SE" dirty="0"/>
              <a:t> in </a:t>
            </a:r>
            <a:r>
              <a:rPr lang="sv-SE" dirty="0" err="1"/>
              <a:t>docker</a:t>
            </a:r>
            <a:r>
              <a:rPr lang="sv-SE" dirty="0"/>
              <a:t> </a:t>
            </a:r>
            <a:r>
              <a:rPr lang="sv-SE" dirty="0" err="1"/>
              <a:t>help</a:t>
            </a:r>
            <a:r>
              <a:rPr lang="sv-SE" dirty="0"/>
              <a:t> </a:t>
            </a:r>
            <a:r>
              <a:rPr lang="sv-SE" dirty="0" err="1"/>
              <a:t>us</a:t>
            </a:r>
            <a:r>
              <a:rPr lang="sv-SE" dirty="0"/>
              <a:t> understand </a:t>
            </a:r>
            <a:r>
              <a:rPr lang="sv-SE" dirty="0" err="1"/>
              <a:t>kubernetes</a:t>
            </a:r>
            <a:r>
              <a:rPr lang="sv-SE" dirty="0"/>
              <a:t>?</a:t>
            </a:r>
          </a:p>
          <a:p>
            <a:endParaRPr lang="sv-SE" dirty="0"/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8483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B1B813CD93E5B46BF6B9D1E292E6EA0" ma:contentTypeVersion="4" ma:contentTypeDescription="Skapa ett nytt dokument." ma:contentTypeScope="" ma:versionID="9da8a7a64c77aad5ea433c61953fb8aa">
  <xsd:schema xmlns:xsd="http://www.w3.org/2001/XMLSchema" xmlns:xs="http://www.w3.org/2001/XMLSchema" xmlns:p="http://schemas.microsoft.com/office/2006/metadata/properties" xmlns:ns2="8d061775-fff3-4e3d-b7fe-568ba17c5f59" targetNamespace="http://schemas.microsoft.com/office/2006/metadata/properties" ma:root="true" ma:fieldsID="849b2cd43b5c7e67f345f0ebc6618999" ns2:_="">
    <xsd:import namespace="8d061775-fff3-4e3d-b7fe-568ba17c5f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061775-fff3-4e3d-b7fe-568ba17c5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8DB5D2-D94E-4057-92D9-254FA922B9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DDFA626-4C6C-4110-89A1-F419DAA511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061775-fff3-4e3d-b7fe-568ba17c5f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88FFEA2-9DE4-4D8D-89E0-67F857965AB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1690</TotalTime>
  <Words>1340</Words>
  <Application>Microsoft Office PowerPoint</Application>
  <PresentationFormat>Bredbild</PresentationFormat>
  <Paragraphs>163</Paragraphs>
  <Slides>26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26</vt:i4>
      </vt:variant>
    </vt:vector>
  </HeadingPairs>
  <TitlesOfParts>
    <vt:vector size="31" baseType="lpstr">
      <vt:lpstr>Andale Mono</vt:lpstr>
      <vt:lpstr>Arial</vt:lpstr>
      <vt:lpstr>Calibri</vt:lpstr>
      <vt:lpstr>Calibri Light</vt:lpstr>
      <vt:lpstr>Office Theme</vt:lpstr>
      <vt:lpstr>Day 1: Docker Development</vt:lpstr>
      <vt:lpstr>Get to know eachoter</vt:lpstr>
      <vt:lpstr>Modern software development</vt:lpstr>
      <vt:lpstr>Physical Servers</vt:lpstr>
      <vt:lpstr>PowerPoint-presentation</vt:lpstr>
      <vt:lpstr>PowerPoint-presentation</vt:lpstr>
      <vt:lpstr>Docker desktop is a good start</vt:lpstr>
      <vt:lpstr>Dockerfile Instructions:</vt:lpstr>
      <vt:lpstr>How is an image created?</vt:lpstr>
      <vt:lpstr>Docker is Layered</vt:lpstr>
      <vt:lpstr>Lets look at an example</vt:lpstr>
      <vt:lpstr>Mankier documentation</vt:lpstr>
      <vt:lpstr>Pulling docker images from dockerhub</vt:lpstr>
      <vt:lpstr>Running our first container</vt:lpstr>
      <vt:lpstr>Running a Container in detached mode</vt:lpstr>
      <vt:lpstr>Listing containers</vt:lpstr>
      <vt:lpstr>Stopping and starting containers</vt:lpstr>
      <vt:lpstr>Deleting containers and images</vt:lpstr>
      <vt:lpstr>Pruning docker containers</vt:lpstr>
      <vt:lpstr>Command and Entrypoint</vt:lpstr>
      <vt:lpstr>Some more container examples</vt:lpstr>
      <vt:lpstr>How is an image created?</vt:lpstr>
      <vt:lpstr>Dockerfile Instructions:</vt:lpstr>
      <vt:lpstr>Using mankier</vt:lpstr>
      <vt:lpstr>Petclinic example</vt:lpstr>
      <vt:lpstr>Using mankier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Docker Development</dc:title>
  <dc:creator>Svensson Nordell, Mattias /External</dc:creator>
  <cp:lastModifiedBy>Mattias Bourghardt Nordell</cp:lastModifiedBy>
  <cp:revision>22</cp:revision>
  <dcterms:created xsi:type="dcterms:W3CDTF">2022-07-29T07:04:11Z</dcterms:created>
  <dcterms:modified xsi:type="dcterms:W3CDTF">2026-04-21T20:31:32Z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49c2d45-cf8f-4adf-a778-3c33aaf3f9b7_Enabled">
    <vt:lpwstr>true</vt:lpwstr>
  </property>
  <property fmtid="{D5CDD505-2E9C-101B-9397-08002B2CF9AE}" pid="3" name="MSIP_Label_149c2d45-cf8f-4adf-a778-3c33aaf3f9b7_SetDate">
    <vt:lpwstr>2022-09-05T13:57:26Z</vt:lpwstr>
  </property>
  <property fmtid="{D5CDD505-2E9C-101B-9397-08002B2CF9AE}" pid="4" name="MSIP_Label_149c2d45-cf8f-4adf-a778-3c33aaf3f9b7_Method">
    <vt:lpwstr>Privileged</vt:lpwstr>
  </property>
  <property fmtid="{D5CDD505-2E9C-101B-9397-08002B2CF9AE}" pid="5" name="MSIP_Label_149c2d45-cf8f-4adf-a778-3c33aaf3f9b7_Name">
    <vt:lpwstr>149c2d45-cf8f-4adf-a778-3c33aaf3f9b7</vt:lpwstr>
  </property>
  <property fmtid="{D5CDD505-2E9C-101B-9397-08002B2CF9AE}" pid="6" name="MSIP_Label_149c2d45-cf8f-4adf-a778-3c33aaf3f9b7_SiteId">
    <vt:lpwstr>04368cd7-79db-48c2-a243-1f6c2025dec8</vt:lpwstr>
  </property>
  <property fmtid="{D5CDD505-2E9C-101B-9397-08002B2CF9AE}" pid="7" name="MSIP_Label_149c2d45-cf8f-4adf-a778-3c33aaf3f9b7_ActionId">
    <vt:lpwstr>19b88b13-3845-4806-99db-38d5a21cfcff</vt:lpwstr>
  </property>
  <property fmtid="{D5CDD505-2E9C-101B-9397-08002B2CF9AE}" pid="8" name="MSIP_Label_149c2d45-cf8f-4adf-a778-3c33aaf3f9b7_ContentBits">
    <vt:lpwstr>0</vt:lpwstr>
  </property>
  <property fmtid="{D5CDD505-2E9C-101B-9397-08002B2CF9AE}" pid="9" name="ContentTypeId">
    <vt:lpwstr>0x010100AB1B813CD93E5B46BF6B9D1E292E6EA0</vt:lpwstr>
  </property>
</Properties>
</file>