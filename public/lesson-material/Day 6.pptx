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92AB368-F4E4-33C9-C49E-CCC6DE248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953B9A9-2AA7-B026-2155-203DEA7A1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1E607E3-A7A2-F6EA-C579-6C6766E0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C8B5061-7BC2-5F4D-CDD4-501179BE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BFF4E39-2BE8-8E1D-FB1D-67124EB2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123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0C87DD0-BAD2-097A-A311-EAB0DF72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D71D791-AFE1-052B-BFA1-F188F79E3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32B7CB2-273A-1E04-CF4E-F1BACCBFE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A2C2E3B-81E9-55BD-3D7A-455D0341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B3C88F9-2316-8C98-E6C9-2EDFCCE9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22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4782BD3-DF29-4769-931B-A300EC53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C80FC91-7751-302B-09C1-BA547492B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F3939B-3EB2-FE60-A36D-E638C5A4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1E3B269-DB21-B1A4-7FC0-EFA32CC4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F578F66-D7DC-D27B-1228-3CF0AAF0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137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821869F-2742-FC6F-7AAC-22353962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87FE71A-3E20-3022-8662-D878909AC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5CA8DEF-B0A9-AFE4-147F-C3E121858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78ABE4D-0383-324A-26FF-6A032022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25290C5-3DCA-69B9-071C-9C1864BF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C4426AB-09F7-AF32-6B85-272B8968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991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BE44A40-797E-902C-FE81-CB6754B86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8C962E2-FF79-C95C-F145-DF4884C65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964E57D-46B5-3C54-46D0-D868301E8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2B27AE2-CADB-98A1-403D-F27CCF06A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36968716-D8F0-C15D-D3C2-7862A14D9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4B57CC51-FE97-4090-09C2-7B1F9823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3D70BEFE-987B-859E-78FB-E077E274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AD0B0F29-729E-889F-6EC2-D0A6DFE4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17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5EC08E8-68C6-DC32-0BCB-16EA62706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3AE5750-2233-38C2-1104-DD43244BF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F665E05-24BA-3AF4-6A0F-A817A413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C871AAC-0309-FF17-92BF-A15BE660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470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0D8A632-A94D-2389-D184-8430FA2A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F5E5A38-C593-AC47-14B2-0541DF00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CA131F1-1F2E-0A1D-AFBB-3A5DED63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067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EA094E-3995-A4F5-A57D-321E433F3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A9E1C1D-9537-71AD-958D-0C038CDD2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6C152C5-0749-D4C5-D777-0DC417745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40F62A9-F2C1-E431-30E5-CDC305347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7163319-A06B-17D9-236E-3C750DDE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E1CB7E4-33D0-4A94-2469-84C3F6C7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3306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0A34CAE-E594-CEBF-CFB6-39D6DB43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5DEFD057-6521-45A8-F3A3-BBC0F5EDE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B59D942-1AA8-A058-05D1-CE2876A1D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A7CA8E7-F8F9-F3EA-1542-92621FB8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45D7584-83A1-7BA2-3A56-6A8916AA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490563C-AA2A-8440-C760-FA166B0F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166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44935F2-29C7-75EE-868E-D7CE8BED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85B580A-2A0B-2D34-B680-9E3D985FB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5BC84AC-82DE-D4B7-DC41-11E03713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6DB3D01-DB3D-18F9-01F9-B5AD6480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E43426F-C541-48B6-9064-53537ABA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8442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F98CA0BF-F0F5-0F99-9337-44FC5A67B9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8045863C-4DCE-4443-5BC0-D4656FCA9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3B08A1E-7050-A997-8EF0-9A635E6F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22E9B2E-65DB-6E4A-DB53-174B4732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B33E991-DF51-3D56-9F1C-B6FF3BDD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362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48D6A23E-995E-97B4-AE2C-13B57CE1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8BE7F4D-BDC5-336D-1DF5-4E97CD645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2479DD8-D494-1432-47B8-4C2B1B021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EFC0F-39BA-494F-920E-5E14C4217E40}" type="datetimeFigureOut">
              <a:rPr lang="sv-SE" smtClean="0"/>
              <a:t>2026-06-02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533CD95-2C75-C916-AB75-BFBA403D7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2626712-412F-D8BE-4DF8-A435D8CDE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66C19-D3CC-446A-BC1F-4CCC1460ABE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9117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elm.sh/docs/intro/instal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sharker3312/deploying-argocd-on-an-azure-kubernetes-cluster-for-gitops-4cp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FCCE5F9-99D5-9BF0-B140-A7D1938404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Helm, </a:t>
            </a:r>
            <a:r>
              <a:rPr lang="sv-SE" dirty="0" err="1"/>
              <a:t>Gitops</a:t>
            </a:r>
            <a:r>
              <a:rPr lang="sv-SE" dirty="0"/>
              <a:t> and </a:t>
            </a:r>
            <a:r>
              <a:rPr lang="sv-SE" dirty="0" err="1"/>
              <a:t>Argocd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E0B265F-A8A7-B8ED-4AD2-7C4316B014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17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97E614D-9588-C4B4-431C-0339D62A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Helm </a:t>
            </a:r>
            <a:r>
              <a:rPr lang="sv-SE" dirty="0" err="1"/>
              <a:t>Charts</a:t>
            </a:r>
            <a:r>
              <a:rPr lang="sv-SE" dirty="0"/>
              <a:t> </a:t>
            </a:r>
            <a:r>
              <a:rPr lang="sv-SE" dirty="0" err="1"/>
              <a:t>Introduction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B985259-27C5-3A5E-7AC8-7B9C9E1F9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Helm is the </a:t>
            </a:r>
            <a:r>
              <a:rPr lang="sv-SE" dirty="0" err="1"/>
              <a:t>package</a:t>
            </a:r>
            <a:r>
              <a:rPr lang="sv-SE" dirty="0"/>
              <a:t> manager for </a:t>
            </a:r>
            <a:r>
              <a:rPr lang="sv-SE" dirty="0" err="1"/>
              <a:t>Kubernetes</a:t>
            </a:r>
            <a:endParaRPr lang="sv-SE" dirty="0"/>
          </a:p>
          <a:p>
            <a:r>
              <a:rPr lang="sv-SE" dirty="0" err="1"/>
              <a:t>Helps</a:t>
            </a:r>
            <a:r>
              <a:rPr lang="sv-SE" dirty="0"/>
              <a:t> </a:t>
            </a:r>
            <a:r>
              <a:rPr lang="sv-SE" dirty="0" err="1"/>
              <a:t>deploy</a:t>
            </a:r>
            <a:r>
              <a:rPr lang="sv-SE" dirty="0"/>
              <a:t> </a:t>
            </a:r>
            <a:r>
              <a:rPr lang="sv-SE" dirty="0" err="1"/>
              <a:t>applications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reusable</a:t>
            </a:r>
            <a:r>
              <a:rPr lang="sv-SE" dirty="0"/>
              <a:t> templates</a:t>
            </a:r>
          </a:p>
          <a:p>
            <a:r>
              <a:rPr lang="sv-SE" dirty="0" err="1"/>
              <a:t>Packages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called</a:t>
            </a:r>
            <a:r>
              <a:rPr lang="sv-SE" dirty="0"/>
              <a:t> Helm </a:t>
            </a:r>
            <a:r>
              <a:rPr lang="sv-SE" dirty="0" err="1"/>
              <a:t>Charts</a:t>
            </a:r>
            <a:endParaRPr lang="sv-SE" dirty="0"/>
          </a:p>
          <a:p>
            <a:r>
              <a:rPr lang="sv-SE" dirty="0" err="1"/>
              <a:t>Simplifies</a:t>
            </a:r>
            <a:r>
              <a:rPr lang="sv-SE" dirty="0"/>
              <a:t> </a:t>
            </a:r>
            <a:r>
              <a:rPr lang="sv-SE" dirty="0" err="1"/>
              <a:t>Kubernetes</a:t>
            </a:r>
            <a:r>
              <a:rPr lang="sv-SE" dirty="0"/>
              <a:t> YAML management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3476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AC39786-F558-78FF-11B1-EF6AE85E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Why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Helm </a:t>
            </a:r>
            <a:r>
              <a:rPr lang="sv-SE" dirty="0" err="1"/>
              <a:t>Charts</a:t>
            </a:r>
            <a:r>
              <a:rPr lang="sv-SE" dirty="0"/>
              <a:t>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0208BDC-2E0D-0643-A9D1-FE7953E9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copying large YAML files</a:t>
            </a:r>
          </a:p>
          <a:p>
            <a:r>
              <a:rPr lang="en-US" dirty="0"/>
              <a:t>Manage configuration with </a:t>
            </a:r>
            <a:r>
              <a:rPr lang="en-US" dirty="0" err="1"/>
              <a:t>values.yaml</a:t>
            </a:r>
            <a:endParaRPr lang="en-US" dirty="0"/>
          </a:p>
          <a:p>
            <a:r>
              <a:rPr lang="en-US" dirty="0"/>
              <a:t>Deploy applications consistently</a:t>
            </a:r>
          </a:p>
          <a:p>
            <a:r>
              <a:rPr lang="en-US" dirty="0"/>
              <a:t>Support upgrades and rollbacks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85764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6897A82-4105-3850-DB8F-49035E37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Helm </a:t>
            </a:r>
            <a:r>
              <a:rPr lang="sv-SE" dirty="0" err="1"/>
              <a:t>Charts</a:t>
            </a:r>
            <a:r>
              <a:rPr lang="sv-SE" dirty="0"/>
              <a:t> workflow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E195CE9-4EF4-609C-70C5-60C97DF65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chart: helm create my-app</a:t>
            </a:r>
          </a:p>
          <a:p>
            <a:r>
              <a:rPr lang="en-US" dirty="0"/>
              <a:t>Customize </a:t>
            </a:r>
            <a:r>
              <a:rPr lang="en-US" dirty="0" err="1"/>
              <a:t>values.yaml</a:t>
            </a:r>
            <a:endParaRPr lang="en-US" dirty="0"/>
          </a:p>
          <a:p>
            <a:r>
              <a:rPr lang="en-US" dirty="0"/>
              <a:t>Install chart: helm install my-app ./my-app</a:t>
            </a:r>
          </a:p>
          <a:p>
            <a:r>
              <a:rPr lang="en-US" dirty="0"/>
              <a:t>Upgrade chart: helm upgrade my-app ./my-app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3986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59FB998-D4D4-EB60-D763-663E6C0F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How</a:t>
            </a:r>
            <a:r>
              <a:rPr lang="sv-SE" dirty="0"/>
              <a:t> to </a:t>
            </a:r>
            <a:r>
              <a:rPr lang="sv-SE" dirty="0" err="1"/>
              <a:t>install</a:t>
            </a:r>
            <a:r>
              <a:rPr lang="sv-SE" dirty="0"/>
              <a:t> Helm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7BBBC7C-C07D-D9C3-6ABB-ECE00B391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Installation </a:t>
            </a:r>
            <a:r>
              <a:rPr lang="sv-SE" dirty="0" err="1"/>
              <a:t>Instructions</a:t>
            </a:r>
            <a:r>
              <a:rPr lang="sv-SE" dirty="0"/>
              <a:t> </a:t>
            </a:r>
            <a:r>
              <a:rPr lang="sv-SE" dirty="0" err="1"/>
              <a:t>here</a:t>
            </a:r>
            <a:r>
              <a:rPr lang="sv-SE" dirty="0"/>
              <a:t>: </a:t>
            </a:r>
            <a:r>
              <a:rPr lang="sv-SE" dirty="0">
                <a:hlinkClick r:id="rId2"/>
              </a:rPr>
              <a:t>https://helm.sh/docs/intro/install/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9989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8507FC-F892-5F85-77B1-6250B622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Gitops</a:t>
            </a:r>
            <a:r>
              <a:rPr lang="sv-SE" dirty="0"/>
              <a:t> </a:t>
            </a:r>
            <a:r>
              <a:rPr lang="sv-SE" dirty="0" err="1"/>
              <a:t>Introduction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6428BB9-89BD-ADBB-FF35-CC01CA3F7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GitOps</a:t>
            </a:r>
            <a:r>
              <a:rPr lang="en-US" dirty="0"/>
              <a:t> uses Git as the source of truth</a:t>
            </a:r>
          </a:p>
          <a:p>
            <a:r>
              <a:rPr lang="en-US" dirty="0"/>
              <a:t>Infrastructure and applications are defined as code</a:t>
            </a:r>
          </a:p>
          <a:p>
            <a:r>
              <a:rPr lang="en-US" dirty="0"/>
              <a:t>Changes are made through Git commits</a:t>
            </a:r>
          </a:p>
          <a:p>
            <a:r>
              <a:rPr lang="en-US" dirty="0"/>
              <a:t>Automated tools sync the cluster state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6553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ADFA561-2AD0-77C0-431A-AF53AE8A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Why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Gitops</a:t>
            </a:r>
            <a:r>
              <a:rPr lang="sv-SE" dirty="0"/>
              <a:t>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0B6113F-1399-ED10-89EF-AA60CAF2C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Version-controlled infrastructure</a:t>
            </a:r>
          </a:p>
          <a:p>
            <a:r>
              <a:rPr lang="en-US" dirty="0"/>
              <a:t>Easy rollback using Git history</a:t>
            </a:r>
          </a:p>
          <a:p>
            <a:r>
              <a:rPr lang="en-US" dirty="0"/>
              <a:t>Improved auditability</a:t>
            </a:r>
          </a:p>
          <a:p>
            <a:r>
              <a:rPr lang="en-US" dirty="0"/>
              <a:t>Consistent deployments across environments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0739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B37141A-A97D-32D2-5C8D-6F41CDF7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Argocd</a:t>
            </a:r>
            <a:r>
              <a:rPr lang="sv-SE" dirty="0"/>
              <a:t>  </a:t>
            </a:r>
            <a:r>
              <a:rPr lang="sv-SE" dirty="0" err="1"/>
              <a:t>introduction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B51F93E-FDAC-F316-DFDF-84C75C231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Argo CD is a </a:t>
            </a:r>
            <a:r>
              <a:rPr lang="sv-SE" dirty="0" err="1"/>
              <a:t>GitOps</a:t>
            </a:r>
            <a:r>
              <a:rPr lang="sv-SE" dirty="0"/>
              <a:t>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tool</a:t>
            </a:r>
            <a:r>
              <a:rPr lang="sv-SE" dirty="0"/>
              <a:t> for </a:t>
            </a:r>
            <a:r>
              <a:rPr lang="sv-SE" dirty="0" err="1"/>
              <a:t>Kubernetes</a:t>
            </a:r>
            <a:endParaRPr lang="sv-SE" dirty="0"/>
          </a:p>
          <a:p>
            <a:r>
              <a:rPr lang="sv-SE" dirty="0" err="1"/>
              <a:t>Continuously</a:t>
            </a:r>
            <a:r>
              <a:rPr lang="sv-SE" dirty="0"/>
              <a:t> </a:t>
            </a:r>
            <a:r>
              <a:rPr lang="sv-SE" dirty="0" err="1"/>
              <a:t>syncs</a:t>
            </a:r>
            <a:r>
              <a:rPr lang="sv-SE" dirty="0"/>
              <a:t> </a:t>
            </a:r>
            <a:r>
              <a:rPr lang="sv-SE" dirty="0" err="1"/>
              <a:t>Kubernetes</a:t>
            </a:r>
            <a:r>
              <a:rPr lang="sv-SE" dirty="0"/>
              <a:t> clusters </a:t>
            </a:r>
            <a:r>
              <a:rPr lang="sv-SE" dirty="0" err="1"/>
              <a:t>with</a:t>
            </a:r>
            <a:r>
              <a:rPr lang="sv-SE" dirty="0"/>
              <a:t> Git </a:t>
            </a:r>
            <a:r>
              <a:rPr lang="sv-SE" dirty="0" err="1"/>
              <a:t>repositories</a:t>
            </a:r>
            <a:endParaRPr lang="sv-SE" dirty="0"/>
          </a:p>
          <a:p>
            <a:r>
              <a:rPr lang="sv-SE" dirty="0" err="1"/>
              <a:t>Detects</a:t>
            </a:r>
            <a:r>
              <a:rPr lang="sv-SE" dirty="0"/>
              <a:t> </a:t>
            </a:r>
            <a:r>
              <a:rPr lang="sv-SE" dirty="0" err="1"/>
              <a:t>configuration</a:t>
            </a:r>
            <a:r>
              <a:rPr lang="sv-SE" dirty="0"/>
              <a:t> drift </a:t>
            </a:r>
            <a:r>
              <a:rPr lang="sv-SE" dirty="0" err="1"/>
              <a:t>automatically</a:t>
            </a:r>
            <a:endParaRPr lang="sv-SE" dirty="0"/>
          </a:p>
          <a:p>
            <a:r>
              <a:rPr lang="sv-SE" dirty="0" err="1"/>
              <a:t>Provides</a:t>
            </a:r>
            <a:r>
              <a:rPr lang="sv-SE" dirty="0"/>
              <a:t> a web UI for </a:t>
            </a:r>
            <a:r>
              <a:rPr lang="sv-SE" dirty="0" err="1"/>
              <a:t>application</a:t>
            </a:r>
            <a:r>
              <a:rPr lang="sv-SE" dirty="0"/>
              <a:t> management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1982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3C2AB3C-E9A3-D8A2-64DD-6B18F14E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Argocd</a:t>
            </a:r>
            <a:r>
              <a:rPr lang="sv-SE" dirty="0"/>
              <a:t> workflow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7846F01-4498-E7CB-15E8-B517677E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 pushes code/configuration to Git</a:t>
            </a:r>
          </a:p>
          <a:p>
            <a:r>
              <a:rPr lang="en-US" dirty="0"/>
              <a:t>Argo CD monitors the repository</a:t>
            </a:r>
          </a:p>
          <a:p>
            <a:r>
              <a:rPr lang="en-US" dirty="0"/>
              <a:t>Changes are synchronized to Kubernetes</a:t>
            </a:r>
          </a:p>
          <a:p>
            <a:r>
              <a:rPr lang="en-US" dirty="0"/>
              <a:t>Cluster state always matches Git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783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B61C7CE-47CA-E87D-41CA-322F5EAC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Helm + </a:t>
            </a:r>
            <a:r>
              <a:rPr lang="sv-SE" dirty="0" err="1"/>
              <a:t>Gitops</a:t>
            </a:r>
            <a:r>
              <a:rPr lang="sv-SE" dirty="0"/>
              <a:t> + </a:t>
            </a:r>
            <a:r>
              <a:rPr lang="sv-SE" dirty="0" err="1"/>
              <a:t>Argocd</a:t>
            </a:r>
            <a:r>
              <a:rPr lang="sv-SE" dirty="0"/>
              <a:t> = Magic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9F15E72-1131-6623-266C-7B7370CDB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Helm </a:t>
            </a:r>
            <a:r>
              <a:rPr lang="sv-SE" dirty="0" err="1"/>
              <a:t>manages</a:t>
            </a:r>
            <a:r>
              <a:rPr lang="sv-SE" dirty="0"/>
              <a:t> </a:t>
            </a:r>
            <a:r>
              <a:rPr lang="sv-SE" dirty="0" err="1"/>
              <a:t>Kubernetes</a:t>
            </a:r>
            <a:r>
              <a:rPr lang="sv-SE" dirty="0"/>
              <a:t> </a:t>
            </a:r>
            <a:r>
              <a:rPr lang="sv-SE" dirty="0" err="1"/>
              <a:t>application</a:t>
            </a:r>
            <a:r>
              <a:rPr lang="sv-SE" dirty="0"/>
              <a:t> </a:t>
            </a:r>
            <a:r>
              <a:rPr lang="sv-SE" dirty="0" err="1"/>
              <a:t>packaging</a:t>
            </a:r>
            <a:endParaRPr lang="sv-SE" dirty="0"/>
          </a:p>
          <a:p>
            <a:r>
              <a:rPr lang="sv-SE" dirty="0" err="1"/>
              <a:t>GitOps</a:t>
            </a:r>
            <a:r>
              <a:rPr lang="sv-SE" dirty="0"/>
              <a:t> </a:t>
            </a:r>
            <a:r>
              <a:rPr lang="sv-SE" dirty="0" err="1"/>
              <a:t>manages</a:t>
            </a:r>
            <a:r>
              <a:rPr lang="sv-SE" dirty="0"/>
              <a:t> </a:t>
            </a:r>
            <a:r>
              <a:rPr lang="sv-SE" dirty="0" err="1"/>
              <a:t>deployment</a:t>
            </a:r>
            <a:r>
              <a:rPr lang="sv-SE" dirty="0"/>
              <a:t> workflow </a:t>
            </a:r>
            <a:r>
              <a:rPr lang="sv-SE" dirty="0" err="1"/>
              <a:t>using</a:t>
            </a:r>
            <a:r>
              <a:rPr lang="sv-SE" dirty="0"/>
              <a:t> Git</a:t>
            </a:r>
          </a:p>
          <a:p>
            <a:r>
              <a:rPr lang="sv-SE" dirty="0"/>
              <a:t>Argo CD </a:t>
            </a:r>
            <a:r>
              <a:rPr lang="sv-SE" dirty="0" err="1"/>
              <a:t>automates</a:t>
            </a:r>
            <a:r>
              <a:rPr lang="sv-SE" dirty="0"/>
              <a:t> </a:t>
            </a:r>
            <a:r>
              <a:rPr lang="sv-SE" dirty="0" err="1"/>
              <a:t>synchronization</a:t>
            </a:r>
            <a:endParaRPr lang="sv-SE" dirty="0"/>
          </a:p>
          <a:p>
            <a:r>
              <a:rPr lang="sv-SE" dirty="0" err="1"/>
              <a:t>Together</a:t>
            </a:r>
            <a:r>
              <a:rPr lang="sv-SE" dirty="0"/>
              <a:t>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create</a:t>
            </a:r>
            <a:r>
              <a:rPr lang="sv-SE" dirty="0"/>
              <a:t> modern </a:t>
            </a:r>
            <a:r>
              <a:rPr lang="sv-SE" dirty="0" err="1"/>
              <a:t>Kubernetes</a:t>
            </a:r>
            <a:r>
              <a:rPr lang="sv-SE" dirty="0"/>
              <a:t> </a:t>
            </a:r>
            <a:r>
              <a:rPr lang="sv-SE" dirty="0" err="1"/>
              <a:t>delivery</a:t>
            </a:r>
            <a:r>
              <a:rPr lang="sv-SE" dirty="0"/>
              <a:t> pipelines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4881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873BFA9-9679-CE65-87D1-8697F240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Helm + </a:t>
            </a:r>
            <a:r>
              <a:rPr lang="sv-SE" dirty="0" err="1"/>
              <a:t>Gitops</a:t>
            </a:r>
            <a:r>
              <a:rPr lang="sv-SE" dirty="0"/>
              <a:t> + </a:t>
            </a:r>
            <a:r>
              <a:rPr lang="sv-SE" dirty="0" err="1"/>
              <a:t>Argocd</a:t>
            </a:r>
            <a:r>
              <a:rPr lang="sv-SE" dirty="0"/>
              <a:t> Workflow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739286B-0D3A-D879-3AFC-8ACC2E274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 commits Helm chart changes</a:t>
            </a:r>
          </a:p>
          <a:p>
            <a:r>
              <a:rPr lang="en-US" dirty="0"/>
              <a:t>Git repository stores desired state</a:t>
            </a:r>
          </a:p>
          <a:p>
            <a:r>
              <a:rPr lang="en-US" dirty="0"/>
              <a:t>Argo CD detects updates</a:t>
            </a:r>
          </a:p>
          <a:p>
            <a:r>
              <a:rPr lang="en-US" dirty="0"/>
              <a:t>Kubernetes cluster is automatically updated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55562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B981E59-D6FC-A60B-C0C4-E896FEA1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Best </a:t>
            </a:r>
            <a:r>
              <a:rPr lang="sv-SE" dirty="0" err="1"/>
              <a:t>Practices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4C85111-190E-1446-D698-931473143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all manifests and Helm charts in Git</a:t>
            </a:r>
          </a:p>
          <a:p>
            <a:r>
              <a:rPr lang="en-US" dirty="0"/>
              <a:t>Use separate environments (dev/test/prod)</a:t>
            </a:r>
          </a:p>
          <a:p>
            <a:r>
              <a:rPr lang="en-US" dirty="0"/>
              <a:t>Use pull requests for infrastructure changes</a:t>
            </a:r>
          </a:p>
          <a:p>
            <a:r>
              <a:rPr lang="en-US" dirty="0"/>
              <a:t>Monitor synchronization and deployment status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06677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3F636D2-18D6-8F6A-1D58-0CDAB295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Final workflow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0BE4C46-0E75-C9F0-BAB2-C9ADDA101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 err="1"/>
              <a:t>Create</a:t>
            </a:r>
            <a:r>
              <a:rPr lang="sv-SE" dirty="0"/>
              <a:t> source  </a:t>
            </a:r>
            <a:r>
              <a:rPr lang="sv-SE" dirty="0" err="1"/>
              <a:t>code</a:t>
            </a:r>
            <a:endParaRPr lang="sv-SE" dirty="0"/>
          </a:p>
          <a:p>
            <a:r>
              <a:rPr lang="sv-SE" dirty="0" err="1"/>
              <a:t>Package</a:t>
            </a:r>
            <a:r>
              <a:rPr lang="sv-SE" dirty="0"/>
              <a:t> </a:t>
            </a:r>
            <a:r>
              <a:rPr lang="sv-SE" dirty="0" err="1"/>
              <a:t>build</a:t>
            </a:r>
            <a:r>
              <a:rPr lang="sv-SE" dirty="0"/>
              <a:t>/packade source </a:t>
            </a:r>
            <a:r>
              <a:rPr lang="sv-SE" dirty="0" err="1"/>
              <a:t>code</a:t>
            </a:r>
            <a:r>
              <a:rPr lang="sv-SE" dirty="0"/>
              <a:t> and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Dockerfile</a:t>
            </a:r>
            <a:endParaRPr lang="sv-SE" dirty="0"/>
          </a:p>
          <a:p>
            <a:r>
              <a:rPr lang="sv-SE" dirty="0"/>
              <a:t>Push </a:t>
            </a:r>
            <a:r>
              <a:rPr lang="sv-SE" dirty="0" err="1"/>
              <a:t>dockerfile</a:t>
            </a:r>
            <a:r>
              <a:rPr lang="sv-SE" dirty="0"/>
              <a:t> to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repository</a:t>
            </a:r>
            <a:endParaRPr lang="sv-SE" dirty="0"/>
          </a:p>
          <a:p>
            <a:r>
              <a:rPr lang="sv-SE" dirty="0" err="1"/>
              <a:t>Create</a:t>
            </a:r>
            <a:r>
              <a:rPr lang="sv-SE" dirty="0"/>
              <a:t> manifests (</a:t>
            </a:r>
            <a:r>
              <a:rPr lang="sv-SE" dirty="0" err="1"/>
              <a:t>yaml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) </a:t>
            </a:r>
            <a:r>
              <a:rPr lang="sv-SE" dirty="0" err="1"/>
              <a:t>using</a:t>
            </a:r>
            <a:r>
              <a:rPr lang="sv-SE" dirty="0"/>
              <a:t> Helm or </a:t>
            </a:r>
            <a:r>
              <a:rPr lang="sv-SE" dirty="0" err="1"/>
              <a:t>Regular</a:t>
            </a:r>
            <a:r>
              <a:rPr lang="sv-SE" dirty="0"/>
              <a:t> </a:t>
            </a:r>
            <a:r>
              <a:rPr lang="sv-SE" dirty="0" err="1"/>
              <a:t>yaml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, </a:t>
            </a:r>
            <a:r>
              <a:rPr lang="sv-SE" dirty="0" err="1"/>
              <a:t>point</a:t>
            </a:r>
            <a:r>
              <a:rPr lang="sv-SE" dirty="0"/>
              <a:t> to </a:t>
            </a:r>
            <a:r>
              <a:rPr lang="sv-SE" dirty="0" err="1"/>
              <a:t>previously</a:t>
            </a:r>
            <a:r>
              <a:rPr lang="sv-SE" dirty="0"/>
              <a:t> </a:t>
            </a:r>
            <a:r>
              <a:rPr lang="sv-SE" dirty="0" err="1"/>
              <a:t>built</a:t>
            </a:r>
            <a:r>
              <a:rPr lang="sv-SE" dirty="0"/>
              <a:t> image in </a:t>
            </a:r>
            <a:r>
              <a:rPr lang="sv-SE" dirty="0" err="1"/>
              <a:t>Docker</a:t>
            </a:r>
            <a:endParaRPr lang="sv-SE" dirty="0"/>
          </a:p>
          <a:p>
            <a:r>
              <a:rPr lang="sv-SE" dirty="0" err="1"/>
              <a:t>Install</a:t>
            </a:r>
            <a:r>
              <a:rPr lang="sv-SE" dirty="0"/>
              <a:t> </a:t>
            </a:r>
            <a:r>
              <a:rPr lang="sv-SE" dirty="0" err="1"/>
              <a:t>Argocd</a:t>
            </a:r>
            <a:r>
              <a:rPr lang="sv-SE" dirty="0"/>
              <a:t> on cluster 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helm</a:t>
            </a:r>
            <a:endParaRPr lang="sv-SE" dirty="0"/>
          </a:p>
          <a:p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Argocd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 and </a:t>
            </a:r>
            <a:r>
              <a:rPr lang="sv-SE" dirty="0" err="1"/>
              <a:t>point</a:t>
            </a:r>
            <a:r>
              <a:rPr lang="sv-SE" dirty="0"/>
              <a:t> to </a:t>
            </a:r>
            <a:r>
              <a:rPr lang="sv-SE" dirty="0" err="1"/>
              <a:t>helm</a:t>
            </a:r>
            <a:r>
              <a:rPr lang="sv-SE" dirty="0"/>
              <a:t> </a:t>
            </a:r>
            <a:r>
              <a:rPr lang="sv-SE" dirty="0" err="1"/>
              <a:t>chart</a:t>
            </a:r>
            <a:r>
              <a:rPr lang="sv-SE" dirty="0"/>
              <a:t> or </a:t>
            </a:r>
            <a:r>
              <a:rPr lang="sv-SE" dirty="0" err="1"/>
              <a:t>plain</a:t>
            </a:r>
            <a:r>
              <a:rPr lang="sv-SE" dirty="0"/>
              <a:t> </a:t>
            </a:r>
            <a:r>
              <a:rPr lang="sv-SE" dirty="0" err="1"/>
              <a:t>yaml</a:t>
            </a:r>
            <a:r>
              <a:rPr lang="sv-SE" dirty="0"/>
              <a:t> manifests, </a:t>
            </a:r>
            <a:r>
              <a:rPr lang="sv-SE" dirty="0" err="1"/>
              <a:t>argocd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sync</a:t>
            </a:r>
            <a:r>
              <a:rPr lang="sv-SE" dirty="0"/>
              <a:t> the </a:t>
            </a:r>
            <a:r>
              <a:rPr lang="sv-SE" dirty="0" err="1"/>
              <a:t>resources</a:t>
            </a:r>
            <a:r>
              <a:rPr lang="sv-SE" dirty="0"/>
              <a:t>.</a:t>
            </a:r>
          </a:p>
          <a:p>
            <a:r>
              <a:rPr lang="sv-SE" dirty="0" err="1"/>
              <a:t>Create</a:t>
            </a:r>
            <a:r>
              <a:rPr lang="sv-SE" dirty="0"/>
              <a:t> pipeline and </a:t>
            </a:r>
            <a:r>
              <a:rPr lang="sv-SE" dirty="0" err="1"/>
              <a:t>automate</a:t>
            </a:r>
            <a:endParaRPr lang="sv-SE" dirty="0"/>
          </a:p>
          <a:p>
            <a:pPr lvl="1"/>
            <a:r>
              <a:rPr lang="sv-SE" dirty="0"/>
              <a:t>Push new </a:t>
            </a:r>
            <a:r>
              <a:rPr lang="sv-SE" dirty="0" err="1"/>
              <a:t>code</a:t>
            </a:r>
            <a:r>
              <a:rPr lang="sv-SE" dirty="0"/>
              <a:t> -&gt; </a:t>
            </a:r>
            <a:r>
              <a:rPr lang="sv-SE" dirty="0" err="1"/>
              <a:t>Build</a:t>
            </a:r>
            <a:r>
              <a:rPr lang="sv-SE" dirty="0"/>
              <a:t> new image -&gt;  </a:t>
            </a:r>
            <a:r>
              <a:rPr lang="sv-SE" dirty="0" err="1"/>
              <a:t>Replace</a:t>
            </a:r>
            <a:r>
              <a:rPr lang="sv-SE" dirty="0"/>
              <a:t> image in manifest (</a:t>
            </a:r>
            <a:r>
              <a:rPr lang="sv-SE" dirty="0" err="1"/>
              <a:t>Deployement</a:t>
            </a:r>
            <a:r>
              <a:rPr lang="sv-SE" dirty="0"/>
              <a:t>) -&gt; </a:t>
            </a:r>
            <a:r>
              <a:rPr lang="sv-SE" dirty="0" err="1"/>
              <a:t>Argocd</a:t>
            </a:r>
            <a:r>
              <a:rPr lang="sv-SE" dirty="0"/>
              <a:t> starts </a:t>
            </a:r>
            <a:r>
              <a:rPr lang="sv-SE" dirty="0" err="1"/>
              <a:t>autosync</a:t>
            </a:r>
            <a:r>
              <a:rPr lang="sv-SE" dirty="0"/>
              <a:t> -&gt; </a:t>
            </a:r>
            <a:r>
              <a:rPr lang="sv-SE" dirty="0" err="1"/>
              <a:t>app</a:t>
            </a:r>
            <a:r>
              <a:rPr lang="sv-SE" dirty="0"/>
              <a:t> is live.</a:t>
            </a:r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6804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D3D7545-4AA5-1FEE-2B23-488B4FCE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Final </a:t>
            </a:r>
            <a:r>
              <a:rPr lang="sv-SE" dirty="0" err="1"/>
              <a:t>lab</a:t>
            </a:r>
            <a:r>
              <a:rPr lang="sv-SE" dirty="0"/>
              <a:t> 20 </a:t>
            </a:r>
            <a:r>
              <a:rPr lang="sv-SE" dirty="0" err="1"/>
              <a:t>minutes</a:t>
            </a:r>
            <a:r>
              <a:rPr lang="sv-SE" dirty="0"/>
              <a:t>!</a:t>
            </a:r>
            <a:r>
              <a:rPr lang="sv-SE" dirty="0">
                <a:sym typeface="Wingdings" panose="05000000000000000000" pitchFamily="2" charset="2"/>
              </a:rPr>
              <a:t>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69D0C4E-B530-B6BB-78CB-2A95E2A71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 err="1">
                <a:solidFill>
                  <a:srgbClr val="FF0000"/>
                </a:solidFill>
              </a:rPr>
              <a:t>Argocd</a:t>
            </a:r>
            <a:r>
              <a:rPr lang="sv-SE" dirty="0">
                <a:solidFill>
                  <a:srgbClr val="FF0000"/>
                </a:solidFill>
              </a:rPr>
              <a:t> is </a:t>
            </a:r>
            <a:r>
              <a:rPr lang="sv-SE" dirty="0" err="1">
                <a:solidFill>
                  <a:srgbClr val="FF0000"/>
                </a:solidFill>
              </a:rPr>
              <a:t>already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installed</a:t>
            </a:r>
            <a:r>
              <a:rPr lang="sv-SE" dirty="0">
                <a:solidFill>
                  <a:srgbClr val="FF0000"/>
                </a:solidFill>
              </a:rPr>
              <a:t>, i </a:t>
            </a:r>
            <a:r>
              <a:rPr lang="sv-SE" dirty="0" err="1">
                <a:solidFill>
                  <a:srgbClr val="FF0000"/>
                </a:solidFill>
              </a:rPr>
              <a:t>followed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this</a:t>
            </a:r>
            <a:r>
              <a:rPr lang="sv-SE" dirty="0">
                <a:solidFill>
                  <a:srgbClr val="FF0000"/>
                </a:solidFill>
              </a:rPr>
              <a:t> guide:</a:t>
            </a:r>
          </a:p>
          <a:p>
            <a:pPr lvl="1"/>
            <a:r>
              <a:rPr lang="sv-SE" dirty="0">
                <a:hlinkClick r:id="rId2"/>
              </a:rPr>
              <a:t>https://dev.to/sharker3312/deploying-argocd-on-an-azure-kubernetes-cluster-for-gitops-4cp0</a:t>
            </a:r>
            <a:endParaRPr lang="sv-SE" dirty="0"/>
          </a:p>
          <a:p>
            <a:pPr lvl="1"/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 </a:t>
            </a:r>
            <a:r>
              <a:rPr lang="sv-SE" dirty="0" err="1"/>
              <a:t>clusterIP</a:t>
            </a:r>
            <a:r>
              <a:rPr lang="sv-SE" dirty="0"/>
              <a:t> for </a:t>
            </a:r>
            <a:r>
              <a:rPr lang="sv-SE" dirty="0" err="1"/>
              <a:t>Argocd</a:t>
            </a:r>
            <a:r>
              <a:rPr lang="sv-SE" dirty="0"/>
              <a:t> so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reach</a:t>
            </a:r>
            <a:r>
              <a:rPr lang="sv-SE" dirty="0"/>
              <a:t> it </a:t>
            </a:r>
            <a:r>
              <a:rPr lang="sv-SE" dirty="0" err="1"/>
              <a:t>locally</a:t>
            </a:r>
            <a:r>
              <a:rPr lang="sv-SE" dirty="0"/>
              <a:t> by </a:t>
            </a:r>
            <a:r>
              <a:rPr lang="sv-SE" dirty="0" err="1"/>
              <a:t>running</a:t>
            </a:r>
            <a:r>
              <a:rPr lang="sv-SE" dirty="0"/>
              <a:t>:</a:t>
            </a:r>
          </a:p>
          <a:p>
            <a:pPr lvl="2"/>
            <a:r>
              <a:rPr lang="sv-SE" dirty="0" err="1"/>
              <a:t>kubectl</a:t>
            </a:r>
            <a:r>
              <a:rPr lang="sv-SE" dirty="0"/>
              <a:t> port-forward </a:t>
            </a:r>
            <a:r>
              <a:rPr lang="sv-SE" dirty="0" err="1"/>
              <a:t>svc</a:t>
            </a:r>
            <a:r>
              <a:rPr lang="sv-SE" dirty="0"/>
              <a:t>/</a:t>
            </a:r>
            <a:r>
              <a:rPr lang="sv-SE" dirty="0" err="1"/>
              <a:t>argocd</a:t>
            </a:r>
            <a:r>
              <a:rPr lang="sv-SE" dirty="0"/>
              <a:t>-server -n </a:t>
            </a:r>
            <a:r>
              <a:rPr lang="sv-SE" dirty="0" err="1"/>
              <a:t>argocd</a:t>
            </a:r>
            <a:r>
              <a:rPr lang="sv-SE" dirty="0"/>
              <a:t> 8080:https</a:t>
            </a:r>
          </a:p>
          <a:p>
            <a:pPr lvl="2"/>
            <a:r>
              <a:rPr lang="sv-SE" dirty="0" err="1"/>
              <a:t>Then</a:t>
            </a:r>
            <a:r>
              <a:rPr lang="sv-SE" dirty="0"/>
              <a:t> go to localhost:8080 on </a:t>
            </a:r>
            <a:r>
              <a:rPr lang="sv-SE" dirty="0" err="1"/>
              <a:t>your</a:t>
            </a:r>
            <a:r>
              <a:rPr lang="sv-SE" dirty="0"/>
              <a:t> computer</a:t>
            </a:r>
          </a:p>
          <a:p>
            <a:pPr lvl="1"/>
            <a:r>
              <a:rPr lang="sv-SE" dirty="0"/>
              <a:t>Under </a:t>
            </a:r>
            <a:r>
              <a:rPr lang="sv-SE" dirty="0" err="1"/>
              <a:t>settings</a:t>
            </a:r>
            <a:r>
              <a:rPr lang="sv-SE" dirty="0"/>
              <a:t> in </a:t>
            </a:r>
            <a:r>
              <a:rPr lang="sv-SE" dirty="0" err="1"/>
              <a:t>argocd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repo, 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ssh</a:t>
            </a:r>
            <a:r>
              <a:rPr lang="sv-SE" dirty="0"/>
              <a:t> as </a:t>
            </a:r>
            <a:r>
              <a:rPr lang="sv-SE" dirty="0" err="1"/>
              <a:t>done</a:t>
            </a:r>
            <a:r>
              <a:rPr lang="sv-SE" dirty="0"/>
              <a:t> in the live demo.</a:t>
            </a:r>
          </a:p>
          <a:p>
            <a:pPr lvl="2"/>
            <a:r>
              <a:rPr lang="sv-SE" dirty="0"/>
              <a:t>Place </a:t>
            </a:r>
            <a:r>
              <a:rPr lang="sv-SE" dirty="0" err="1"/>
              <a:t>any</a:t>
            </a:r>
            <a:r>
              <a:rPr lang="sv-SE" dirty="0"/>
              <a:t> valid </a:t>
            </a:r>
            <a:r>
              <a:rPr lang="sv-SE" dirty="0" err="1"/>
              <a:t>kubernetes</a:t>
            </a:r>
            <a:r>
              <a:rPr lang="sv-SE" dirty="0"/>
              <a:t> manifest in the repo!</a:t>
            </a:r>
          </a:p>
          <a:p>
            <a:pPr lvl="1"/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argocd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:</a:t>
            </a:r>
          </a:p>
          <a:p>
            <a:pPr lvl="2"/>
            <a:r>
              <a:rPr lang="sv-SE" dirty="0" err="1"/>
              <a:t>Use</a:t>
            </a:r>
            <a:r>
              <a:rPr lang="sv-SE" dirty="0"/>
              <a:t> default </a:t>
            </a:r>
            <a:r>
              <a:rPr lang="sv-SE" dirty="0" err="1"/>
              <a:t>project</a:t>
            </a:r>
            <a:endParaRPr lang="sv-SE" dirty="0"/>
          </a:p>
          <a:p>
            <a:pPr lvl="2"/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Kubernetes</a:t>
            </a:r>
            <a:r>
              <a:rPr lang="sv-SE" dirty="0"/>
              <a:t> default service ”auto </a:t>
            </a:r>
            <a:r>
              <a:rPr lang="sv-SE" dirty="0" err="1"/>
              <a:t>completed</a:t>
            </a:r>
            <a:r>
              <a:rPr lang="sv-SE" dirty="0"/>
              <a:t> in form”</a:t>
            </a:r>
          </a:p>
          <a:p>
            <a:pPr lvl="2"/>
            <a:r>
              <a:rPr lang="sv-SE" dirty="0"/>
              <a:t>Point to </a:t>
            </a:r>
            <a:r>
              <a:rPr lang="sv-SE" dirty="0" err="1"/>
              <a:t>existing</a:t>
            </a:r>
            <a:r>
              <a:rPr lang="sv-SE" dirty="0"/>
              <a:t> </a:t>
            </a:r>
            <a:r>
              <a:rPr lang="sv-SE" dirty="0" err="1"/>
              <a:t>namespace</a:t>
            </a:r>
            <a:endParaRPr lang="sv-SE" dirty="0"/>
          </a:p>
          <a:p>
            <a:pPr lvl="2"/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correct</a:t>
            </a:r>
            <a:r>
              <a:rPr lang="sv-SE" dirty="0"/>
              <a:t> </a:t>
            </a:r>
            <a:r>
              <a:rPr lang="sv-SE" dirty="0" err="1"/>
              <a:t>address</a:t>
            </a:r>
            <a:r>
              <a:rPr lang="sv-SE" dirty="0"/>
              <a:t> to the repo </a:t>
            </a:r>
            <a:r>
              <a:rPr lang="sv-SE" dirty="0" err="1"/>
              <a:t>added</a:t>
            </a:r>
            <a:r>
              <a:rPr lang="sv-SE" dirty="0"/>
              <a:t> in </a:t>
            </a:r>
            <a:r>
              <a:rPr lang="sv-SE" dirty="0" err="1"/>
              <a:t>previous</a:t>
            </a:r>
            <a:r>
              <a:rPr lang="sv-SE" dirty="0"/>
              <a:t> step</a:t>
            </a:r>
          </a:p>
          <a:p>
            <a:pPr lvl="2"/>
            <a:r>
              <a:rPr lang="sv-SE" dirty="0" err="1"/>
              <a:t>rectory</a:t>
            </a:r>
            <a:r>
              <a:rPr lang="sv-SE" dirty="0"/>
              <a:t> </a:t>
            </a:r>
            <a:r>
              <a:rPr lang="sv-SE" dirty="0" err="1"/>
              <a:t>where</a:t>
            </a:r>
            <a:r>
              <a:rPr lang="sv-SE" dirty="0"/>
              <a:t> manifest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located</a:t>
            </a:r>
            <a:endParaRPr lang="sv-SE" dirty="0"/>
          </a:p>
          <a:p>
            <a:pPr lvl="2"/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AutoSync</a:t>
            </a:r>
            <a:endParaRPr lang="sv-SE" dirty="0"/>
          </a:p>
          <a:p>
            <a:pPr lvl="2"/>
            <a:r>
              <a:rPr lang="sv-SE" dirty="0" err="1"/>
              <a:t>Now</a:t>
            </a:r>
            <a:r>
              <a:rPr lang="sv-SE" dirty="0"/>
              <a:t> check in </a:t>
            </a:r>
            <a:r>
              <a:rPr lang="sv-SE" dirty="0" err="1"/>
              <a:t>Azure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deployment</a:t>
            </a:r>
            <a:r>
              <a:rPr lang="sv-SE" dirty="0"/>
              <a:t> is live!</a:t>
            </a:r>
          </a:p>
          <a:p>
            <a:pPr lvl="2"/>
            <a:endParaRPr lang="sv-SE" dirty="0"/>
          </a:p>
          <a:p>
            <a:pPr lvl="2"/>
            <a:endParaRPr lang="sv-SE" dirty="0"/>
          </a:p>
          <a:p>
            <a:pPr lvl="2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63921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822633D-FB35-4935-F943-8C65EF41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>
                <a:solidFill>
                  <a:srgbClr val="FF0000"/>
                </a:solidFill>
              </a:rPr>
              <a:t>Important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5D4BB66-42CE-961A-4CC8-2BD6ADD61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I set </a:t>
            </a:r>
            <a:r>
              <a:rPr lang="sv-SE" dirty="0" err="1"/>
              <a:t>username</a:t>
            </a:r>
            <a:r>
              <a:rPr lang="sv-SE" dirty="0"/>
              <a:t> </a:t>
            </a:r>
            <a:r>
              <a:rPr lang="sv-SE" dirty="0" err="1"/>
              <a:t>password</a:t>
            </a:r>
            <a:r>
              <a:rPr lang="sv-SE" dirty="0"/>
              <a:t> in </a:t>
            </a:r>
            <a:r>
              <a:rPr lang="sv-SE" dirty="0" err="1"/>
              <a:t>argocd</a:t>
            </a:r>
            <a:r>
              <a:rPr lang="sv-SE" dirty="0"/>
              <a:t> to:</a:t>
            </a:r>
          </a:p>
          <a:p>
            <a:r>
              <a:rPr lang="sv-SE" dirty="0" err="1"/>
              <a:t>admin</a:t>
            </a:r>
            <a:endParaRPr lang="sv-SE" dirty="0"/>
          </a:p>
          <a:p>
            <a:r>
              <a:rPr lang="sv-SE" dirty="0"/>
              <a:t>8I2KDcAkP-J0MoKf</a:t>
            </a:r>
          </a:p>
        </p:txBody>
      </p:sp>
    </p:spTree>
    <p:extLst>
      <p:ext uri="{BB962C8B-B14F-4D97-AF65-F5344CB8AC3E}">
        <p14:creationId xmlns:p14="http://schemas.microsoft.com/office/powerpoint/2010/main" val="7649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529</Words>
  <Application>Microsoft Office PowerPoint</Application>
  <PresentationFormat>Bredbild</PresentationFormat>
  <Paragraphs>85</Paragraphs>
  <Slides>15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Office-tema</vt:lpstr>
      <vt:lpstr>Helm, Gitops and Argocd</vt:lpstr>
      <vt:lpstr>Helm Charts Introduction</vt:lpstr>
      <vt:lpstr>Why use Helm Charts?</vt:lpstr>
      <vt:lpstr>Helm Charts workflow</vt:lpstr>
      <vt:lpstr>How to install Helm</vt:lpstr>
      <vt:lpstr>Gitops Introduction</vt:lpstr>
      <vt:lpstr>Why use Gitops?</vt:lpstr>
      <vt:lpstr>Argocd  introduction</vt:lpstr>
      <vt:lpstr>Argocd workflow</vt:lpstr>
      <vt:lpstr>Helm + Gitops + Argocd = Magic</vt:lpstr>
      <vt:lpstr>Helm + Gitops + Argocd Workflow</vt:lpstr>
      <vt:lpstr>Best Practices</vt:lpstr>
      <vt:lpstr>Final workflow</vt:lpstr>
      <vt:lpstr>Final lab 20 minutes!</vt:lpstr>
      <vt:lpstr>Important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Mattias Bourghardt Nordell</dc:creator>
  <cp:lastModifiedBy>Mattias Bourghardt Nordell</cp:lastModifiedBy>
  <cp:revision>4</cp:revision>
  <dcterms:created xsi:type="dcterms:W3CDTF">2026-06-03T06:24:41Z</dcterms:created>
  <dcterms:modified xsi:type="dcterms:W3CDTF">2026-06-03T16:02:03Z</dcterms:modified>
</cp:coreProperties>
</file>